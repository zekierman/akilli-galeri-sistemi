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08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868680" y="5029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   FİNAL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AKILLI OTO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GALERİ SİSTEMİ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Spring Boot + PostgreSQL  ·  Web Mimarisi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154680"/>
            <a:ext cx="118872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BIL204 Yazılım Mühendisliği  ·  Necmettin Erbakan Üniversitesi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Arda SÖYLEV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Emre Kuzal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Yön. · Satış / Raporlama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4023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Zeki Erman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Modülü · Frontend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72200" y="4023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Orhan Akman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Modülü · Frontend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 Berat Paşa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Ekspertiz Modülü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20440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Halil İbrahim Dinç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· Sigorta/Muayene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72200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Eray Gök 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· Test</a:t>
            </a:r>
            <a:endParaRPr lang="en-US" sz="10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4901184"/>
            <a:ext cx="164592" cy="1645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62088" y="48691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github.com/zekierman/akilli-galeri-sistemi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Tanıtımı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937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Nedir?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 galerilerin günlük işlerini — araç stoğu, müşteri takibi, satış, ekspertiz ve sigorta/muayene — tek bir merkezi web platformunda toplayan modern Client-Server otomasyon sistemidir.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2980944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13232" y="2980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907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Stok Yönetimi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Otomobil · SUV · Ticari · Motosiklet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3392424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13232" y="33924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33192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&amp; Raporlama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Atomik @Transactional işlemler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3803904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13232" y="38039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7307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Ekspertiz Sistemi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Hasar puanlama, parça takibi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4215384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13232" y="42153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4142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Sigorta / Muayene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Yaklaşan bitiş tarihi uyarıları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1325880"/>
            <a:ext cx="1508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577840" y="143560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577840" y="2167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Bileşeni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78040" y="1325880"/>
            <a:ext cx="1508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7178040" y="143560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28+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178040" y="21671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Sınıfı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69480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3017520"/>
            <a:ext cx="1508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577840" y="31272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577840" y="3858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0" y="41788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PostgreSQL'e eşlenmiş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78040" y="3017520"/>
            <a:ext cx="1508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178040" y="31272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178040" y="3858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Uç Noktası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269480" y="41788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endpoint'leri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Çözüm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" cy="3337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813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6596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9202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 ve manuel kayıt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defter + kâğıt; veri tutarsızlığı kaçınılmaz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560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takibi yok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araç birden fazla müşteriye söz veriliyor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46120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raporları gecikiyor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sonu kâr hesabı saatler süren manuel iş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6200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840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Sigorta / muayene atlanıyor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 doldu uyarısı yok; ceza ve müşteri kaybı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4663440" y="132588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0"/>
          <p:cNvSpPr/>
          <p:nvPr/>
        </p:nvSpPr>
        <p:spPr>
          <a:xfrm>
            <a:off x="4663440" y="1325880"/>
            <a:ext cx="73152" cy="3337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481328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578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Çözümü</a:t>
            </a:r>
            <a:endParaRPr lang="en-US" sz="18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965960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20640" y="19202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merkezi platform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operasyon tek veritabanında, tarayıcıdan erişim</a:t>
            </a:r>
            <a:endParaRPr lang="en-US" sz="11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606040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20640" y="25603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stok güncellemesi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kaydı = araç durumu otomatik SATILDI (atomik)</a:t>
            </a:r>
            <a:endParaRPr lang="en-US" sz="11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246120"/>
            <a:ext cx="164592" cy="16459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20640" y="3200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raporlama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Gelir-gider, kâr marjı, marka istatistikleri saniyede</a:t>
            </a:r>
            <a:endParaRPr lang="en-US" sz="11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886200"/>
            <a:ext cx="164592" cy="16459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2064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Sigorta/muayene uyarı sistemi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gün KRİTİK · &lt;7 UYARI · &lt;30 YAKLAŞAN</a:t>
            </a:r>
            <a:endParaRPr lang="en-US" sz="1150" dirty="0"/>
          </a:p>
        </p:txBody>
      </p:sp>
      <p:sp>
        <p:nvSpPr>
          <p:cNvPr id="28" name="Text 1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Kullanıcılar ve Senaryolar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933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42416" y="1508760"/>
            <a:ext cx="822960" cy="822960"/>
          </a:xfrm>
          <a:prstGeom prst="ellipse">
            <a:avLst/>
          </a:prstGeom>
          <a:solidFill>
            <a:srgbClr val="FFE5D0"/>
          </a:solidFill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423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Sahipleri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907792"/>
            <a:ext cx="1627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değeri, aylık ciro, çalışan performansı tek panelde — Dashboard ekranı.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42032" y="1325880"/>
            <a:ext cx="19933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3127248" y="1508760"/>
            <a:ext cx="822960" cy="822960"/>
          </a:xfrm>
          <a:prstGeom prst="ellipse">
            <a:avLst/>
          </a:prstGeom>
          <a:solidFill>
            <a:srgbClr val="FFE5D0"/>
          </a:solidFill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691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79192" y="2423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Danışmanları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24912" y="2907792"/>
            <a:ext cx="1627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adımlı satış sihirbazı: araç → müşteri → fiyat → onay; brüt kâr otomatik.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26864" y="1325880"/>
            <a:ext cx="19933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5212080" y="1508760"/>
            <a:ext cx="822960" cy="822960"/>
          </a:xfrm>
          <a:prstGeom prst="ellipse">
            <a:avLst/>
          </a:prstGeom>
          <a:solidFill>
            <a:srgbClr val="FFE5D0"/>
          </a:solidFill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6916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64024" y="2423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Ekspertiz Uzmanları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09744" y="2907792"/>
            <a:ext cx="1627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 bazlı hasar değerlendirme, 100 üzerinden puanlama, geçmiş raporlar.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11696" y="1325880"/>
            <a:ext cx="19933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7296912" y="1508760"/>
            <a:ext cx="822960" cy="822960"/>
          </a:xfrm>
          <a:prstGeom prst="ellipse">
            <a:avLst/>
          </a:prstGeom>
          <a:solidFill>
            <a:srgbClr val="FFE5D0"/>
          </a:solidFill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6916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856" y="2423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 / Ofis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94576" y="2907792"/>
            <a:ext cx="1627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Sigorta-muayene takip ekranı; renk kodlu kalan-gün uyarıları.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Yığını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588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tarafı SPA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240280"/>
            <a:ext cx="2148840" cy="0"/>
          </a:xfrm>
          <a:prstGeom prst="line">
            <a:avLst/>
          </a:prstGeom>
          <a:noFill/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3152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1.7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2.12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3246120" y="1325880"/>
            <a:ext cx="73152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508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11480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sunucusu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520440" y="2240280"/>
            <a:ext cx="2148840" cy="0"/>
          </a:xfrm>
          <a:prstGeom prst="line">
            <a:avLst/>
          </a:prstGeom>
          <a:noFill/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/>
          <p:nvPr/>
        </p:nvSpPr>
        <p:spPr>
          <a:xfrm>
            <a:off x="352044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LTS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6.4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32588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5"/>
          <p:cNvSpPr/>
          <p:nvPr/>
        </p:nvSpPr>
        <p:spPr>
          <a:xfrm>
            <a:off x="6035040" y="1325880"/>
            <a:ext cx="73152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087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90372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veri katmanı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309360" y="2240280"/>
            <a:ext cx="2148840" cy="0"/>
          </a:xfrm>
          <a:prstGeom prst="line">
            <a:avLst/>
          </a:prstGeom>
          <a:noFill/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19"/>
          <p:cNvSpPr/>
          <p:nvPr/>
        </p:nvSpPr>
        <p:spPr>
          <a:xfrm>
            <a:off x="630936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(yönetilen)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indeksleme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+ HikariCP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ACID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 — Client-Server (3 Katmanlı)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work/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17320"/>
            <a:ext cx="2386584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160020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3200400" y="1600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56432" y="15087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tek yönlü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→ Controller → Service → Repository → DB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219456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3200400" y="21945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56432" y="210312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Atomik yazma; satışta ACID garanti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0" y="278892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3200400" y="2788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56432" y="269748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yalıtımı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Entity'ler controller'a sızdırılmaz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0" y="338328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3200400" y="3383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56432" y="329184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indeks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plaka_no, tc_kimlik, satis_tarihi, kar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200400" y="397764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3200400" y="39776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56432" y="38862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REST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tek tip endpoint kuralı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80760" y="1325880"/>
            <a:ext cx="26060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6080760" y="1325880"/>
            <a:ext cx="73152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626364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mimari?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63640" y="1828800"/>
            <a:ext cx="54864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626364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Bağımsız dağıtım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ve backend ayrı deploy edilebilir.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6364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Çoklu istemci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REST API mobil/3rd-party tarafından da kullanılabilir.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Dikey ölçeklenebilirlik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yatay ölçek + frontend CDN.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63640" y="3474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Endüstri standardı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+ React iş hayatında yaygın yığın.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6364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Açık-Kapalı İlkesi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araç tipi → mevcut kod değişmez.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Sınıf Diyagramı — Satış / Araç Hiyerarşisi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6304" cy="14630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Soyut Sınıf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77340" y="1325880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760220" y="1289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1325880"/>
            <a:ext cx="146304" cy="1463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606040" y="1289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Entity (odak)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91940" y="1325880"/>
            <a:ext cx="146304" cy="14630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274820" y="1289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43500" y="1325880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326380" y="12893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pic>
        <p:nvPicPr>
          <p:cNvPr id="14" name="Image 0" descr="/home/claude/work/c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63" y="1554480"/>
            <a:ext cx="8229600" cy="31821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47320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Polimorfik fiyatHesapla(): sunroof %5 · 4×4 %8 · frigorifik %12 · 500cc+ %10  —  Satış @ManyToOne ile Araç/Müşteri/Çalışan'a bağlanır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49149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 Diyagramı — Satış İşlemi (Atomik Akış)</a:t>
            </a:r>
            <a:endParaRPr lang="en-US" sz="3000" dirty="0"/>
          </a:p>
        </p:txBody>
      </p:sp>
      <p:pic>
        <p:nvPicPr>
          <p:cNvPr id="4" name="Image 0" descr="/home/claude/work/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457200" y="3611880"/>
            <a:ext cx="73152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685800" y="3703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@Transactional içinde 3 yazma işlemi — biri patlarsa hepsi geri alınır: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406908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85800" y="4069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5448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satislar tablosuna yeni kayıt — kâr otomatik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406908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3383280" y="4069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5196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araclar.durum = SATILDI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0760" y="406908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6080760" y="4069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4944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calisanlar.toplamSatis += 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9040" y="1371600"/>
            <a:ext cx="1645920" cy="1645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6459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uygulamasının çalışan sürümü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434340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365760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dakika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Senaryosu — 3 Ana Use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" cy="10698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Araç Kaydı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444752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0" y="1444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/api/araclar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80160" y="173736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Listesi → Yeni Araç → Otomobil Sekmesi → Marka/Model/Yıl/Plaka → Sunroof işaretle → Tahmini Kâr otomatik → Kaydet</a:t>
            </a:r>
            <a:endParaRPr lang="en-US" sz="10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103120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20848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Polimorfik fiyatHesapla() — Otomobil + sunroof = %5 premium uygulanır.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487168"/>
            <a:ext cx="822960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457200" y="2487168"/>
            <a:ext cx="73152" cy="10698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640080" y="276148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6400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280160" y="2578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Adımlı Satış İşlemi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2606040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640080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/api/satislar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280160" y="2898648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İşlemi → ① Araç seç → ② Müşteri seç (TC ile arama) → ③ Fiyat + ödeme şekli → ④ Onay → fatura modal</a:t>
            </a:r>
            <a:endParaRPr lang="en-US" sz="10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264408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08760" y="32461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@Transactional: araç durumu SATILDI, satış INSERT, çalışan sayacı +1 — atomik.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648456"/>
            <a:ext cx="822960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1"/>
          <p:cNvSpPr/>
          <p:nvPr/>
        </p:nvSpPr>
        <p:spPr>
          <a:xfrm>
            <a:off x="457200" y="3648456"/>
            <a:ext cx="73152" cy="10698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2"/>
          <p:cNvSpPr/>
          <p:nvPr/>
        </p:nvSpPr>
        <p:spPr>
          <a:xfrm>
            <a:off x="640080" y="3922776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3"/>
          <p:cNvSpPr/>
          <p:nvPr/>
        </p:nvSpPr>
        <p:spPr>
          <a:xfrm>
            <a:off x="64008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4"/>
          <p:cNvSpPr/>
          <p:nvPr/>
        </p:nvSpPr>
        <p:spPr>
          <a:xfrm>
            <a:off x="1280160" y="3739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 Paneli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6400800" y="3767328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6"/>
          <p:cNvSpPr/>
          <p:nvPr/>
        </p:nvSpPr>
        <p:spPr>
          <a:xfrm>
            <a:off x="6400800" y="3767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/api/raporlar/gelir-gider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280160" y="4059936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 → Tarih aralığı seç → Toplam Gelir / Gider / Net Kâr / Kâr Marjı → Aylık çubuk grafik → Marka istatistikleri</a:t>
            </a:r>
            <a:endParaRPr lang="en-US" sz="10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425696"/>
            <a:ext cx="164592" cy="16459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508760" y="44074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SUM/GROUP BY agregasyonu — uygulama belleğinde değil, DB'de hesaplanır.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Edge Case'ler ve Hata Yönetimi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Sistemin sıra dışı durumlarda nasıl davrandığını göstereceğiz — kullanıcıya anlamlı geri bildirim, veri tutarlılığı korunur.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73152" cy="14173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874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Arama Sonucu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25856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Tetikleyici: 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listesinde bulunamayan plaka aranır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davranışı: 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“Sonuç bulunamadı” mesajı + filtreleri sıfırlama butonu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755648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617720" y="1755648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2024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1874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Hatalı TC Kimlik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00600" y="225856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Tetikleyici: 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formuna 10 haneli TC girilir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davranışı: 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 + Bean Validation: 400 Bad Request, alan altında hata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264408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457200" y="3264408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383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Mükerrer Plaka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3767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Tetikleyici: 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Stokta var olan plaka tekrar eklenmeye çalışılır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davranışı: 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UNIQUE kısıtı → IsKuraliException → toast uyarı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17720" y="3264408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4617720" y="3264408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42900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0640" y="3383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Satılmış Aracın Tekrar Satışı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800600" y="3767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Tetikleyici: 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Durumu SATILDI olan araç ile satış denenir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davranışı: 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katmanında iş kuralı kontrolü, transaction başlamadan iptal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Karşılaşılan Zorluklar ve Çözümler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97280" y="1490472"/>
            <a:ext cx="0" cy="713232"/>
          </a:xfrm>
          <a:prstGeom prst="line">
            <a:avLst/>
          </a:prstGeom>
          <a:noFill/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188720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Geçişi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550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 </a:t>
            </a: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 tabanlı tasarımdan modern web mimarisine geçiş; 28+ Java sınıfının yeniden organizasyonu.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Aşamalı refactor: önce model katmanı (@Entity), sonra Repository → Service → Controller. Her aşamada birim test.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27448" y="14173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257800" y="1490472"/>
            <a:ext cx="0" cy="713232"/>
          </a:xfrm>
          <a:prstGeom prst="line">
            <a:avLst/>
          </a:prstGeom>
          <a:noFill/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349240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Inheritance Stratejisi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6550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 </a:t>
            </a: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hiyerarşisi için SINGLE_TABLE mı, JOINED mi, TABLE_PER_CLASS mı?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tercih edildi — alt tipe özgü alanlar (sunroof, frigorifik) ayrı tabloda; veri normalize, NULL yığılması yok.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66928" y="25146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97280" y="2587752"/>
            <a:ext cx="0" cy="713232"/>
          </a:xfrm>
          <a:prstGeom prst="line">
            <a:avLst/>
          </a:prstGeom>
          <a:noFill/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18872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Atomik Satış İşlemi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7523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 </a:t>
            </a: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= 3 farklı tablo güncellemesi; ortada hata olursa veri tutarsızlığı.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+ ACID: tek transaction içinde INSERT + 2 UPDATE; biri patlarsa hepsi rollback.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4231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727448" y="25146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257800" y="2587752"/>
            <a:ext cx="0" cy="713232"/>
          </a:xfrm>
          <a:prstGeom prst="line">
            <a:avLst/>
          </a:prstGeom>
          <a:noFill/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34924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+ DTO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7523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 </a:t>
            </a: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Entity'ler doğrudan dönerse JSON serileştirmede LazyInitializationException ve döngüsel referans.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katmanı eklendi (SatisYanitDTO, DashboardOzetDTO...); read metotları @Transactional(readOnly) içinde DTO'ya çevirir.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66928" y="36118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1097280" y="3685032"/>
            <a:ext cx="0" cy="713232"/>
          </a:xfrm>
          <a:prstGeom prst="line">
            <a:avLst/>
          </a:prstGeom>
          <a:noFill/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118872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Koordinasyonu (6 kişi)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8496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 </a:t>
            </a: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modüller paralel geliştirilirken merge çakışmaları ve standart sapması.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+ feature/&lt;modul&gt; dalları + Proje Yöneticisi PR review; commit mesaj formatı zorunlu.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520440"/>
            <a:ext cx="4069080" cy="1005840"/>
          </a:xfrm>
          <a:prstGeom prst="rect">
            <a:avLst/>
          </a:prstGeom>
          <a:solidFill>
            <a:srgbClr val="2C3E50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94760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03520" y="36850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öğrendik?</a:t>
            </a:r>
            <a:endParaRPr lang="en-US" sz="14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 mimari kararları + disiplinli süreç + erken test = projenin gerçekten ayakta durmasını sağlıyor. Çözüm değil, çözümün doğru zamanlaması önemli.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 İşler — Hedeflerin Karşılığı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Modülleri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modül tamamlandı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73152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Sayfaları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 sayfa hazır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73152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 Tasarım Raporu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1016 uyumlu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32588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766560" y="1325880"/>
            <a:ext cx="73152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76656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665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uçları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73152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Geliştirilen Modüller</a:t>
            </a:r>
            <a:endParaRPr lang="en-US" sz="14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91256"/>
            <a:ext cx="128016" cy="12801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68680" y="315468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Yönetimi (Otomobil/SUV/Ticari/Motosiklet)</a:t>
            </a:r>
            <a:endParaRPr lang="en-US" sz="10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01568"/>
            <a:ext cx="128016" cy="12801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68680" y="336499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Yönetimi (TC ile arama)</a:t>
            </a:r>
            <a:endParaRPr lang="en-US" sz="10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128016" cy="12801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68680" y="357530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(atomik @Transactional)</a:t>
            </a:r>
            <a:endParaRPr lang="en-US" sz="10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22192"/>
            <a:ext cx="128016" cy="12801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8680" y="378561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 (DB-side agregasyon)</a:t>
            </a:r>
            <a:endParaRPr lang="en-US" sz="10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32504"/>
            <a:ext cx="128016" cy="12801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68680" y="3995928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Ekspertiz (parça bazlı puanlama)</a:t>
            </a:r>
            <a:endParaRPr lang="en-US" sz="10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42816"/>
            <a:ext cx="128016" cy="12801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68680" y="420624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Sigorta / Muayene takibi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53128"/>
            <a:ext cx="128016" cy="12801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68680" y="441655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yönetimi + bildirim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4617720" y="269748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33"/>
          <p:cNvSpPr/>
          <p:nvPr/>
        </p:nvSpPr>
        <p:spPr>
          <a:xfrm>
            <a:off x="4617720" y="2697480"/>
            <a:ext cx="73152" cy="2011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34"/>
          <p:cNvSpPr/>
          <p:nvPr/>
        </p:nvSpPr>
        <p:spPr>
          <a:xfrm>
            <a:off x="48006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Dokümantasyon ve Süreç</a:t>
            </a:r>
            <a:endParaRPr lang="en-US" sz="14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191256"/>
            <a:ext cx="128016" cy="12801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029200" y="3154680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 SRS belgesi (Analiz)</a:t>
            </a:r>
            <a:endParaRPr lang="en-US" sz="10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401568"/>
            <a:ext cx="128016" cy="12801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029200" y="3364992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1016 PDR — 55 sayfa Tasarım Raporu</a:t>
            </a:r>
            <a:endParaRPr lang="en-US" sz="10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611880"/>
            <a:ext cx="128016" cy="12801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029200" y="3575304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UML diyagramı (sınıf, sıralama, durum...)</a:t>
            </a:r>
            <a:endParaRPr lang="en-US" sz="10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822192"/>
            <a:ext cx="128016" cy="128016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029200" y="3785616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Kılavuzu — 12 sayfa</a:t>
            </a:r>
            <a:endParaRPr lang="en-US" sz="10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32504"/>
            <a:ext cx="128016" cy="128016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5029200" y="3995928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GOREV_DAGILIMI.md — modül sahiplik matrisi</a:t>
            </a:r>
            <a:endParaRPr lang="en-US" sz="10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242816"/>
            <a:ext cx="128016" cy="128016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5029200" y="4206240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+ commit mesaj formatı</a:t>
            </a:r>
            <a:endParaRPr lang="en-US" sz="100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453128"/>
            <a:ext cx="128016" cy="128016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5029200" y="4416552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Mockito birim testleri</a:t>
            </a:r>
            <a:endParaRPr lang="en-US" sz="1000" dirty="0"/>
          </a:p>
        </p:txBody>
      </p:sp>
      <p:sp>
        <p:nvSpPr>
          <p:cNvPr id="58" name="Text 4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59" name="Text 43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Kalanlar ve Gelecek Çalışmalar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" cy="33375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/ Sınırlı Kapsam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9384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açık API. JWT + Spring Security planlandı.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230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377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Tabanlı Yetki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sahibi / danışman / ekspertiz uzmanı ayrımı.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3522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/ SMS Bildirim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Sigorta uyarıları şu an yalnız UI badge.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38144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383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Uygulama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REST API ile React Native istemci.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41064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400" y="3886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Resmi Yayın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+ Supabase production deploy.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663440" y="132588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1"/>
          <p:cNvSpPr/>
          <p:nvPr/>
        </p:nvSpPr>
        <p:spPr>
          <a:xfrm>
            <a:off x="4663440" y="1325880"/>
            <a:ext cx="73152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2"/>
          <p:cNvSpPr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Geliştirseydik Ne Eklerdik?</a:t>
            </a:r>
            <a:endParaRPr lang="en-US" sz="16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29384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Tahmini AI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Geçmiş satış verisinden ML modeli ile öneri.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32304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2377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Segmenti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analizi + e-postayla araç önerisi.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35224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2880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Multi-Tenant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backend, farklı galeriler ayrı şemalarda.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38144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0640" y="3383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+ QR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Plaka QR ile aracın geçmişi anında erişilsin.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941064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120640" y="3886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API dokümantasyonu, 3rd-party entegrasyon.</a:t>
            </a:r>
            <a:endParaRPr lang="en-US" sz="1100" dirty="0"/>
          </a:p>
        </p:txBody>
      </p:sp>
      <p:sp>
        <p:nvSpPr>
          <p:cNvPr id="30" name="Text 1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AOGS — Final Sunum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3152" cy="1325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Hedefimiz: tek bir merkezi web platformu. Sonuç: çalışan bir sistem.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Spring Boot + React + PostgreSQL üçlüsü ile 6 modülün tamamı uçtan uca ayağa kalktı. Atomik satış işlemleri, polimorfik fiyat hesabı, DB-side raporlama ve renk kodlu sigorta/muayene takibi gerçek bir galeride doğrudan kullanılabilir durumda.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531620" y="2907792"/>
            <a:ext cx="548640" cy="548640"/>
          </a:xfrm>
          <a:prstGeom prst="ellipse">
            <a:avLst/>
          </a:prstGeom>
          <a:solidFill>
            <a:srgbClr val="FFE5D0"/>
          </a:solidFill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348" y="301752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520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Olgunluk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yapı, DTO yalıtımı, @Transactional ACID — endüstri standardı.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274320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4320540" y="2907792"/>
            <a:ext cx="548640" cy="548640"/>
          </a:xfrm>
          <a:prstGeom prst="ellipse">
            <a:avLst/>
          </a:prstGeom>
          <a:solidFill>
            <a:srgbClr val="FFE5D0"/>
          </a:solidFill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301752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3520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Disiplini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2900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Arac + 4 alt tip · @MappedSuperclass Kisi · polimorfik fiyatHesapla().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274320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5D0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5"/>
          <p:cNvSpPr/>
          <p:nvPr/>
        </p:nvSpPr>
        <p:spPr>
          <a:xfrm>
            <a:off x="7109460" y="2907792"/>
            <a:ext cx="548640" cy="548640"/>
          </a:xfrm>
          <a:prstGeom prst="ellipse">
            <a:avLst/>
          </a:prstGeom>
          <a:solidFill>
            <a:srgbClr val="FFE5D0"/>
          </a:solidFill>
          <a:ln w="12700">
            <a:solidFill>
              <a:srgbClr val="FFE5D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301752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5040" y="3520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1792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indeksleri + DB-side SUM/GROUP BY ile milisaniyelik raporlar.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 Galeri Sistemi  ·  github.com/zekierman/akilli-galeri-sistemi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2834640"/>
            <a:ext cx="18288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Emre Kuzal   ·   Zeki Erman   ·   Orhan Akman   ·   Osman Berat Paşa   ·   Halil İbrahim Dinç   ·   Eray Gök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7033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1880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github.com/zekierman/akilli-galeri-sistemi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BIL204 Yazılım Mühendisliği  ·  Necmettin Erbakan Üniversitesi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1790</Words>
  <Application>Microsoft Office PowerPoint</Application>
  <PresentationFormat>On-screen Show (16:9)</PresentationFormat>
  <Paragraphs>304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Necmettin Erbakan Üniversitesi — Bilgisayar Mühendisliği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AOGS Final Sunumu</dc:title>
  <dc:subject>PptxGenJS Presentation</dc:subject>
  <dc:creator>AOGS Ekibi</dc:creator>
  <cp:lastModifiedBy>Emre Kuzal</cp:lastModifiedBy>
  <cp:revision>3</cp:revision>
  <dcterms:created xsi:type="dcterms:W3CDTF">2026-05-09T18:52:24Z</dcterms:created>
  <dcterms:modified xsi:type="dcterms:W3CDTF">2026-05-10T18:36:58Z</dcterms:modified>
</cp:coreProperties>
</file>