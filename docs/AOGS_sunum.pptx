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officeDocument/2006/relationships/officeDocument" Target="ppt/presentation.xml" /><Relationship Id="rId1" Type="http://schemas.microsoft.com/office/2011/relationships/webextensiontaskpanes" Target="ppt/webextensions/taskpanes.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68" r:id="rId5"/>
    <p:sldId id="271" r:id="rId6"/>
    <p:sldId id="273" r:id="rId7"/>
    <p:sldId id="278" r:id="rId8"/>
    <p:sldId id="276" r:id="rId9"/>
    <p:sldId id="279" r:id="rId10"/>
    <p:sldId id="280" r:id="rId11"/>
    <p:sldId id="260" r:id="rId12"/>
    <p:sldId id="261" r:id="rId13"/>
    <p:sldId id="269" r:id="rId14"/>
    <p:sldId id="281" r:id="rId15"/>
    <p:sldId id="282" r:id="rId16"/>
    <p:sldId id="283" r:id="rId17"/>
    <p:sldId id="284" r:id="rId18"/>
    <p:sldId id="285" r:id="rId19"/>
    <p:sldId id="286" r:id="rId20"/>
    <p:sldId id="287" r:id="rId21"/>
    <p:sldId id="288" r:id="rId22"/>
    <p:sldId id="263" r:id="rId23"/>
    <p:sldId id="264" r:id="rId24"/>
    <p:sldId id="265" r:id="rId25"/>
    <p:sldId id="266"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7C7"/>
    <a:srgbClr val="D798E4"/>
    <a:srgbClr val="62245F"/>
    <a:srgbClr val="D188E0"/>
    <a:srgbClr val="BD52D2"/>
    <a:srgbClr val="B043BB"/>
    <a:srgbClr val="E3BBE7"/>
    <a:srgbClr val="D79FDD"/>
    <a:srgbClr val="D59ADA"/>
    <a:srgbClr val="9237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notesMaster" Target="notesMasters/notesMaster1.xml" /><Relationship Id="rId3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922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Herkese merhaba. Biz Yazılım Mühendisliği dersinin 6 kişilik ekibiyiz. Bugün Akıllı Oto Galeri Sistemi projemizin ara sunum sunumunu yapacağız. Projemizde şimdiye kadar neler yaptığımızı, teknik altyapımızı ve bundan sonraki planımızı sizlerle paylaşacağız.</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ikinci el oto galerilerin günlük operasyonlarını dijitalleştirmek için geliştirilmektedir. Galeri sahipleri, satış danışmanları ve ekspertiz uzmanları olmak üzere üç ana kullanıcı kitlemiz var. Araç ekleme, müşteri yönetimi, satış, ekspertiz, sigorta ve muayene takibi gibi tüm süreçler tek bir sistem altında birleştirilmiştir.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Java JDK 17 ve üzeri sürümle geliştirilmektedir. Konsol tabanlı bir uygulama olup, OOP prensiplerini yoğun şekilde kullanıyoruz: Abstract sınıflar, Interface'ler, Kalıtım, Çok biçimlilik ve Singleton deseni. Önemli bir nokta olarak, Java Collections Framework kullanmıyoruz; bunun yerine LinkedList, BST, Queue ve Stack veri yapılarımızı kendimiz yazdık.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Projemiz 6 temel modülden oluşmaktadır. Her modülün bir sorumlu ekip üyesi vardır. Araç Yönetimi modülünü Zeki Erman, Müşteri Yönetimini Orhan Akman, Satış ve Raporlama modülünü Emre Kuzal, Ekspertiz modülünü Osman Berat Paşa, Sigorta ve Muayene Takibi modülünü Halil İbrahim Dinç ve UI/Entegrasyon modülünü Eray Gök üstlenmiştir.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Gereksinim analizi aşamasında IEEE 830 standardına uygun 43 sayfayı aşan bir SRS belgesi hazırladık. Belgede 24 fonksiyonel gereksinim FR-101'den FR-604'e kadar numaralandırılmıştır. Ayrıca performans, güvenlik gibi 6 fonksiyonel olmayan gereksinim ve sözde gereksinimler de tanımlanmıştır.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UML modelleme aşamasında kapsamlı çalışma yaptık. 22 kullanım durumunun her biri için alternatif akışlar ve istisnai durumlar detaylı şekilde yazıldı. 25'ten fazla sınıf içeren sınıf diyagramında 15 ilişki detaylı tablo ile belgelendi. Ayrıca 4 durum diyagramı, 3 aktivite diyagramı ve 3 sıra diyagramı hazırladık.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arayüzü için 8 adet modern masaüstü GUI mockup tasarladık. Dashboard, Araç Listesi, Araç Ekleme, Müşteri Yönetimi, Satış İşlemleri, Ekspertiz, Sigorta Takibi ve Raporlama ekranları planlanmıştır. Bu mockup'lar konsol uygulamasının ileride GUI'ye dönüştürülmesi halinde referans olacaktır.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kılavuzumuz 12 sayfa olup, sistemin tüm modüllerinin nasıl kullanılacağını adım adım anlatmaktadır. Bu kılavuz hem son kullanıcılar hem de teknik ekip için referans niteliğindedir.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 sürecinde dört ana zorlukla karşılaştık. Birincisi, Java Collections kullanmadan kendi veri yapılarımızı yazmak. İkincisi, 22 use case için detaylı alternatif ve istisnai akışları belgelemek. Üçüncüsü, IEEE 830 standardına tam uyumlu UML belgelendirmesi. Dördüncüsü ise 6 kişilik ekibin Git branch stratejisi ile koordinasyonunu sağlamak oldu.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Bundan sonraki süreçte sırasıyla şu adımları planlıyoruz: Öncelikle kodun yazılması ve birim testlerinin yapılması, ardından modüller arası entegrasyon testleri, arayüz menü sisteminin geliştirilmesi, demo senaryolarının hazırlanması ve son olarak final raporu ile final sunumu. Hedefimiz dersin sonuna kadar çalışan bir prototip teslim etmektir.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Sunumumuz burada sona eriyor. Projeyle ilgili sorularınızı yanıtlamaktan memnuniyet duyarız. GitHub linkimiz ekranda görünmektedir, projenin kaynak koduna ve dokümanlarına oradan erişebilirsiniz. Dinlediğiniz için teşekkür ederiz.</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5" Type="http://schemas.openxmlformats.org/officeDocument/2006/relationships/hyperlink" Target="https://github.com/zekierman/akilli-galeri-sistemi" TargetMode="Externa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3.xml" /><Relationship Id="rId1" Type="http://schemas.openxmlformats.org/officeDocument/2006/relationships/slideLayout" Target="../slideLayouts/slideLayout1.xml" /><Relationship Id="rId5" Type="http://schemas.openxmlformats.org/officeDocument/2006/relationships/image" Target="../media/image8.png" /><Relationship Id="rId4" Type="http://schemas.openxmlformats.org/officeDocument/2006/relationships/image" Target="../media/image7.png" /></Relationships>
</file>

<file path=ppt/slides/_rels/slide4.xml.rels><?xml version="1.0" encoding="UTF-8" standalone="yes"?>
<Relationships xmlns="http://schemas.openxmlformats.org/package/2006/relationships"><Relationship Id="rId8" Type="http://schemas.openxmlformats.org/officeDocument/2006/relationships/image" Target="../media/image11.png" /><Relationship Id="rId3" Type="http://schemas.openxmlformats.org/officeDocument/2006/relationships/image" Target="../media/image9.png" /><Relationship Id="rId7" Type="http://schemas.openxmlformats.org/officeDocument/2006/relationships/image" Target="../media/image5.pn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10.png" /><Relationship Id="rId5" Type="http://schemas.openxmlformats.org/officeDocument/2006/relationships/image" Target="../media/image4.png" /><Relationship Id="rId4" Type="http://schemas.openxmlformats.org/officeDocument/2006/relationships/image" Target="../media/image3.png" /><Relationship Id="rId9" Type="http://schemas.openxmlformats.org/officeDocument/2006/relationships/image" Target="../media/image12.png"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8" Type="http://schemas.openxmlformats.org/officeDocument/2006/relationships/image" Target="../media/image20.png" /><Relationship Id="rId3" Type="http://schemas.openxmlformats.org/officeDocument/2006/relationships/image" Target="../media/image15.png" /><Relationship Id="rId7" Type="http://schemas.openxmlformats.org/officeDocument/2006/relationships/image" Target="../media/image19.png" /><Relationship Id="rId2" Type="http://schemas.openxmlformats.org/officeDocument/2006/relationships/notesSlide" Target="../notesSlides/notesSlide13.xml" /><Relationship Id="rId1" Type="http://schemas.openxmlformats.org/officeDocument/2006/relationships/slideLayout" Target="../slideLayouts/slideLayout1.xml" /><Relationship Id="rId6" Type="http://schemas.openxmlformats.org/officeDocument/2006/relationships/image" Target="../media/image18.png" /><Relationship Id="rId11" Type="http://schemas.openxmlformats.org/officeDocument/2006/relationships/image" Target="../media/image23.png" /><Relationship Id="rId5" Type="http://schemas.openxmlformats.org/officeDocument/2006/relationships/image" Target="../media/image17.png" /><Relationship Id="rId10" Type="http://schemas.openxmlformats.org/officeDocument/2006/relationships/image" Target="../media/image22.png" /><Relationship Id="rId4" Type="http://schemas.openxmlformats.org/officeDocument/2006/relationships/image" Target="../media/image16.png" /><Relationship Id="rId9" Type="http://schemas.openxmlformats.org/officeDocument/2006/relationships/image" Target="../media/image21.png" /></Relationships>
</file>

<file path=ppt/slides/_rels/slide14.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2" Type="http://schemas.openxmlformats.org/officeDocument/2006/relationships/image" Target="../media/image17.png"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2" Type="http://schemas.openxmlformats.org/officeDocument/2006/relationships/image" Target="../media/image20.png"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2" Type="http://schemas.openxmlformats.org/officeDocument/2006/relationships/image" Target="../media/image21.png"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17.xml" /><Relationship Id="rId1" Type="http://schemas.openxmlformats.org/officeDocument/2006/relationships/slideLayout" Target="../slideLayouts/slideLayout1.xml" /><Relationship Id="rId5" Type="http://schemas.openxmlformats.org/officeDocument/2006/relationships/hyperlink" Target="https://github.com/zekierman/akilli-galeri-sistemi" TargetMode="External" /><Relationship Id="rId4" Type="http://schemas.openxmlformats.org/officeDocument/2006/relationships/image" Target="../media/image2.png"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3886200" y="457200"/>
            <a:ext cx="1371600" cy="1371600"/>
          </a:xfrm>
          <a:prstGeom prst="rect">
            <a:avLst/>
          </a:prstGeom>
        </p:spPr>
      </p:pic>
      <p:sp>
        <p:nvSpPr>
          <p:cNvPr id="4" name="Text 1"/>
          <p:cNvSpPr/>
          <p:nvPr/>
        </p:nvSpPr>
        <p:spPr>
          <a:xfrm>
            <a:off x="457200" y="1920240"/>
            <a:ext cx="8229600" cy="640080"/>
          </a:xfrm>
          <a:prstGeom prst="rect">
            <a:avLst/>
          </a:prstGeom>
          <a:noFill/>
          <a:ln/>
        </p:spPr>
        <p:txBody>
          <a:bodyPr wrap="square" lIns="0" tIns="0" rIns="0" bIns="0" rtlCol="0" anchor="ctr"/>
          <a:lstStyle/>
          <a:p>
            <a:pPr marL="0" indent="0" algn="ctr">
              <a:buNone/>
            </a:pPr>
            <a:r>
              <a:rPr lang="en-US" sz="3600" b="1" dirty="0">
                <a:solidFill>
                  <a:srgbClr val="E87722"/>
                </a:solidFill>
                <a:latin typeface="Trebuchet MS" pitchFamily="34" charset="0"/>
                <a:ea typeface="Trebuchet MS" pitchFamily="34" charset="-122"/>
                <a:cs typeface="Trebuchet MS" pitchFamily="34" charset="-120"/>
              </a:rPr>
              <a:t>AKILLI OTO GALERİ SİSTEMİ</a:t>
            </a:r>
            <a:endParaRPr lang="en-US" sz="3600" dirty="0"/>
          </a:p>
        </p:txBody>
      </p:sp>
      <p:sp>
        <p:nvSpPr>
          <p:cNvPr id="5" name="Text 2"/>
          <p:cNvSpPr/>
          <p:nvPr/>
        </p:nvSpPr>
        <p:spPr>
          <a:xfrm>
            <a:off x="457200" y="2468880"/>
            <a:ext cx="8229600" cy="411480"/>
          </a:xfrm>
          <a:prstGeom prst="rect">
            <a:avLst/>
          </a:prstGeom>
          <a:noFill/>
          <a:ln/>
        </p:spPr>
        <p:txBody>
          <a:bodyPr wrap="square" lIns="0" tIns="0" rIns="0" bIns="0" rtlCol="0" anchor="ctr"/>
          <a:lstStyle/>
          <a:p>
            <a:pPr marL="0" indent="0" algn="ctr">
              <a:buNone/>
            </a:pPr>
            <a:r>
              <a:rPr lang="en-US" sz="2200" dirty="0">
                <a:solidFill>
                  <a:srgbClr val="999999"/>
                </a:solidFill>
                <a:latin typeface="Calibri" pitchFamily="34" charset="0"/>
                <a:ea typeface="Calibri" pitchFamily="34" charset="-122"/>
                <a:cs typeface="Calibri" pitchFamily="34" charset="-120"/>
              </a:rPr>
              <a:t>(AOGS)</a:t>
            </a:r>
            <a:endParaRPr lang="en-US" sz="2200" dirty="0"/>
          </a:p>
        </p:txBody>
      </p:sp>
      <p:sp>
        <p:nvSpPr>
          <p:cNvPr id="6" name="Text 3"/>
          <p:cNvSpPr/>
          <p:nvPr/>
        </p:nvSpPr>
        <p:spPr>
          <a:xfrm>
            <a:off x="457200" y="2926080"/>
            <a:ext cx="8229600" cy="32004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Yazılım Mühendisliği Dersi — Necmettin Erbakan Üniversitesi</a:t>
            </a:r>
            <a:endParaRPr lang="en-US" sz="1400" dirty="0"/>
          </a:p>
        </p:txBody>
      </p:sp>
      <p:sp>
        <p:nvSpPr>
          <p:cNvPr id="7" name="Text 4"/>
          <p:cNvSpPr/>
          <p:nvPr/>
        </p:nvSpPr>
        <p:spPr>
          <a:xfrm>
            <a:off x="457200" y="3246120"/>
            <a:ext cx="8229600" cy="274320"/>
          </a:xfrm>
          <a:prstGeom prst="rect">
            <a:avLst/>
          </a:prstGeom>
          <a:noFill/>
          <a:ln/>
        </p:spPr>
        <p:txBody>
          <a:bodyPr wrap="square" lIns="0" tIns="0" rIns="0" bIns="0" rtlCol="0" anchor="ctr"/>
          <a:lstStyle/>
          <a:p>
            <a:pPr marL="0" indent="0" algn="ctr">
              <a:buNone/>
            </a:pPr>
            <a:r>
              <a:rPr lang="en-US" sz="1200" i="1" dirty="0">
                <a:solidFill>
                  <a:srgbClr val="999999"/>
                </a:solidFill>
                <a:latin typeface="Calibri" pitchFamily="34" charset="0"/>
                <a:ea typeface="Calibri" pitchFamily="34" charset="-122"/>
                <a:cs typeface="Calibri" pitchFamily="34" charset="-120"/>
              </a:rPr>
              <a:t>Dr. Öğr. Üyesi Arda Söylev</a:t>
            </a:r>
            <a:endParaRPr lang="en-US" sz="1200" dirty="0"/>
          </a:p>
        </p:txBody>
      </p:sp>
      <p:sp>
        <p:nvSpPr>
          <p:cNvPr id="8" name="Text 5"/>
          <p:cNvSpPr/>
          <p:nvPr/>
        </p:nvSpPr>
        <p:spPr>
          <a:xfrm>
            <a:off x="457200" y="374904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Zeki Erman  •  Orhan Akman  •  Emre Kuzal</a:t>
            </a:r>
            <a:endParaRPr lang="en-US" sz="1200" dirty="0"/>
          </a:p>
        </p:txBody>
      </p:sp>
      <p:sp>
        <p:nvSpPr>
          <p:cNvPr id="9" name="Text 6"/>
          <p:cNvSpPr/>
          <p:nvPr/>
        </p:nvSpPr>
        <p:spPr>
          <a:xfrm>
            <a:off x="457200" y="402336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Osman Berat Paşa  •  Halil İbrahim Dinç  •  Eray Gök</a:t>
            </a:r>
            <a:endParaRPr lang="en-US" sz="1200" dirty="0"/>
          </a:p>
        </p:txBody>
      </p:sp>
      <p:sp>
        <p:nvSpPr>
          <p:cNvPr id="10" name="Text 7"/>
          <p:cNvSpPr/>
          <p:nvPr/>
        </p:nvSpPr>
        <p:spPr>
          <a:xfrm>
            <a:off x="457200" y="4389120"/>
            <a:ext cx="3657600" cy="274320"/>
          </a:xfrm>
          <a:prstGeom prst="rect">
            <a:avLst/>
          </a:prstGeom>
          <a:noFill/>
          <a:ln/>
        </p:spPr>
        <p:txBody>
          <a:bodyPr wrap="square" lIns="0" tIns="0" rIns="0" bIns="0" rtlCol="0" anchor="ctr"/>
          <a:lstStyle/>
          <a:p>
            <a:pPr marL="0" indent="0" algn="l">
              <a:buNone/>
            </a:pPr>
            <a:r>
              <a:rPr lang="en-US" sz="1100" dirty="0">
                <a:solidFill>
                  <a:srgbClr val="666666"/>
                </a:solidFill>
                <a:latin typeface="Calibri" pitchFamily="34" charset="0"/>
                <a:ea typeface="Calibri" pitchFamily="34" charset="-122"/>
                <a:cs typeface="Calibri" pitchFamily="34" charset="-120"/>
              </a:rPr>
              <a:t>Nisan 2026</a:t>
            </a:r>
            <a:endParaRPr lang="en-US" sz="1100" dirty="0"/>
          </a:p>
        </p:txBody>
      </p:sp>
      <p:pic>
        <p:nvPicPr>
          <p:cNvPr id="11" name="Image 1" descr="preencoded.png"/>
          <p:cNvPicPr>
            <a:picLocks noChangeAspect="1"/>
          </p:cNvPicPr>
          <p:nvPr/>
        </p:nvPicPr>
        <p:blipFill>
          <a:blip r:embed="rId4"/>
          <a:stretch>
            <a:fillRect/>
          </a:stretch>
        </p:blipFill>
        <p:spPr>
          <a:xfrm>
            <a:off x="7772400" y="4389120"/>
            <a:ext cx="201168" cy="201168"/>
          </a:xfrm>
          <a:prstGeom prst="rect">
            <a:avLst/>
          </a:prstGeom>
        </p:spPr>
      </p:pic>
      <p:sp>
        <p:nvSpPr>
          <p:cNvPr id="12" name="Text 8">
            <a:hlinkClick r:id="rId5"/>
          </p:cNvPr>
          <p:cNvSpPr/>
          <p:nvPr/>
        </p:nvSpPr>
        <p:spPr>
          <a:xfrm>
            <a:off x="5029200" y="4389120"/>
            <a:ext cx="2743200" cy="274320"/>
          </a:xfrm>
          <a:prstGeom prst="rect">
            <a:avLst/>
          </a:prstGeom>
          <a:noFill/>
          <a:ln/>
        </p:spPr>
        <p:txBody>
          <a:bodyPr wrap="square" lIns="0" tIns="0" rIns="0" bIns="0" rtlCol="0" anchor="ctr"/>
          <a:lstStyle/>
          <a:p>
            <a:pPr marL="0" indent="0" algn="r">
              <a:buNone/>
            </a:pPr>
            <a:r>
              <a:rPr lang="en-US" sz="1000" u="sng" dirty="0">
                <a:solidFill>
                  <a:srgbClr val="999999"/>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github.com/zekierman/akilli-galeri-sistemi</a:t>
            </a:r>
            <a:endParaRPr lang="en-US" sz="1000" dirty="0"/>
          </a:p>
        </p:txBody>
      </p:sp>
      <p:sp>
        <p:nvSpPr>
          <p:cNvPr id="13" name="Shape 9"/>
          <p:cNvSpPr/>
          <p:nvPr/>
        </p:nvSpPr>
        <p:spPr>
          <a:xfrm>
            <a:off x="0" y="5088636"/>
            <a:ext cx="9144000" cy="54864"/>
          </a:xfrm>
          <a:prstGeom prst="rect">
            <a:avLst/>
          </a:prstGeom>
          <a:solidFill>
            <a:srgbClr val="E87722"/>
          </a:solidFill>
          <a:ln/>
        </p:spPr>
        <p:txBody>
          <a:bodyPr/>
          <a:lstStyle/>
          <a:p>
            <a:endParaRPr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Projenin Tanımı ve Kapsamı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3840480" cy="356616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Shape 5"/>
          <p:cNvSpPr/>
          <p:nvPr/>
        </p:nvSpPr>
        <p:spPr>
          <a:xfrm>
            <a:off x="457200" y="960120"/>
            <a:ext cx="64008" cy="3566160"/>
          </a:xfrm>
          <a:prstGeom prst="rect">
            <a:avLst/>
          </a:prstGeom>
          <a:solidFill>
            <a:srgbClr val="E87722"/>
          </a:solidFill>
          <a:ln/>
        </p:spPr>
        <p:txBody>
          <a:bodyPr/>
          <a:lstStyle/>
          <a:p>
            <a:endParaRPr lang="tr-TR"/>
          </a:p>
        </p:txBody>
      </p:sp>
      <p:sp>
        <p:nvSpPr>
          <p:cNvPr id="9" name="Text 6"/>
          <p:cNvSpPr/>
          <p:nvPr/>
        </p:nvSpPr>
        <p:spPr>
          <a:xfrm>
            <a:off x="731520" y="1097280"/>
            <a:ext cx="3383280" cy="365760"/>
          </a:xfrm>
          <a:prstGeom prst="rect">
            <a:avLst/>
          </a:prstGeom>
          <a:noFill/>
          <a:ln/>
        </p:spPr>
        <p:txBody>
          <a:bodyPr wrap="square" lIns="0" tIns="0" rIns="0" bIns="0" rtlCol="0" anchor="ctr"/>
          <a:lstStyle/>
          <a:p>
            <a:pPr marL="0" indent="0">
              <a:buNone/>
            </a:pPr>
            <a:r>
              <a:rPr lang="en-US" sz="1800" b="1" dirty="0">
                <a:solidFill>
                  <a:srgbClr val="2D2D2D"/>
                </a:solidFill>
                <a:latin typeface="Trebuchet MS" pitchFamily="34" charset="0"/>
                <a:ea typeface="Trebuchet MS" pitchFamily="34" charset="-122"/>
                <a:cs typeface="Trebuchet MS" pitchFamily="34" charset="-120"/>
              </a:rPr>
              <a:t>AOGS Nedir?</a:t>
            </a:r>
            <a:endParaRPr lang="en-US" sz="1800" dirty="0"/>
          </a:p>
        </p:txBody>
      </p:sp>
      <p:sp>
        <p:nvSpPr>
          <p:cNvPr id="10" name="Text 7"/>
          <p:cNvSpPr/>
          <p:nvPr/>
        </p:nvSpPr>
        <p:spPr>
          <a:xfrm>
            <a:off x="731520" y="1554480"/>
            <a:ext cx="3383280" cy="1828800"/>
          </a:xfrm>
          <a:prstGeom prst="rect">
            <a:avLst/>
          </a:prstGeom>
          <a:noFill/>
          <a:ln/>
        </p:spPr>
        <p:txBody>
          <a:bodyPr wrap="square" lIns="0" tIns="0" rIns="0" bIns="0" rtlCol="0" anchor="t"/>
          <a:lstStyle/>
          <a:p>
            <a:pPr marL="0" indent="0">
              <a:buNone/>
            </a:pPr>
            <a:r>
              <a:rPr lang="en-US" sz="1300" dirty="0">
                <a:solidFill>
                  <a:srgbClr val="2D2D2D"/>
                </a:solidFill>
                <a:latin typeface="Calibri" pitchFamily="34" charset="0"/>
                <a:ea typeface="Calibri" pitchFamily="34" charset="-122"/>
                <a:cs typeface="Calibri" pitchFamily="34" charset="-120"/>
              </a:rPr>
              <a:t>İkinci el oto galerilerin tüm operasyonlarını dijitalleştiren, Java tabanlı </a:t>
            </a:r>
            <a:r>
              <a:rPr lang="en-US" sz="1300" dirty="0" err="1">
                <a:solidFill>
                  <a:srgbClr val="2D2D2D"/>
                </a:solidFill>
                <a:latin typeface="Calibri" pitchFamily="34" charset="0"/>
                <a:ea typeface="Calibri" pitchFamily="34" charset="-122"/>
                <a:cs typeface="Calibri" pitchFamily="34" charset="-120"/>
              </a:rPr>
              <a:t>bir</a:t>
            </a:r>
            <a:r>
              <a:rPr lang="en-US" sz="1300" dirty="0">
                <a:solidFill>
                  <a:srgbClr val="2D2D2D"/>
                </a:solidFill>
                <a:latin typeface="Calibri" pitchFamily="34" charset="0"/>
                <a:ea typeface="Calibri" pitchFamily="34" charset="-122"/>
                <a:cs typeface="Calibri" pitchFamily="34" charset="-120"/>
              </a:rPr>
              <a:t> </a:t>
            </a:r>
            <a:r>
              <a:rPr lang="tr-TR" sz="1300" dirty="0">
                <a:solidFill>
                  <a:srgbClr val="2D2D2D"/>
                </a:solidFill>
                <a:latin typeface="Calibri" pitchFamily="34" charset="0"/>
                <a:ea typeface="Calibri" pitchFamily="34" charset="-122"/>
                <a:cs typeface="Calibri" pitchFamily="34" charset="-120"/>
              </a:rPr>
              <a:t>arayüz</a:t>
            </a:r>
            <a:r>
              <a:rPr lang="en-US" sz="1300" dirty="0">
                <a:solidFill>
                  <a:srgbClr val="2D2D2D"/>
                </a:solidFill>
                <a:latin typeface="Calibri" pitchFamily="34" charset="0"/>
                <a:ea typeface="Calibri" pitchFamily="34" charset="-122"/>
                <a:cs typeface="Calibri" pitchFamily="34" charset="-120"/>
              </a:rPr>
              <a:t> uygulamasıdır.</a:t>
            </a:r>
            <a:endParaRPr lang="en-US" sz="1300" dirty="0"/>
          </a:p>
          <a:p>
            <a:pPr marL="0" indent="0">
              <a:buNone/>
            </a:pPr>
            <a:endParaRPr lang="en-US" sz="1300" dirty="0"/>
          </a:p>
          <a:p>
            <a:pPr marL="0" indent="0">
              <a:buNone/>
            </a:pPr>
            <a:r>
              <a:rPr lang="en-US" sz="1300" dirty="0">
                <a:solidFill>
                  <a:srgbClr val="2D2D2D"/>
                </a:solidFill>
                <a:latin typeface="Calibri" pitchFamily="34" charset="0"/>
                <a:ea typeface="Calibri" pitchFamily="34" charset="-122"/>
                <a:cs typeface="Calibri" pitchFamily="34" charset="-120"/>
              </a:rPr>
              <a:t>Araç ekleme, müşteri yönetimi, satış, ekspertiz, sigorta ve muayene takibi tek bir sistemde birleştirilmiştir.</a:t>
            </a:r>
            <a:endParaRPr lang="en-US" sz="1300" dirty="0"/>
          </a:p>
        </p:txBody>
      </p:sp>
      <p:sp>
        <p:nvSpPr>
          <p:cNvPr id="11" name="Text 8"/>
          <p:cNvSpPr/>
          <p:nvPr/>
        </p:nvSpPr>
        <p:spPr>
          <a:xfrm>
            <a:off x="4663440" y="1005840"/>
            <a:ext cx="393192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Hedef Kullanıcılar</a:t>
            </a:r>
            <a:endParaRPr lang="en-US" sz="1600" dirty="0"/>
          </a:p>
        </p:txBody>
      </p:sp>
      <p:sp>
        <p:nvSpPr>
          <p:cNvPr id="12" name="Shape 9"/>
          <p:cNvSpPr/>
          <p:nvPr/>
        </p:nvSpPr>
        <p:spPr>
          <a:xfrm>
            <a:off x="4754880" y="1463040"/>
            <a:ext cx="502920" cy="502920"/>
          </a:xfrm>
          <a:prstGeom prst="ellipse">
            <a:avLst/>
          </a:prstGeom>
          <a:solidFill>
            <a:srgbClr val="E87722"/>
          </a:solidFill>
          <a:ln/>
        </p:spPr>
        <p:txBody>
          <a:bodyPr/>
          <a:lstStyle/>
          <a:p>
            <a:endParaRPr lang="tr-TR"/>
          </a:p>
        </p:txBody>
      </p:sp>
      <p:pic>
        <p:nvPicPr>
          <p:cNvPr id="13" name="Image 1" descr="preencoded.png"/>
          <p:cNvPicPr>
            <a:picLocks noChangeAspect="1"/>
          </p:cNvPicPr>
          <p:nvPr/>
        </p:nvPicPr>
        <p:blipFill>
          <a:blip r:embed="rId4"/>
          <a:stretch>
            <a:fillRect/>
          </a:stretch>
        </p:blipFill>
        <p:spPr>
          <a:xfrm>
            <a:off x="4823460" y="1531620"/>
            <a:ext cx="365760" cy="365760"/>
          </a:xfrm>
          <a:prstGeom prst="rect">
            <a:avLst/>
          </a:prstGeom>
        </p:spPr>
      </p:pic>
      <p:sp>
        <p:nvSpPr>
          <p:cNvPr id="14" name="Text 10"/>
          <p:cNvSpPr/>
          <p:nvPr/>
        </p:nvSpPr>
        <p:spPr>
          <a:xfrm>
            <a:off x="5440680" y="141732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Galeri Sahipleri</a:t>
            </a:r>
            <a:endParaRPr lang="en-US" sz="1400" dirty="0"/>
          </a:p>
        </p:txBody>
      </p:sp>
      <p:sp>
        <p:nvSpPr>
          <p:cNvPr id="15" name="Text 11"/>
          <p:cNvSpPr/>
          <p:nvPr/>
        </p:nvSpPr>
        <p:spPr>
          <a:xfrm>
            <a:off x="5440680" y="169164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Araç stok ve satış yönetimini kolaylaştırır</a:t>
            </a:r>
            <a:endParaRPr lang="en-US" sz="1100" dirty="0"/>
          </a:p>
        </p:txBody>
      </p:sp>
      <p:sp>
        <p:nvSpPr>
          <p:cNvPr id="16" name="Shape 12"/>
          <p:cNvSpPr/>
          <p:nvPr/>
        </p:nvSpPr>
        <p:spPr>
          <a:xfrm>
            <a:off x="4754880" y="2514600"/>
            <a:ext cx="502920" cy="502920"/>
          </a:xfrm>
          <a:prstGeom prst="ellipse">
            <a:avLst/>
          </a:prstGeom>
          <a:solidFill>
            <a:srgbClr val="E87722"/>
          </a:solidFill>
          <a:ln/>
        </p:spPr>
        <p:txBody>
          <a:bodyPr/>
          <a:lstStyle/>
          <a:p>
            <a:endParaRPr lang="tr-TR"/>
          </a:p>
        </p:txBody>
      </p:sp>
      <p:pic>
        <p:nvPicPr>
          <p:cNvPr id="17" name="Image 2" descr="preencoded.png"/>
          <p:cNvPicPr>
            <a:picLocks noChangeAspect="1"/>
          </p:cNvPicPr>
          <p:nvPr/>
        </p:nvPicPr>
        <p:blipFill>
          <a:blip r:embed="rId5"/>
          <a:stretch>
            <a:fillRect/>
          </a:stretch>
        </p:blipFill>
        <p:spPr>
          <a:xfrm>
            <a:off x="4823460" y="2583180"/>
            <a:ext cx="365760" cy="365760"/>
          </a:xfrm>
          <a:prstGeom prst="rect">
            <a:avLst/>
          </a:prstGeom>
        </p:spPr>
      </p:pic>
      <p:sp>
        <p:nvSpPr>
          <p:cNvPr id="18" name="Text 13"/>
          <p:cNvSpPr/>
          <p:nvPr/>
        </p:nvSpPr>
        <p:spPr>
          <a:xfrm>
            <a:off x="5440680" y="246888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Satış Danışmanları</a:t>
            </a:r>
            <a:endParaRPr lang="en-US" sz="1400" dirty="0"/>
          </a:p>
        </p:txBody>
      </p:sp>
      <p:sp>
        <p:nvSpPr>
          <p:cNvPr id="19" name="Text 14"/>
          <p:cNvSpPr/>
          <p:nvPr/>
        </p:nvSpPr>
        <p:spPr>
          <a:xfrm>
            <a:off x="5440680" y="274320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Müşteri takibi ve satış raporlarına erişim</a:t>
            </a:r>
            <a:endParaRPr lang="en-US" sz="1100" dirty="0"/>
          </a:p>
        </p:txBody>
      </p:sp>
      <p:sp>
        <p:nvSpPr>
          <p:cNvPr id="20" name="Shape 15"/>
          <p:cNvSpPr/>
          <p:nvPr/>
        </p:nvSpPr>
        <p:spPr>
          <a:xfrm>
            <a:off x="4754880" y="3566160"/>
            <a:ext cx="502920" cy="502920"/>
          </a:xfrm>
          <a:prstGeom prst="ellipse">
            <a:avLst/>
          </a:prstGeom>
          <a:solidFill>
            <a:srgbClr val="E87722"/>
          </a:solidFill>
          <a:ln/>
        </p:spPr>
        <p:txBody>
          <a:bodyPr/>
          <a:lstStyle/>
          <a:p>
            <a:endParaRPr lang="tr-TR"/>
          </a:p>
        </p:txBody>
      </p:sp>
      <p:pic>
        <p:nvPicPr>
          <p:cNvPr id="21" name="Image 3" descr="preencoded.png"/>
          <p:cNvPicPr>
            <a:picLocks noChangeAspect="1"/>
          </p:cNvPicPr>
          <p:nvPr/>
        </p:nvPicPr>
        <p:blipFill>
          <a:blip r:embed="rId6"/>
          <a:stretch>
            <a:fillRect/>
          </a:stretch>
        </p:blipFill>
        <p:spPr>
          <a:xfrm>
            <a:off x="4823460" y="3634740"/>
            <a:ext cx="365760" cy="365760"/>
          </a:xfrm>
          <a:prstGeom prst="rect">
            <a:avLst/>
          </a:prstGeom>
        </p:spPr>
      </p:pic>
      <p:sp>
        <p:nvSpPr>
          <p:cNvPr id="22" name="Text 16"/>
          <p:cNvSpPr/>
          <p:nvPr/>
        </p:nvSpPr>
        <p:spPr>
          <a:xfrm>
            <a:off x="5440680" y="3520440"/>
            <a:ext cx="32004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Ekspertiz Uzmanları</a:t>
            </a:r>
            <a:endParaRPr lang="en-US" sz="1400" dirty="0"/>
          </a:p>
        </p:txBody>
      </p:sp>
      <p:sp>
        <p:nvSpPr>
          <p:cNvPr id="23" name="Text 17"/>
          <p:cNvSpPr/>
          <p:nvPr/>
        </p:nvSpPr>
        <p:spPr>
          <a:xfrm>
            <a:off x="5440680" y="3794760"/>
            <a:ext cx="3200400" cy="3200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Araç değerlendirme ve hasar kayıtları</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Teknik Altyapı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3931920" cy="1828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pic>
        <p:nvPicPr>
          <p:cNvPr id="8" name="Image 1" descr="preencoded.png"/>
          <p:cNvPicPr>
            <a:picLocks noChangeAspect="1"/>
          </p:cNvPicPr>
          <p:nvPr/>
        </p:nvPicPr>
        <p:blipFill>
          <a:blip r:embed="rId4"/>
          <a:stretch>
            <a:fillRect/>
          </a:stretch>
        </p:blipFill>
        <p:spPr>
          <a:xfrm>
            <a:off x="640080" y="1097280"/>
            <a:ext cx="411480" cy="411480"/>
          </a:xfrm>
          <a:prstGeom prst="rect">
            <a:avLst/>
          </a:prstGeom>
        </p:spPr>
      </p:pic>
      <p:sp>
        <p:nvSpPr>
          <p:cNvPr id="9" name="Text 5"/>
          <p:cNvSpPr/>
          <p:nvPr/>
        </p:nvSpPr>
        <p:spPr>
          <a:xfrm>
            <a:off x="1188720" y="1097280"/>
            <a:ext cx="292608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Java JDK 17+</a:t>
            </a:r>
            <a:endParaRPr lang="en-US" sz="1600" dirty="0"/>
          </a:p>
        </p:txBody>
      </p:sp>
      <p:sp>
        <p:nvSpPr>
          <p:cNvPr id="10" name="Text 6"/>
          <p:cNvSpPr/>
          <p:nvPr/>
        </p:nvSpPr>
        <p:spPr>
          <a:xfrm>
            <a:off x="1188720" y="1417320"/>
            <a:ext cx="2926080" cy="228600"/>
          </a:xfrm>
          <a:prstGeom prst="rect">
            <a:avLst/>
          </a:prstGeom>
          <a:noFill/>
          <a:ln/>
        </p:spPr>
        <p:txBody>
          <a:bodyPr wrap="square" lIns="0" tIns="0" rIns="0" bIns="0" rtlCol="0" anchor="ctr"/>
          <a:lstStyle/>
          <a:p>
            <a:pPr marL="0" indent="0">
              <a:buNone/>
            </a:pPr>
            <a:r>
              <a:rPr lang="tr-TR" sz="1200" dirty="0" err="1">
                <a:solidFill>
                  <a:srgbClr val="666666"/>
                </a:solidFill>
                <a:latin typeface="Calibri" pitchFamily="34" charset="0"/>
                <a:ea typeface="Calibri" pitchFamily="34" charset="-122"/>
                <a:cs typeface="Calibri" pitchFamily="34" charset="-120"/>
              </a:rPr>
              <a:t>Arayüz</a:t>
            </a:r>
            <a:r>
              <a:rPr lang="tr-TR" sz="1200">
                <a:solidFill>
                  <a:srgbClr val="666666"/>
                </a:solidFill>
                <a:latin typeface="Calibri" pitchFamily="34" charset="0"/>
                <a:ea typeface="Calibri" pitchFamily="34" charset="-122"/>
                <a:cs typeface="Calibri" pitchFamily="34" charset="-120"/>
              </a:rPr>
              <a:t> tabanlı</a:t>
            </a:r>
            <a:r>
              <a:rPr lang="en-US" sz="1200">
                <a:solidFill>
                  <a:srgbClr val="666666"/>
                </a:solidFill>
                <a:latin typeface="Calibri" pitchFamily="34" charset="0"/>
                <a:ea typeface="Calibri" pitchFamily="34" charset="-122"/>
                <a:cs typeface="Calibri" pitchFamily="34" charset="-120"/>
              </a:rPr>
              <a:t> </a:t>
            </a:r>
            <a:r>
              <a:rPr lang="en-US" sz="1200" dirty="0">
                <a:solidFill>
                  <a:srgbClr val="666666"/>
                </a:solidFill>
                <a:latin typeface="Calibri" pitchFamily="34" charset="0"/>
                <a:ea typeface="Calibri" pitchFamily="34" charset="-122"/>
                <a:cs typeface="Calibri" pitchFamily="34" charset="-120"/>
              </a:rPr>
              <a:t>uygulama</a:t>
            </a:r>
            <a:endParaRPr lang="en-US" sz="1200" dirty="0"/>
          </a:p>
        </p:txBody>
      </p:sp>
      <p:sp>
        <p:nvSpPr>
          <p:cNvPr id="11" name="Text 7"/>
          <p:cNvSpPr/>
          <p:nvPr/>
        </p:nvSpPr>
        <p:spPr>
          <a:xfrm>
            <a:off x="640080" y="1920240"/>
            <a:ext cx="3474720" cy="640080"/>
          </a:xfrm>
          <a:prstGeom prst="rect">
            <a:avLst/>
          </a:prstGeom>
          <a:noFill/>
          <a:ln/>
        </p:spPr>
        <p:txBody>
          <a:bodyPr wrap="square" lIns="0" tIns="0" rIns="0" bIns="0" rtlCol="0" anchor="ctr"/>
          <a:lstStyle/>
          <a:p>
            <a:pPr marL="0" indent="0">
              <a:buNone/>
            </a:pPr>
            <a:r>
              <a:rPr lang="en-US" sz="1200" b="1" dirty="0">
                <a:solidFill>
                  <a:srgbClr val="D4691A"/>
                </a:solidFill>
                <a:latin typeface="Calibri" pitchFamily="34" charset="0"/>
                <a:ea typeface="Calibri" pitchFamily="34" charset="-122"/>
                <a:cs typeface="Calibri" pitchFamily="34" charset="-120"/>
              </a:rPr>
              <a:t>Java Collections kullanılmıyor</a:t>
            </a:r>
            <a:endParaRPr lang="en-US" sz="1200" dirty="0"/>
          </a:p>
          <a:p>
            <a:pPr marL="0" indent="0">
              <a:buNone/>
            </a:pPr>
            <a:r>
              <a:rPr lang="en-US" sz="1200" dirty="0">
                <a:solidFill>
                  <a:srgbClr val="666666"/>
                </a:solidFill>
                <a:latin typeface="Calibri" pitchFamily="34" charset="0"/>
                <a:ea typeface="Calibri" pitchFamily="34" charset="-122"/>
                <a:cs typeface="Calibri" pitchFamily="34" charset="-120"/>
              </a:rPr>
              <a:t>Tüm veri yapıları </a:t>
            </a:r>
            <a:r>
              <a:rPr lang="en-US" sz="1200" dirty="0" err="1">
                <a:solidFill>
                  <a:srgbClr val="666666"/>
                </a:solidFill>
                <a:latin typeface="Calibri" pitchFamily="34" charset="0"/>
                <a:ea typeface="Calibri" pitchFamily="34" charset="-122"/>
                <a:cs typeface="Calibri" pitchFamily="34" charset="-120"/>
              </a:rPr>
              <a:t>elle</a:t>
            </a:r>
            <a:r>
              <a:rPr lang="en-US" sz="1200" dirty="0">
                <a:solidFill>
                  <a:srgbClr val="666666"/>
                </a:solidFill>
                <a:latin typeface="Calibri" pitchFamily="34" charset="0"/>
                <a:ea typeface="Calibri" pitchFamily="34" charset="-122"/>
                <a:cs typeface="Calibri" pitchFamily="34" charset="-120"/>
              </a:rPr>
              <a:t> </a:t>
            </a:r>
            <a:r>
              <a:rPr lang="en-US" sz="1200" dirty="0" err="1">
                <a:solidFill>
                  <a:srgbClr val="666666"/>
                </a:solidFill>
                <a:latin typeface="Calibri" pitchFamily="34" charset="0"/>
                <a:ea typeface="Calibri" pitchFamily="34" charset="-122"/>
                <a:cs typeface="Calibri" pitchFamily="34" charset="-120"/>
              </a:rPr>
              <a:t>yazı</a:t>
            </a:r>
            <a:r>
              <a:rPr lang="tr-TR" sz="1200" dirty="0">
                <a:solidFill>
                  <a:srgbClr val="666666"/>
                </a:solidFill>
                <a:latin typeface="Calibri" pitchFamily="34" charset="0"/>
                <a:ea typeface="Calibri" pitchFamily="34" charset="-122"/>
                <a:cs typeface="Calibri" pitchFamily="34" charset="-120"/>
              </a:rPr>
              <a:t>lacak</a:t>
            </a:r>
            <a:endParaRPr lang="en-US" sz="1200" dirty="0"/>
          </a:p>
        </p:txBody>
      </p:sp>
      <p:sp>
        <p:nvSpPr>
          <p:cNvPr id="12" name="Shape 8"/>
          <p:cNvSpPr/>
          <p:nvPr/>
        </p:nvSpPr>
        <p:spPr>
          <a:xfrm>
            <a:off x="4754880" y="960120"/>
            <a:ext cx="3931920" cy="1828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pic>
        <p:nvPicPr>
          <p:cNvPr id="13" name="Image 2" descr="preencoded.png"/>
          <p:cNvPicPr>
            <a:picLocks noChangeAspect="1"/>
          </p:cNvPicPr>
          <p:nvPr/>
        </p:nvPicPr>
        <p:blipFill>
          <a:blip r:embed="rId5"/>
          <a:stretch>
            <a:fillRect/>
          </a:stretch>
        </p:blipFill>
        <p:spPr>
          <a:xfrm>
            <a:off x="4937760" y="1097280"/>
            <a:ext cx="411480" cy="411480"/>
          </a:xfrm>
          <a:prstGeom prst="rect">
            <a:avLst/>
          </a:prstGeom>
        </p:spPr>
      </p:pic>
      <p:sp>
        <p:nvSpPr>
          <p:cNvPr id="14" name="Text 9"/>
          <p:cNvSpPr/>
          <p:nvPr/>
        </p:nvSpPr>
        <p:spPr>
          <a:xfrm>
            <a:off x="5486400" y="1097280"/>
            <a:ext cx="292608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OOP Prensipleri</a:t>
            </a:r>
            <a:endParaRPr lang="en-US" sz="1600" dirty="0"/>
          </a:p>
        </p:txBody>
      </p:sp>
      <p:sp>
        <p:nvSpPr>
          <p:cNvPr id="15" name="Text 10"/>
          <p:cNvSpPr/>
          <p:nvPr/>
        </p:nvSpPr>
        <p:spPr>
          <a:xfrm>
            <a:off x="5120640" y="1554480"/>
            <a:ext cx="3291840" cy="1097280"/>
          </a:xfrm>
          <a:prstGeom prst="rect">
            <a:avLst/>
          </a:prstGeom>
          <a:noFill/>
          <a:ln/>
        </p:spPr>
        <p:txBody>
          <a:bodyPr wrap="square" lIns="0" tIns="0" rIns="0" bIns="0" rtlCol="0" anchor="ctr"/>
          <a:lstStyle/>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Abstract Classes</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Interface</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Inheritance</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Polymorphism</a:t>
            </a:r>
            <a:endParaRPr lang="en-US" sz="1200" dirty="0"/>
          </a:p>
          <a:p>
            <a:pPr marL="342900" indent="-342900">
              <a:buSzPct val="100000"/>
              <a:buChar char="•"/>
            </a:pPr>
            <a:r>
              <a:rPr lang="en-US" sz="1200" dirty="0">
                <a:solidFill>
                  <a:srgbClr val="2D2D2D"/>
                </a:solidFill>
                <a:latin typeface="Calibri" pitchFamily="34" charset="0"/>
                <a:ea typeface="Calibri" pitchFamily="34" charset="-122"/>
                <a:cs typeface="Calibri" pitchFamily="34" charset="-120"/>
              </a:rPr>
              <a:t>Singleton Pattern</a:t>
            </a:r>
            <a:endParaRPr lang="en-US" sz="1200" dirty="0"/>
          </a:p>
        </p:txBody>
      </p:sp>
      <p:sp>
        <p:nvSpPr>
          <p:cNvPr id="16" name="Text 11"/>
          <p:cNvSpPr/>
          <p:nvPr/>
        </p:nvSpPr>
        <p:spPr>
          <a:xfrm>
            <a:off x="457200" y="2926080"/>
            <a:ext cx="8229600" cy="320040"/>
          </a:xfrm>
          <a:prstGeom prst="rect">
            <a:avLst/>
          </a:prstGeom>
          <a:noFill/>
          <a:ln/>
        </p:spPr>
        <p:txBody>
          <a:bodyPr wrap="square" lIns="0" tIns="0" rIns="0" bIns="0" rtlCol="0" anchor="ctr"/>
          <a:lstStyle/>
          <a:p>
            <a:pPr marL="0" indent="0">
              <a:buNone/>
            </a:pPr>
            <a:r>
              <a:rPr lang="en-US" sz="1600" b="1" dirty="0">
                <a:latin typeface="Trebuchet MS" pitchFamily="34" charset="0"/>
                <a:ea typeface="Trebuchet MS" pitchFamily="34" charset="-122"/>
                <a:cs typeface="Trebuchet MS" pitchFamily="34" charset="-120"/>
              </a:rPr>
              <a:t>Kendi Veri Yapılarımız</a:t>
            </a:r>
            <a:endParaRPr lang="en-US" sz="1600" dirty="0"/>
          </a:p>
        </p:txBody>
      </p:sp>
      <p:sp>
        <p:nvSpPr>
          <p:cNvPr id="17" name="Shape 12"/>
          <p:cNvSpPr/>
          <p:nvPr/>
        </p:nvSpPr>
        <p:spPr>
          <a:xfrm>
            <a:off x="45720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18" name="Text 13"/>
          <p:cNvSpPr/>
          <p:nvPr/>
        </p:nvSpPr>
        <p:spPr>
          <a:xfrm>
            <a:off x="54864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LinkedList</a:t>
            </a:r>
            <a:endParaRPr lang="en-US" sz="1400" dirty="0"/>
          </a:p>
        </p:txBody>
      </p:sp>
      <p:sp>
        <p:nvSpPr>
          <p:cNvPr id="19" name="Text 14"/>
          <p:cNvSpPr/>
          <p:nvPr/>
        </p:nvSpPr>
        <p:spPr>
          <a:xfrm>
            <a:off x="54864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Araç &amp; Müşteri listeleri</a:t>
            </a:r>
            <a:endParaRPr lang="en-US" sz="1000" dirty="0"/>
          </a:p>
        </p:txBody>
      </p:sp>
      <p:sp>
        <p:nvSpPr>
          <p:cNvPr id="20" name="Shape 15"/>
          <p:cNvSpPr/>
          <p:nvPr/>
        </p:nvSpPr>
        <p:spPr>
          <a:xfrm>
            <a:off x="260604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1" name="Text 16"/>
          <p:cNvSpPr/>
          <p:nvPr/>
        </p:nvSpPr>
        <p:spPr>
          <a:xfrm>
            <a:off x="269748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BST</a:t>
            </a:r>
            <a:endParaRPr lang="en-US" sz="1400" dirty="0"/>
          </a:p>
        </p:txBody>
      </p:sp>
      <p:sp>
        <p:nvSpPr>
          <p:cNvPr id="22" name="Text 17"/>
          <p:cNvSpPr/>
          <p:nvPr/>
        </p:nvSpPr>
        <p:spPr>
          <a:xfrm>
            <a:off x="269748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Hızlı arama &amp; sıralama</a:t>
            </a:r>
            <a:endParaRPr lang="en-US" sz="1000" dirty="0"/>
          </a:p>
        </p:txBody>
      </p:sp>
      <p:sp>
        <p:nvSpPr>
          <p:cNvPr id="23" name="Shape 18"/>
          <p:cNvSpPr/>
          <p:nvPr/>
        </p:nvSpPr>
        <p:spPr>
          <a:xfrm>
            <a:off x="475488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4" name="Text 19"/>
          <p:cNvSpPr/>
          <p:nvPr/>
        </p:nvSpPr>
        <p:spPr>
          <a:xfrm>
            <a:off x="484632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Queue</a:t>
            </a:r>
            <a:endParaRPr lang="en-US" sz="1400" dirty="0"/>
          </a:p>
        </p:txBody>
      </p:sp>
      <p:sp>
        <p:nvSpPr>
          <p:cNvPr id="25" name="Text 20"/>
          <p:cNvSpPr/>
          <p:nvPr/>
        </p:nvSpPr>
        <p:spPr>
          <a:xfrm>
            <a:off x="484632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Ekspertiz sıra yönetimi</a:t>
            </a:r>
            <a:endParaRPr lang="en-US" sz="1000" dirty="0"/>
          </a:p>
        </p:txBody>
      </p:sp>
      <p:sp>
        <p:nvSpPr>
          <p:cNvPr id="26" name="Shape 21"/>
          <p:cNvSpPr/>
          <p:nvPr/>
        </p:nvSpPr>
        <p:spPr>
          <a:xfrm>
            <a:off x="6903720" y="3337560"/>
            <a:ext cx="1920240" cy="1051560"/>
          </a:xfrm>
          <a:prstGeom prst="rect">
            <a:avLst/>
          </a:prstGeom>
          <a:solidFill>
            <a:srgbClr val="FFFFFF"/>
          </a:solidFill>
          <a:ln w="19050">
            <a:solidFill>
              <a:srgbClr val="E87722"/>
            </a:solidFill>
            <a:prstDash val="solid"/>
          </a:ln>
          <a:effectLst>
            <a:outerShdw blurRad="50800" dist="25400" dir="8100000" algn="bl" rotWithShape="0">
              <a:srgbClr val="000000">
                <a:alpha val="10000"/>
              </a:srgbClr>
            </a:outerShdw>
          </a:effectLst>
        </p:spPr>
        <p:txBody>
          <a:bodyPr/>
          <a:lstStyle/>
          <a:p>
            <a:endParaRPr lang="tr-TR"/>
          </a:p>
        </p:txBody>
      </p:sp>
      <p:sp>
        <p:nvSpPr>
          <p:cNvPr id="27" name="Text 22"/>
          <p:cNvSpPr/>
          <p:nvPr/>
        </p:nvSpPr>
        <p:spPr>
          <a:xfrm>
            <a:off x="6995160" y="3429000"/>
            <a:ext cx="1737360" cy="320040"/>
          </a:xfrm>
          <a:prstGeom prst="rect">
            <a:avLst/>
          </a:prstGeom>
          <a:noFill/>
          <a:ln/>
        </p:spPr>
        <p:txBody>
          <a:bodyPr wrap="square" lIns="0" tIns="0" rIns="0" bIns="0" rtlCol="0" anchor="ctr"/>
          <a:lstStyle/>
          <a:p>
            <a:pPr marL="0" indent="0" algn="ctr">
              <a:buNone/>
            </a:pPr>
            <a:r>
              <a:rPr lang="en-US" sz="1400" b="1" dirty="0">
                <a:solidFill>
                  <a:srgbClr val="E87722"/>
                </a:solidFill>
                <a:latin typeface="Trebuchet MS" pitchFamily="34" charset="0"/>
                <a:ea typeface="Trebuchet MS" pitchFamily="34" charset="-122"/>
                <a:cs typeface="Trebuchet MS" pitchFamily="34" charset="-120"/>
              </a:rPr>
              <a:t>Stack</a:t>
            </a:r>
            <a:endParaRPr lang="en-US" sz="1400" dirty="0"/>
          </a:p>
        </p:txBody>
      </p:sp>
      <p:sp>
        <p:nvSpPr>
          <p:cNvPr id="28" name="Text 23"/>
          <p:cNvSpPr/>
          <p:nvPr/>
        </p:nvSpPr>
        <p:spPr>
          <a:xfrm>
            <a:off x="6995160" y="3749040"/>
            <a:ext cx="1737360" cy="457200"/>
          </a:xfrm>
          <a:prstGeom prst="rect">
            <a:avLst/>
          </a:prstGeom>
          <a:noFill/>
          <a:ln/>
        </p:spPr>
        <p:txBody>
          <a:bodyPr wrap="square" lIns="0" tIns="0" rIns="0" bIns="0" rtlCol="0" anchor="ctr"/>
          <a:lstStyle/>
          <a:p>
            <a:pPr marL="0" indent="0" algn="ctr">
              <a:buNone/>
            </a:pPr>
            <a:r>
              <a:rPr lang="en-US" sz="1000" dirty="0">
                <a:solidFill>
                  <a:srgbClr val="666666"/>
                </a:solidFill>
                <a:latin typeface="Calibri" pitchFamily="34" charset="0"/>
                <a:ea typeface="Calibri" pitchFamily="34" charset="-122"/>
                <a:cs typeface="Calibri" pitchFamily="34" charset="-120"/>
              </a:rPr>
              <a:t>Geri alma işlemleri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Modüller ve Sorumluluklar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8" name="Shape 5"/>
          <p:cNvSpPr/>
          <p:nvPr/>
        </p:nvSpPr>
        <p:spPr>
          <a:xfrm>
            <a:off x="457200" y="960120"/>
            <a:ext cx="54864" cy="1737360"/>
          </a:xfrm>
          <a:prstGeom prst="rect">
            <a:avLst/>
          </a:prstGeom>
          <a:solidFill>
            <a:srgbClr val="E87722"/>
          </a:solidFill>
          <a:ln/>
        </p:spPr>
        <p:txBody>
          <a:bodyPr/>
          <a:lstStyle/>
          <a:p>
            <a:endParaRPr lang="tr-TR"/>
          </a:p>
        </p:txBody>
      </p:sp>
      <p:sp>
        <p:nvSpPr>
          <p:cNvPr id="9" name="Shape 6"/>
          <p:cNvSpPr/>
          <p:nvPr/>
        </p:nvSpPr>
        <p:spPr>
          <a:xfrm>
            <a:off x="685800" y="1188720"/>
            <a:ext cx="548640" cy="548640"/>
          </a:xfrm>
          <a:prstGeom prst="ellipse">
            <a:avLst/>
          </a:prstGeom>
          <a:solidFill>
            <a:srgbClr val="E87722"/>
          </a:solidFill>
          <a:ln/>
        </p:spPr>
        <p:txBody>
          <a:bodyPr/>
          <a:lstStyle/>
          <a:p>
            <a:endParaRPr lang="tr-TR"/>
          </a:p>
        </p:txBody>
      </p:sp>
      <p:pic>
        <p:nvPicPr>
          <p:cNvPr id="10" name="Image 1" descr="preencoded.png"/>
          <p:cNvPicPr>
            <a:picLocks noChangeAspect="1"/>
          </p:cNvPicPr>
          <p:nvPr/>
        </p:nvPicPr>
        <p:blipFill>
          <a:blip r:embed="rId4"/>
          <a:stretch>
            <a:fillRect/>
          </a:stretch>
        </p:blipFill>
        <p:spPr>
          <a:xfrm>
            <a:off x="754380" y="1257300"/>
            <a:ext cx="411480" cy="411480"/>
          </a:xfrm>
          <a:prstGeom prst="rect">
            <a:avLst/>
          </a:prstGeom>
        </p:spPr>
      </p:pic>
      <p:sp>
        <p:nvSpPr>
          <p:cNvPr id="11" name="Text 7"/>
          <p:cNvSpPr/>
          <p:nvPr/>
        </p:nvSpPr>
        <p:spPr>
          <a:xfrm>
            <a:off x="137160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Araç UI + Menüler</a:t>
            </a:r>
            <a:endParaRPr lang="en-US" sz="1400" dirty="0"/>
          </a:p>
        </p:txBody>
      </p:sp>
      <p:sp>
        <p:nvSpPr>
          <p:cNvPr id="12" name="Text 8"/>
          <p:cNvSpPr/>
          <p:nvPr/>
        </p:nvSpPr>
        <p:spPr>
          <a:xfrm>
            <a:off x="137160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Zeki Erman</a:t>
            </a:r>
          </a:p>
          <a:p>
            <a:pPr marL="0" indent="0">
              <a:buNone/>
            </a:pPr>
            <a:r>
              <a:rPr lang="en-US" sz="800" dirty="0">
                <a:solidFill>
                  <a:srgbClr val="888888"/>
                </a:solidFill>
                <a:latin typeface="Calibri" pitchFamily="34" charset="0"/>
                <a:ea typeface="Calibri" pitchFamily="34" charset="-122"/>
                <a:cs typeface="Calibri" pitchFamily="34" charset="-120"/>
              </a:rPr>
              <a:t>FRONTEND+BE </a:t>
            </a:r>
          </a:p>
        </p:txBody>
      </p:sp>
      <p:sp>
        <p:nvSpPr>
          <p:cNvPr id="13" name="Shape 9"/>
          <p:cNvSpPr/>
          <p:nvPr/>
        </p:nvSpPr>
        <p:spPr>
          <a:xfrm>
            <a:off x="329184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4" name="Shape 10"/>
          <p:cNvSpPr/>
          <p:nvPr/>
        </p:nvSpPr>
        <p:spPr>
          <a:xfrm>
            <a:off x="3291840" y="960120"/>
            <a:ext cx="54864" cy="1737360"/>
          </a:xfrm>
          <a:prstGeom prst="rect">
            <a:avLst/>
          </a:prstGeom>
          <a:solidFill>
            <a:srgbClr val="2E86AB"/>
          </a:solidFill>
          <a:ln/>
        </p:spPr>
        <p:txBody>
          <a:bodyPr/>
          <a:lstStyle/>
          <a:p>
            <a:endParaRPr lang="tr-TR"/>
          </a:p>
        </p:txBody>
      </p:sp>
      <p:sp>
        <p:nvSpPr>
          <p:cNvPr id="15" name="Shape 11"/>
          <p:cNvSpPr/>
          <p:nvPr/>
        </p:nvSpPr>
        <p:spPr>
          <a:xfrm>
            <a:off x="3520440" y="1188720"/>
            <a:ext cx="548640" cy="548640"/>
          </a:xfrm>
          <a:prstGeom prst="ellipse">
            <a:avLst/>
          </a:prstGeom>
          <a:solidFill>
            <a:srgbClr val="2E86AB"/>
          </a:solidFill>
          <a:ln/>
        </p:spPr>
        <p:txBody>
          <a:bodyPr/>
          <a:lstStyle/>
          <a:p>
            <a:endParaRPr lang="tr-TR"/>
          </a:p>
        </p:txBody>
      </p:sp>
      <p:pic>
        <p:nvPicPr>
          <p:cNvPr id="16" name="Image 2" descr="preencoded.png"/>
          <p:cNvPicPr>
            <a:picLocks noChangeAspect="1"/>
          </p:cNvPicPr>
          <p:nvPr/>
        </p:nvPicPr>
        <p:blipFill>
          <a:blip r:embed="rId5"/>
          <a:stretch>
            <a:fillRect/>
          </a:stretch>
        </p:blipFill>
        <p:spPr>
          <a:xfrm>
            <a:off x="3589020" y="1257300"/>
            <a:ext cx="411480" cy="411480"/>
          </a:xfrm>
          <a:prstGeom prst="rect">
            <a:avLst/>
          </a:prstGeom>
        </p:spPr>
      </p:pic>
      <p:sp>
        <p:nvSpPr>
          <p:cNvPr id="17" name="Text 12"/>
          <p:cNvSpPr/>
          <p:nvPr/>
        </p:nvSpPr>
        <p:spPr>
          <a:xfrm>
            <a:off x="420624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Müşteri UI + Menüler</a:t>
            </a:r>
            <a:endParaRPr lang="en-US" sz="1400" dirty="0"/>
          </a:p>
        </p:txBody>
      </p:sp>
      <p:sp>
        <p:nvSpPr>
          <p:cNvPr id="18" name="Text 13"/>
          <p:cNvSpPr/>
          <p:nvPr/>
        </p:nvSpPr>
        <p:spPr>
          <a:xfrm>
            <a:off x="420624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Orhan Akman</a:t>
            </a:r>
          </a:p>
          <a:p>
            <a:pPr marL="0" indent="0">
              <a:buNone/>
            </a:pPr>
            <a:r>
              <a:rPr lang="en-US" sz="800" dirty="0">
                <a:solidFill>
                  <a:srgbClr val="888888"/>
                </a:solidFill>
                <a:latin typeface="Calibri" pitchFamily="34" charset="0"/>
                <a:ea typeface="Calibri" pitchFamily="34" charset="-122"/>
                <a:cs typeface="Calibri" pitchFamily="34" charset="-120"/>
              </a:rPr>
              <a:t>FRONTEND+BE </a:t>
            </a:r>
          </a:p>
        </p:txBody>
      </p:sp>
      <p:sp>
        <p:nvSpPr>
          <p:cNvPr id="19" name="Shape 14"/>
          <p:cNvSpPr/>
          <p:nvPr/>
        </p:nvSpPr>
        <p:spPr>
          <a:xfrm>
            <a:off x="6126480" y="96012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dirty="0"/>
          </a:p>
        </p:txBody>
      </p:sp>
      <p:sp>
        <p:nvSpPr>
          <p:cNvPr id="20" name="Shape 15"/>
          <p:cNvSpPr/>
          <p:nvPr/>
        </p:nvSpPr>
        <p:spPr>
          <a:xfrm>
            <a:off x="6126480" y="960120"/>
            <a:ext cx="54864" cy="1737360"/>
          </a:xfrm>
          <a:prstGeom prst="rect">
            <a:avLst/>
          </a:prstGeom>
          <a:solidFill>
            <a:srgbClr val="A23B72"/>
          </a:solidFill>
          <a:ln/>
        </p:spPr>
        <p:txBody>
          <a:bodyPr/>
          <a:lstStyle/>
          <a:p>
            <a:endParaRPr lang="tr-TR"/>
          </a:p>
        </p:txBody>
      </p:sp>
      <p:sp>
        <p:nvSpPr>
          <p:cNvPr id="21" name="Shape 16"/>
          <p:cNvSpPr/>
          <p:nvPr/>
        </p:nvSpPr>
        <p:spPr>
          <a:xfrm>
            <a:off x="6355080" y="1188720"/>
            <a:ext cx="548640" cy="548640"/>
          </a:xfrm>
          <a:prstGeom prst="ellipse">
            <a:avLst/>
          </a:prstGeom>
          <a:solidFill>
            <a:srgbClr val="A23B72"/>
          </a:solidFill>
          <a:ln/>
        </p:spPr>
        <p:txBody>
          <a:bodyPr/>
          <a:lstStyle/>
          <a:p>
            <a:endParaRPr lang="tr-TR"/>
          </a:p>
        </p:txBody>
      </p:sp>
      <p:pic>
        <p:nvPicPr>
          <p:cNvPr id="22" name="Image 3" descr="preencoded.png"/>
          <p:cNvPicPr>
            <a:picLocks noChangeAspect="1"/>
          </p:cNvPicPr>
          <p:nvPr/>
        </p:nvPicPr>
        <p:blipFill>
          <a:blip r:embed="rId6"/>
          <a:stretch>
            <a:fillRect/>
          </a:stretch>
        </p:blipFill>
        <p:spPr>
          <a:xfrm>
            <a:off x="6423660" y="1257300"/>
            <a:ext cx="411480" cy="411480"/>
          </a:xfrm>
          <a:prstGeom prst="rect">
            <a:avLst/>
          </a:prstGeom>
        </p:spPr>
      </p:pic>
      <p:sp>
        <p:nvSpPr>
          <p:cNvPr id="23" name="Text 17"/>
          <p:cNvSpPr/>
          <p:nvPr/>
        </p:nvSpPr>
        <p:spPr>
          <a:xfrm>
            <a:off x="7040880" y="114300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Satış Modülü</a:t>
            </a:r>
            <a:endParaRPr lang="en-US" sz="1400" dirty="0"/>
          </a:p>
        </p:txBody>
      </p:sp>
      <p:sp>
        <p:nvSpPr>
          <p:cNvPr id="24" name="Text 18"/>
          <p:cNvSpPr/>
          <p:nvPr/>
        </p:nvSpPr>
        <p:spPr>
          <a:xfrm>
            <a:off x="7040880" y="150876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Emre Kuzal</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25" name="Shape 19"/>
          <p:cNvSpPr/>
          <p:nvPr/>
        </p:nvSpPr>
        <p:spPr>
          <a:xfrm>
            <a:off x="45720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6" name="Shape 20"/>
          <p:cNvSpPr/>
          <p:nvPr/>
        </p:nvSpPr>
        <p:spPr>
          <a:xfrm>
            <a:off x="457200" y="2926080"/>
            <a:ext cx="54864" cy="1737360"/>
          </a:xfrm>
          <a:prstGeom prst="rect">
            <a:avLst/>
          </a:prstGeom>
          <a:solidFill>
            <a:srgbClr val="2D936C"/>
          </a:solidFill>
          <a:ln/>
        </p:spPr>
        <p:txBody>
          <a:bodyPr/>
          <a:lstStyle/>
          <a:p>
            <a:endParaRPr lang="tr-TR"/>
          </a:p>
        </p:txBody>
      </p:sp>
      <p:sp>
        <p:nvSpPr>
          <p:cNvPr id="27" name="Shape 21"/>
          <p:cNvSpPr/>
          <p:nvPr/>
        </p:nvSpPr>
        <p:spPr>
          <a:xfrm>
            <a:off x="685800" y="3154680"/>
            <a:ext cx="548640" cy="548640"/>
          </a:xfrm>
          <a:prstGeom prst="ellipse">
            <a:avLst/>
          </a:prstGeom>
          <a:solidFill>
            <a:srgbClr val="2D936C"/>
          </a:solidFill>
          <a:ln/>
        </p:spPr>
        <p:txBody>
          <a:bodyPr/>
          <a:lstStyle/>
          <a:p>
            <a:endParaRPr lang="tr-TR"/>
          </a:p>
        </p:txBody>
      </p:sp>
      <p:pic>
        <p:nvPicPr>
          <p:cNvPr id="28" name="Image 4" descr="preencoded.png"/>
          <p:cNvPicPr>
            <a:picLocks noChangeAspect="1"/>
          </p:cNvPicPr>
          <p:nvPr/>
        </p:nvPicPr>
        <p:blipFill>
          <a:blip r:embed="rId7"/>
          <a:stretch>
            <a:fillRect/>
          </a:stretch>
        </p:blipFill>
        <p:spPr>
          <a:xfrm>
            <a:off x="754380" y="3223260"/>
            <a:ext cx="411480" cy="411480"/>
          </a:xfrm>
          <a:prstGeom prst="rect">
            <a:avLst/>
          </a:prstGeom>
        </p:spPr>
      </p:pic>
      <p:sp>
        <p:nvSpPr>
          <p:cNvPr id="29" name="Text 22"/>
          <p:cNvSpPr/>
          <p:nvPr/>
        </p:nvSpPr>
        <p:spPr>
          <a:xfrm>
            <a:off x="137160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Ekspertiz Modülü</a:t>
            </a:r>
            <a:endParaRPr lang="en-US" sz="1400" dirty="0"/>
          </a:p>
        </p:txBody>
      </p:sp>
      <p:sp>
        <p:nvSpPr>
          <p:cNvPr id="30" name="Text 23"/>
          <p:cNvSpPr/>
          <p:nvPr/>
        </p:nvSpPr>
        <p:spPr>
          <a:xfrm>
            <a:off x="137160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Osman Berat Paşa</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31" name="Shape 24"/>
          <p:cNvSpPr/>
          <p:nvPr/>
        </p:nvSpPr>
        <p:spPr>
          <a:xfrm>
            <a:off x="329184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2" name="Shape 25"/>
          <p:cNvSpPr/>
          <p:nvPr/>
        </p:nvSpPr>
        <p:spPr>
          <a:xfrm>
            <a:off x="3291840" y="2926080"/>
            <a:ext cx="54864" cy="1737360"/>
          </a:xfrm>
          <a:prstGeom prst="rect">
            <a:avLst/>
          </a:prstGeom>
          <a:solidFill>
            <a:srgbClr val="564787"/>
          </a:solidFill>
          <a:ln/>
        </p:spPr>
        <p:txBody>
          <a:bodyPr/>
          <a:lstStyle/>
          <a:p>
            <a:endParaRPr lang="tr-TR"/>
          </a:p>
        </p:txBody>
      </p:sp>
      <p:sp>
        <p:nvSpPr>
          <p:cNvPr id="33" name="Shape 26"/>
          <p:cNvSpPr/>
          <p:nvPr/>
        </p:nvSpPr>
        <p:spPr>
          <a:xfrm>
            <a:off x="3520440" y="3154680"/>
            <a:ext cx="548640" cy="548640"/>
          </a:xfrm>
          <a:prstGeom prst="ellipse">
            <a:avLst/>
          </a:prstGeom>
          <a:solidFill>
            <a:srgbClr val="564787"/>
          </a:solidFill>
          <a:ln/>
        </p:spPr>
        <p:txBody>
          <a:bodyPr/>
          <a:lstStyle/>
          <a:p>
            <a:endParaRPr lang="tr-TR"/>
          </a:p>
        </p:txBody>
      </p:sp>
      <p:pic>
        <p:nvPicPr>
          <p:cNvPr id="34" name="Image 5" descr="preencoded.png"/>
          <p:cNvPicPr>
            <a:picLocks noChangeAspect="1"/>
          </p:cNvPicPr>
          <p:nvPr/>
        </p:nvPicPr>
        <p:blipFill>
          <a:blip r:embed="rId8"/>
          <a:stretch>
            <a:fillRect/>
          </a:stretch>
        </p:blipFill>
        <p:spPr>
          <a:xfrm>
            <a:off x="3589020" y="3223260"/>
            <a:ext cx="411480" cy="411480"/>
          </a:xfrm>
          <a:prstGeom prst="rect">
            <a:avLst/>
          </a:prstGeom>
        </p:spPr>
      </p:pic>
      <p:sp>
        <p:nvSpPr>
          <p:cNvPr id="35" name="Text 27"/>
          <p:cNvSpPr/>
          <p:nvPr/>
        </p:nvSpPr>
        <p:spPr>
          <a:xfrm>
            <a:off x="420624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Bildirim Modülü</a:t>
            </a:r>
            <a:endParaRPr lang="en-US" sz="1400" dirty="0"/>
          </a:p>
        </p:txBody>
      </p:sp>
      <p:sp>
        <p:nvSpPr>
          <p:cNvPr id="36" name="Text 28"/>
          <p:cNvSpPr/>
          <p:nvPr/>
        </p:nvSpPr>
        <p:spPr>
          <a:xfrm>
            <a:off x="420624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Halil İbrahim Dinç</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
        <p:nvSpPr>
          <p:cNvPr id="37" name="Shape 29"/>
          <p:cNvSpPr/>
          <p:nvPr/>
        </p:nvSpPr>
        <p:spPr>
          <a:xfrm>
            <a:off x="6126480" y="2926080"/>
            <a:ext cx="2606040" cy="17373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8" name="Shape 30"/>
          <p:cNvSpPr/>
          <p:nvPr/>
        </p:nvSpPr>
        <p:spPr>
          <a:xfrm>
            <a:off x="6126480" y="2926080"/>
            <a:ext cx="54864" cy="1737360"/>
          </a:xfrm>
          <a:prstGeom prst="rect">
            <a:avLst/>
          </a:prstGeom>
          <a:solidFill>
            <a:srgbClr val="C44536"/>
          </a:solidFill>
          <a:ln/>
        </p:spPr>
        <p:txBody>
          <a:bodyPr/>
          <a:lstStyle/>
          <a:p>
            <a:endParaRPr lang="tr-TR"/>
          </a:p>
        </p:txBody>
      </p:sp>
      <p:sp>
        <p:nvSpPr>
          <p:cNvPr id="39" name="Shape 31"/>
          <p:cNvSpPr/>
          <p:nvPr/>
        </p:nvSpPr>
        <p:spPr>
          <a:xfrm>
            <a:off x="6355080" y="3154680"/>
            <a:ext cx="548640" cy="548640"/>
          </a:xfrm>
          <a:prstGeom prst="ellipse">
            <a:avLst/>
          </a:prstGeom>
          <a:solidFill>
            <a:srgbClr val="C44536"/>
          </a:solidFill>
          <a:ln/>
        </p:spPr>
        <p:txBody>
          <a:bodyPr/>
          <a:lstStyle/>
          <a:p>
            <a:endParaRPr lang="tr-TR"/>
          </a:p>
        </p:txBody>
      </p:sp>
      <p:pic>
        <p:nvPicPr>
          <p:cNvPr id="40" name="Image 6" descr="preencoded.png"/>
          <p:cNvPicPr>
            <a:picLocks noChangeAspect="1"/>
          </p:cNvPicPr>
          <p:nvPr/>
        </p:nvPicPr>
        <p:blipFill>
          <a:blip r:embed="rId9"/>
          <a:stretch>
            <a:fillRect/>
          </a:stretch>
        </p:blipFill>
        <p:spPr>
          <a:xfrm>
            <a:off x="6423660" y="3223260"/>
            <a:ext cx="411480" cy="411480"/>
          </a:xfrm>
          <a:prstGeom prst="rect">
            <a:avLst/>
          </a:prstGeom>
        </p:spPr>
      </p:pic>
      <p:sp>
        <p:nvSpPr>
          <p:cNvPr id="41" name="Text 32"/>
          <p:cNvSpPr/>
          <p:nvPr/>
        </p:nvSpPr>
        <p:spPr>
          <a:xfrm>
            <a:off x="7040880" y="3108960"/>
            <a:ext cx="1554480" cy="365760"/>
          </a:xfrm>
          <a:prstGeom prst="rect">
            <a:avLst/>
          </a:prstGeom>
          <a:noFill/>
          <a:ln/>
        </p:spPr>
        <p:txBody>
          <a:bodyPr wrap="square" lIns="0" tIns="0" rIns="0" bIns="0" rtlCol="0" anchor="ctr"/>
          <a:lstStyle/>
          <a:p>
            <a:pPr marL="0" indent="0">
              <a:buNone/>
            </a:pPr>
            <a:r>
              <a:rPr lang="en-US" sz="1400" b="1" dirty="0">
                <a:solidFill>
                  <a:srgbClr val="2D2D2D"/>
                </a:solidFill>
                <a:latin typeface="Trebuchet MS" pitchFamily="34" charset="0"/>
                <a:ea typeface="Trebuchet MS" pitchFamily="34" charset="-122"/>
                <a:cs typeface="Trebuchet MS" pitchFamily="34" charset="-120"/>
              </a:rPr>
              <a:t>Veri Yönetimi</a:t>
            </a:r>
            <a:endParaRPr lang="en-US" sz="1400" dirty="0"/>
          </a:p>
        </p:txBody>
      </p:sp>
      <p:sp>
        <p:nvSpPr>
          <p:cNvPr id="42" name="Text 33"/>
          <p:cNvSpPr/>
          <p:nvPr/>
        </p:nvSpPr>
        <p:spPr>
          <a:xfrm>
            <a:off x="7040880" y="3474720"/>
            <a:ext cx="1554480" cy="274320"/>
          </a:xfrm>
          <a:prstGeom prst="rect">
            <a:avLst/>
          </a:prstGeom>
          <a:noFill/>
          <a:ln/>
        </p:spPr>
        <p:txBody>
          <a:bodyPr wrap="square" lIns="0" tIns="0" rIns="0" bIns="0" rtlCol="0" anchor="ctr"/>
          <a:lstStyle/>
          <a:p>
            <a:pPr marL="0" indent="0">
              <a:buNone/>
            </a:pPr>
            <a:r>
              <a:rPr lang="en-US" sz="1050" b="1" dirty="0">
                <a:solidFill>
                  <a:srgbClr val="444444"/>
                </a:solidFill>
                <a:latin typeface="Calibri" pitchFamily="34" charset="0"/>
                <a:ea typeface="Calibri" pitchFamily="34" charset="-122"/>
                <a:cs typeface="Calibri" pitchFamily="34" charset="-120"/>
              </a:rPr>
              <a:t>Eray Gök</a:t>
            </a:r>
          </a:p>
          <a:p>
            <a:pPr marL="0" indent="0">
              <a:buNone/>
            </a:pPr>
            <a:r>
              <a:rPr lang="en-US" sz="800" dirty="0">
                <a:solidFill>
                  <a:srgbClr val="888888"/>
                </a:solidFill>
                <a:latin typeface="Calibri" pitchFamily="34" charset="0"/>
                <a:ea typeface="Calibri" pitchFamily="34" charset="-122"/>
                <a:cs typeface="Calibri" pitchFamily="34" charset="-120"/>
              </a:rPr>
              <a:t>BACKEND </a:t>
            </a:r>
          </a:p>
        </p:txBody>
      </p:sp>
    </p:spTree>
    <p:extLst>
      <p:ext uri="{BB962C8B-B14F-4D97-AF65-F5344CB8AC3E}">
        <p14:creationId xmlns:p14="http://schemas.microsoft.com/office/powerpoint/2010/main" val="3543156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Zeki Erman — Araç UI + Menüler</a:t>
            </a:r>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ent"/>
          <p:cNvSpPr>
            <a:spLocks noTextEdit="1"/>
          </p:cNvSpPr>
          <p:nvPr/>
        </p:nvSpPr>
        <p:spPr>
          <a:xfrm>
            <a:off x="457200" y="863600"/>
            <a:ext cx="50800" cy="3733800"/>
          </a:xfrm>
          <a:prstGeom prst="rect">
            <a:avLst/>
          </a:prstGeom>
          <a:solidFill>
            <a:srgbClr val="E8570A"/>
          </a:solidFill>
          <a:ln>
            <a:noFill/>
          </a:ln>
        </p:spPr>
        <p:txBody>
          <a:bodyPr/>
          <a:lstStyle/>
          <a:p>
            <a:endParaRPr/>
          </a:p>
        </p:txBody>
      </p:sp>
      <p:sp>
        <p:nvSpPr>
          <p:cNvPr id="11" name="CardBg"/>
          <p:cNvSpPr>
            <a:spLocks noTextEdit="1"/>
          </p:cNvSpPr>
          <p:nvPr/>
        </p:nvSpPr>
        <p:spPr>
          <a:xfrm>
            <a:off x="609600" y="863600"/>
            <a:ext cx="2413000" cy="3733800"/>
          </a:xfrm>
          <a:prstGeom prst="rect">
            <a:avLst/>
          </a:prstGeom>
          <a:solidFill>
            <a:srgbClr val="FFF8F4"/>
          </a:solidFill>
          <a:ln>
            <a:noFill/>
          </a:ln>
        </p:spPr>
        <p:txBody>
          <a:bodyPr/>
          <a:lstStyle/>
          <a:p>
            <a:endParaRPr/>
          </a:p>
        </p:txBody>
      </p:sp>
      <p:sp>
        <p:nvSpPr>
          <p:cNvPr id="12" name="PersonName"/>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Zeki Erman</a:t>
            </a:r>
          </a:p>
        </p:txBody>
      </p:sp>
      <p:sp>
        <p:nvSpPr>
          <p:cNvPr id="13" name="Role"/>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E8570A"/>
                </a:solidFill>
                <a:latin typeface="Calibri"/>
              </a:rPr>
              <a:t>FRONTEND + BACKEND</a:t>
            </a:r>
          </a:p>
        </p:txBody>
      </p:sp>
      <p:sp>
        <p:nvSpPr>
          <p:cNvPr id="14" name="Branch"/>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feature/arac-ui</a:t>
            </a:r>
          </a:p>
        </p:txBody>
      </p:sp>
      <p:sp>
        <p:nvSpPr>
          <p:cNvPr id="15" name="Di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BranchLabe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lass"/>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Arac (abstract)</a:t>
            </a:r>
          </a:p>
        </p:txBody>
      </p:sp>
      <p:sp>
        <p:nvSpPr>
          <p:cNvPr id="209" name="Class"/>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Otomobil, SUV, Ticari, Motosiklet</a:t>
            </a:r>
          </a:p>
        </p:txBody>
      </p:sp>
      <p:sp>
        <p:nvSpPr>
          <p:cNvPr id="227" name="Class"/>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GaleriUygulamasi.java (main)</a:t>
            </a:r>
          </a:p>
        </p:txBody>
      </p:sp>
      <p:sp>
        <p:nvSpPr>
          <p:cNvPr id="245" name="Class"/>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AracMenusu.java</a:t>
            </a:r>
          </a:p>
        </p:txBody>
      </p:sp>
      <p:sp>
        <p:nvSpPr>
          <p:cNvPr id="263" name="Class"/>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EkspertizMenusu.java</a:t>
            </a:r>
          </a:p>
        </p:txBody>
      </p:sp>
      <p:sp>
        <p:nvSpPr>
          <p:cNvPr id="281" name="Class"/>
          <p:cNvSpPr txBox="1"/>
          <p:nvPr/>
        </p:nvSpPr>
        <p:spPr>
          <a:xfrm>
            <a:off x="698500" y="3314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RaporMenusu.java</a:t>
            </a:r>
          </a:p>
        </p:txBody>
      </p:sp>
      <p:sp>
        <p:nvSpPr>
          <p:cNvPr id="50" name="RightBg"/>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ecBar1"/>
          <p:cNvSpPr>
            <a:spLocks noTextEdit="1"/>
          </p:cNvSpPr>
          <p:nvPr/>
        </p:nvSpPr>
        <p:spPr>
          <a:xfrm>
            <a:off x="3175000" y="863600"/>
            <a:ext cx="5359400" cy="304800"/>
          </a:xfrm>
          <a:prstGeom prst="rect">
            <a:avLst/>
          </a:prstGeom>
          <a:solidFill>
            <a:srgbClr val="E8570A"/>
          </a:solidFill>
          <a:ln>
            <a:noFill/>
          </a:ln>
        </p:spPr>
        <p:txBody>
          <a:bodyPr/>
          <a:lstStyle/>
          <a:p>
            <a:endParaRPr/>
          </a:p>
        </p:txBody>
      </p:sp>
      <p:sp>
        <p:nvSpPr>
          <p:cNvPr id="52" name="SecTitle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esc"/>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Araç sınıf </a:t>
            </a:r>
            <a:r>
              <a:rPr lang="en-US" sz="1150" dirty="0" err="1">
                <a:solidFill>
                  <a:srgbClr val="333333"/>
                </a:solidFill>
                <a:latin typeface="Calibri"/>
              </a:rPr>
              <a:t>hiyerarşisini</a:t>
            </a:r>
            <a:r>
              <a:rPr lang="en-US" sz="1150" dirty="0">
                <a:solidFill>
                  <a:srgbClr val="333333"/>
                </a:solidFill>
                <a:latin typeface="Calibri"/>
              </a:rPr>
              <a:t> </a:t>
            </a:r>
            <a:r>
              <a:rPr lang="en-US" sz="1150" dirty="0" err="1">
                <a:solidFill>
                  <a:srgbClr val="333333"/>
                </a:solidFill>
                <a:latin typeface="Calibri"/>
              </a:rPr>
              <a:t>ve</a:t>
            </a:r>
            <a:r>
              <a:rPr lang="en-US" sz="1150" dirty="0">
                <a:solidFill>
                  <a:srgbClr val="333333"/>
                </a:solidFill>
                <a:latin typeface="Calibri"/>
              </a:rPr>
              <a:t> tüm UI menü sınıflarını tasarlar, geliştirir ve test eder. Uygulamanın giriş noktası olan GaleriUygulamasi main metodunu da yönetir.</a:t>
            </a:r>
          </a:p>
        </p:txBody>
      </p:sp>
      <p:sp>
        <p:nvSpPr>
          <p:cNvPr id="54" name="SecBar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SecTitle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ask"/>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 enum'lar, abstract Arac, concrete sınıflar, override metotlar</a:t>
            </a:r>
          </a:p>
        </p:txBody>
      </p:sp>
      <p:sp>
        <p:nvSpPr>
          <p:cNvPr id="252" name="Task"/>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 AracMenusu — ekle / listele / ara / sil / güncelle</a:t>
            </a:r>
          </a:p>
        </p:txBody>
      </p:sp>
      <p:sp>
        <p:nvSpPr>
          <p:cNvPr id="274" name="Task"/>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EkspertizMenusu</a:t>
            </a:r>
            <a:r>
              <a:rPr lang="en-US" sz="1050" dirty="0">
                <a:solidFill>
                  <a:srgbClr val="333333"/>
                </a:solidFill>
                <a:latin typeface="Calibri"/>
              </a:rPr>
              <a:t>, develop → main v0.1 merge</a:t>
            </a:r>
          </a:p>
        </p:txBody>
      </p:sp>
      <p:sp>
        <p:nvSpPr>
          <p:cNvPr id="296" name="Task"/>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RaporMenusu</a:t>
            </a:r>
            <a:r>
              <a:rPr lang="en-US" sz="1050" dirty="0">
                <a:solidFill>
                  <a:srgbClr val="333333"/>
                </a:solidFill>
                <a:latin typeface="Calibri"/>
              </a:rPr>
              <a:t> — gelir-gider, stok, marka istatistik</a:t>
            </a:r>
          </a:p>
        </p:txBody>
      </p:sp>
      <p:sp>
        <p:nvSpPr>
          <p:cNvPr id="318" name="Task"/>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GaleriUygulamasi</a:t>
            </a:r>
            <a:r>
              <a:rPr lang="en-US" sz="1050" dirty="0">
                <a:solidFill>
                  <a:srgbClr val="333333"/>
                </a:solidFill>
                <a:latin typeface="Calibri"/>
              </a:rPr>
              <a:t> Singleton başlat + menü bağlantısı, v0.2</a:t>
            </a:r>
          </a:p>
        </p:txBody>
      </p:sp>
      <p:sp>
        <p:nvSpPr>
          <p:cNvPr id="340" name="Task"/>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Menüler</a:t>
            </a:r>
            <a:r>
              <a:rPr lang="en-US" sz="1050" dirty="0">
                <a:solidFill>
                  <a:srgbClr val="333333"/>
                </a:solidFill>
                <a:latin typeface="Calibri"/>
              </a:rPr>
              <a:t> ↔ Yönetim sınıfları entegrasyonu</a:t>
            </a:r>
          </a:p>
        </p:txBody>
      </p:sp>
      <p:sp>
        <p:nvSpPr>
          <p:cNvPr id="80" name="SecBar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SecTitle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ogic"/>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Polimorfizm: Arac dizisindeki her nesne kendi toString / hesapla metotlarını çalıştırır. Abstract sınıf ortak alanları zorlar; menü katmanı kullanıcı girdisini backend sınıflarına iletir.</a:t>
            </a:r>
          </a:p>
        </p:txBody>
      </p:sp>
    </p:spTree>
    <p:extLst>
      <p:ext uri="{BB962C8B-B14F-4D97-AF65-F5344CB8AC3E}">
        <p14:creationId xmlns:p14="http://schemas.microsoft.com/office/powerpoint/2010/main" val="3171871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chemeClr val="accent1"/>
          </a:solidFill>
          <a:ln>
            <a:solidFill>
              <a:schemeClr val="accent1"/>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Orhan Akman — Müşteri UI + Menüler</a:t>
            </a:r>
          </a:p>
        </p:txBody>
      </p:sp>
      <p:sp>
        <p:nvSpPr>
          <p:cNvPr id="5" name="Shape 2"/>
          <p:cNvSpPr/>
          <p:nvPr/>
        </p:nvSpPr>
        <p:spPr>
          <a:xfrm>
            <a:off x="457200" y="731520"/>
            <a:ext cx="8229600" cy="18288"/>
          </a:xfrm>
          <a:prstGeom prst="rect">
            <a:avLst/>
          </a:prstGeom>
          <a:solidFill>
            <a:schemeClr val="accent1"/>
          </a:solidFill>
          <a:ln>
            <a:solidFill>
              <a:schemeClr val="accent1"/>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ent"/>
          <p:cNvSpPr>
            <a:spLocks noTextEdit="1"/>
          </p:cNvSpPr>
          <p:nvPr/>
        </p:nvSpPr>
        <p:spPr>
          <a:xfrm>
            <a:off x="457200" y="863600"/>
            <a:ext cx="50800" cy="3733800"/>
          </a:xfrm>
          <a:prstGeom prst="rect">
            <a:avLst/>
          </a:prstGeom>
          <a:solidFill>
            <a:schemeClr val="accent1"/>
          </a:solidFill>
          <a:ln>
            <a:solidFill>
              <a:schemeClr val="accent1"/>
            </a:solidFill>
          </a:ln>
        </p:spPr>
        <p:txBody>
          <a:bodyPr/>
          <a:lstStyle/>
          <a:p>
            <a:endParaRPr/>
          </a:p>
        </p:txBody>
      </p:sp>
      <p:sp>
        <p:nvSpPr>
          <p:cNvPr id="11" name="CardBg"/>
          <p:cNvSpPr>
            <a:spLocks noTextEdit="1"/>
          </p:cNvSpPr>
          <p:nvPr/>
        </p:nvSpPr>
        <p:spPr>
          <a:xfrm>
            <a:off x="609600" y="863600"/>
            <a:ext cx="2413000" cy="3733800"/>
          </a:xfrm>
          <a:prstGeom prst="rect">
            <a:avLst/>
          </a:prstGeom>
          <a:solidFill>
            <a:schemeClr val="accent1">
              <a:lumMod val="20000"/>
              <a:lumOff val="80000"/>
            </a:schemeClr>
          </a:solidFill>
          <a:ln>
            <a:solidFill>
              <a:schemeClr val="accent1">
                <a:lumMod val="20000"/>
                <a:lumOff val="80000"/>
              </a:schemeClr>
            </a:solidFill>
          </a:ln>
        </p:spPr>
        <p:txBody>
          <a:bodyPr/>
          <a:lstStyle/>
          <a:p>
            <a:endParaRPr/>
          </a:p>
        </p:txBody>
      </p:sp>
      <p:sp>
        <p:nvSpPr>
          <p:cNvPr id="12" name="Name"/>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Orhan Akman</a:t>
            </a:r>
          </a:p>
        </p:txBody>
      </p:sp>
      <p:sp>
        <p:nvSpPr>
          <p:cNvPr id="13" name="Role"/>
          <p:cNvSpPr txBox="1"/>
          <p:nvPr/>
        </p:nvSpPr>
        <p:spPr>
          <a:xfrm>
            <a:off x="660400" y="1308100"/>
            <a:ext cx="2235200" cy="254000"/>
          </a:xfrm>
          <a:prstGeom prst="rect">
            <a:avLst/>
          </a:prstGeom>
          <a:noFill/>
          <a:ln>
            <a:noFill/>
          </a:ln>
        </p:spPr>
        <p:txBody>
          <a:bodyPr wrap="square" lIns="91440" tIns="45720" rIns="91440" bIns="45720"/>
          <a:lstStyle/>
          <a:p>
            <a:pPr>
              <a:buNone/>
            </a:pPr>
            <a:r>
              <a:rPr lang="en-US" sz="1200" dirty="0">
                <a:solidFill>
                  <a:schemeClr val="accent1"/>
                </a:solidFill>
                <a:latin typeface="Calibri"/>
              </a:rPr>
              <a:t>FRONTEND + BACKEND</a:t>
            </a:r>
          </a:p>
        </p:txBody>
      </p:sp>
      <p:sp>
        <p:nvSpPr>
          <p:cNvPr id="14" name="Branch"/>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feature/musteri-ui</a:t>
            </a:r>
          </a:p>
        </p:txBody>
      </p:sp>
      <p:sp>
        <p:nvSpPr>
          <p:cNvPr id="15" name="Di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assLb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Kisi (abstract)</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Musteri sinifi</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MusteriMenusu.java</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SatisMenusu.java</a:t>
            </a:r>
          </a:p>
        </p:txBody>
      </p:sp>
      <p:sp>
        <p:nvSpPr>
          <p:cNvPr id="263" name="C"/>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BildirimMenusu.java</a:t>
            </a:r>
          </a:p>
        </p:txBody>
      </p:sp>
      <p:sp>
        <p:nvSpPr>
          <p:cNvPr id="281" name="C"/>
          <p:cNvSpPr txBox="1"/>
          <p:nvPr/>
        </p:nvSpPr>
        <p:spPr>
          <a:xfrm>
            <a:off x="698500" y="3314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MenuYardimci.java</a:t>
            </a:r>
          </a:p>
        </p:txBody>
      </p:sp>
      <p:sp>
        <p:nvSpPr>
          <p:cNvPr id="50" name="RBg"/>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B1"/>
          <p:cNvSpPr>
            <a:spLocks noTextEdit="1"/>
          </p:cNvSpPr>
          <p:nvPr/>
        </p:nvSpPr>
        <p:spPr>
          <a:xfrm>
            <a:off x="3175000" y="863600"/>
            <a:ext cx="5359400" cy="304800"/>
          </a:xfrm>
          <a:prstGeom prst="rect">
            <a:avLst/>
          </a:prstGeom>
          <a:solidFill>
            <a:schemeClr val="accent1"/>
          </a:solidFill>
          <a:ln>
            <a:solidFill>
              <a:schemeClr val="accent1"/>
            </a:solidFill>
          </a:ln>
        </p:spPr>
        <p:txBody>
          <a:bodyPr/>
          <a:lstStyle/>
          <a:p>
            <a:endParaRPr/>
          </a:p>
        </p:txBody>
      </p:sp>
      <p:sp>
        <p:nvSpPr>
          <p:cNvPr id="52" name="S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esc"/>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Müşteri kayıt sistemini ve menü altyapısını kurar. Hem Müşteri hem de Satış ve Bildirim menülerini geliştirir; MenuYardimci yardımcı sınıfıyla tüm menülerin tutarlı girdi/çıktı biçimini sağlar.</a:t>
            </a:r>
          </a:p>
        </p:txBody>
      </p:sp>
      <p:sp>
        <p:nvSpPr>
          <p:cNvPr id="54" name="SB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S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Aranabilir</a:t>
            </a:r>
            <a:r>
              <a:rPr lang="en-US" sz="1050" dirty="0">
                <a:solidFill>
                  <a:srgbClr val="333333"/>
                </a:solidFill>
                <a:latin typeface="Calibri"/>
              </a:rPr>
              <a:t> / Karşılaştırılabilir interface, Kisi abstract, MenuYardimci</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Musteri</a:t>
            </a:r>
            <a:r>
              <a:rPr lang="en-US" sz="1050" dirty="0">
                <a:solidFill>
                  <a:srgbClr val="333333"/>
                </a:solidFill>
                <a:latin typeface="Calibri"/>
              </a:rPr>
              <a:t> sınıfı tamamla, PR → develop</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MusteriMenusu</a:t>
            </a:r>
            <a:r>
              <a:rPr lang="en-US" sz="1050" dirty="0">
                <a:solidFill>
                  <a:srgbClr val="333333"/>
                </a:solidFill>
                <a:latin typeface="Calibri"/>
              </a:rPr>
              <a:t> — kayıt, arama, ilgi listesi</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SatisMenusu.java, PR → develop</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BildirimMenusu</a:t>
            </a:r>
            <a:r>
              <a:rPr lang="en-US" sz="1050" dirty="0">
                <a:solidFill>
                  <a:srgbClr val="333333"/>
                </a:solidFill>
                <a:latin typeface="Calibri"/>
              </a:rPr>
              <a:t> — sigorta/muayene ekleme, uyarılar</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SatisMenusu</a:t>
            </a:r>
            <a:r>
              <a:rPr lang="en-US" sz="1050" dirty="0">
                <a:solidFill>
                  <a:srgbClr val="333333"/>
                </a:solidFill>
                <a:latin typeface="Calibri"/>
              </a:rPr>
              <a:t> kuyruk/fatura, hata mesajları, v0.2</a:t>
            </a:r>
          </a:p>
        </p:txBody>
      </p:sp>
      <p:sp>
        <p:nvSpPr>
          <p:cNvPr id="80" name="SB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S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og"/>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Aranabilir interface binary search ile isme göre arama sağlar; MenuYardimci scanner/validator merkezi yapısı tüm menülerde tekrar kullanılır. Satış menüsü kuyruğu FIFO sırasıyla işler.</a:t>
            </a:r>
          </a:p>
        </p:txBody>
      </p:sp>
    </p:spTree>
    <p:extLst>
      <p:ext uri="{BB962C8B-B14F-4D97-AF65-F5344CB8AC3E}">
        <p14:creationId xmlns:p14="http://schemas.microsoft.com/office/powerpoint/2010/main" val="974186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043BB"/>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Emre Kuzal — Satış Modülü</a:t>
            </a:r>
          </a:p>
        </p:txBody>
      </p:sp>
      <p:sp>
        <p:nvSpPr>
          <p:cNvPr id="5" name="Shape 2"/>
          <p:cNvSpPr/>
          <p:nvPr/>
        </p:nvSpPr>
        <p:spPr>
          <a:xfrm>
            <a:off x="457200" y="731520"/>
            <a:ext cx="8229600" cy="18288"/>
          </a:xfrm>
          <a:prstGeom prst="rect">
            <a:avLst/>
          </a:prstGeom>
          <a:solidFill>
            <a:srgbClr val="B043BB"/>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
          <p:cNvSpPr>
            <a:spLocks noTextEdit="1"/>
          </p:cNvSpPr>
          <p:nvPr/>
        </p:nvSpPr>
        <p:spPr>
          <a:xfrm>
            <a:off x="457200" y="863600"/>
            <a:ext cx="50800" cy="3733800"/>
          </a:xfrm>
          <a:prstGeom prst="rect">
            <a:avLst/>
          </a:prstGeom>
          <a:solidFill>
            <a:srgbClr val="B043BB"/>
          </a:solidFill>
          <a:ln>
            <a:noFill/>
          </a:ln>
        </p:spPr>
        <p:txBody>
          <a:bodyPr/>
          <a:lstStyle/>
          <a:p>
            <a:endParaRPr/>
          </a:p>
        </p:txBody>
      </p:sp>
      <p:sp>
        <p:nvSpPr>
          <p:cNvPr id="11" name="CB"/>
          <p:cNvSpPr>
            <a:spLocks noTextEdit="1"/>
          </p:cNvSpPr>
          <p:nvPr/>
        </p:nvSpPr>
        <p:spPr>
          <a:xfrm>
            <a:off x="609600" y="863600"/>
            <a:ext cx="2413000" cy="3733800"/>
          </a:xfrm>
          <a:prstGeom prst="rect">
            <a:avLst/>
          </a:prstGeom>
          <a:solidFill>
            <a:srgbClr val="E3BBE7"/>
          </a:solidFill>
          <a:ln>
            <a:noFill/>
          </a:ln>
        </p:spPr>
        <p:txBody>
          <a:bodyPr/>
          <a:lstStyle/>
          <a:p>
            <a:endParaRPr/>
          </a:p>
        </p:txBody>
      </p:sp>
      <p:sp>
        <p:nvSpPr>
          <p:cNvPr id="12" name="N"/>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Emre Kuzal</a:t>
            </a:r>
          </a:p>
        </p:txBody>
      </p:sp>
      <p:sp>
        <p:nvSpPr>
          <p:cNvPr id="13" name="R"/>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B043BB"/>
                </a:solidFill>
                <a:latin typeface="Calibri"/>
              </a:rPr>
              <a:t>BACKEND</a:t>
            </a:r>
          </a:p>
        </p:txBody>
      </p:sp>
      <p:sp>
        <p:nvSpPr>
          <p:cNvPr id="14" name="Br"/>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feature/satis-modulu</a:t>
            </a:r>
          </a:p>
        </p:txBody>
      </p:sp>
      <p:sp>
        <p:nvSpPr>
          <p:cNvPr id="15" name="D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Satis.java</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SatisYonetimi (Singleton)</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SatisKuyrugu (Queue/FIFO)</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RaporlayiciServis</a:t>
            </a:r>
          </a:p>
        </p:txBody>
      </p:sp>
      <p:sp>
        <p:nvSpPr>
          <p:cNvPr id="263" name="C"/>
          <p:cNvSpPr txBox="1"/>
          <p:nvPr/>
        </p:nvSpPr>
        <p:spPr>
          <a:xfrm>
            <a:off x="698500" y="30861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Raporlanabilir (interface)</a:t>
            </a:r>
          </a:p>
        </p:txBody>
      </p:sp>
      <p:sp>
        <p:nvSpPr>
          <p:cNvPr id="50" name="RB"/>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1"/>
          <p:cNvSpPr>
            <a:spLocks noTextEdit="1"/>
          </p:cNvSpPr>
          <p:nvPr/>
        </p:nvSpPr>
        <p:spPr>
          <a:xfrm>
            <a:off x="3175000" y="863600"/>
            <a:ext cx="5359400" cy="304800"/>
          </a:xfrm>
          <a:prstGeom prst="rect">
            <a:avLst/>
          </a:prstGeom>
          <a:solidFill>
            <a:srgbClr val="B043BB"/>
          </a:solidFill>
          <a:ln>
            <a:solidFill>
              <a:srgbClr val="B043BB"/>
            </a:solidFill>
          </a:ln>
        </p:spPr>
        <p:txBody>
          <a:bodyPr/>
          <a:lstStyle/>
          <a:p>
            <a:endParaRPr/>
          </a:p>
        </p:txBody>
      </p:sp>
      <p:sp>
        <p:nvSpPr>
          <p:cNvPr id="52" name="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Satış işlem mantığını ve kuyruğunu yönetir. SatisYonetimi Singleton üzerinden satış yap/iptal eder; Raporlanabilir interface ile gelir-gider ve performans raporu üretir.</a:t>
            </a:r>
          </a:p>
        </p:txBody>
      </p:sp>
      <p:sp>
        <p:nvSpPr>
          <p:cNvPr id="54" name="S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Raporlanabilir</a:t>
            </a:r>
            <a:r>
              <a:rPr lang="en-US" sz="1050" dirty="0">
                <a:solidFill>
                  <a:srgbClr val="333333"/>
                </a:solidFill>
                <a:latin typeface="Calibri"/>
              </a:rPr>
              <a:t> interface, Satis sınıfı iskelet, karHesapla()</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Satis tamamla, birim testleri, PR → develop</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SatisKuyrugu</a:t>
            </a:r>
            <a:r>
              <a:rPr lang="en-US" sz="1050" dirty="0">
                <a:solidFill>
                  <a:srgbClr val="333333"/>
                </a:solidFill>
                <a:latin typeface="Calibri"/>
              </a:rPr>
              <a:t> Queue implementasyonu</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a:solidFill>
                  <a:srgbClr val="333333"/>
                </a:solidFill>
                <a:latin typeface="Calibri"/>
              </a:rPr>
              <a:t>Queue testleri, RaporlayiciServis iskeleti, PR</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SatisYonetimi</a:t>
            </a:r>
            <a:r>
              <a:rPr lang="en-US" sz="1050" dirty="0">
                <a:solidFill>
                  <a:srgbClr val="333333"/>
                </a:solidFill>
                <a:latin typeface="Calibri"/>
              </a:rPr>
              <a:t> Singleton — satisYap(), satisIptal()</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Rapor</a:t>
            </a:r>
            <a:r>
              <a:rPr lang="en-US" sz="1050" dirty="0">
                <a:solidFill>
                  <a:srgbClr val="333333"/>
                </a:solidFill>
                <a:latin typeface="Calibri"/>
              </a:rPr>
              <a:t> metotları tamamla, RaporlayiciServis, v0.2</a:t>
            </a:r>
          </a:p>
        </p:txBody>
      </p:sp>
      <p:sp>
        <p:nvSpPr>
          <p:cNvPr id="80" name="S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Queue (FIFO) satış sırasını garanti eder; her satış stok azaltır ve fatura üretir. Singleton tek bir SatisYonetimi örneği zorunlu kılar, çakışan satışları önler.</a:t>
            </a:r>
          </a:p>
        </p:txBody>
      </p:sp>
    </p:spTree>
    <p:extLst>
      <p:ext uri="{BB962C8B-B14F-4D97-AF65-F5344CB8AC3E}">
        <p14:creationId xmlns:p14="http://schemas.microsoft.com/office/powerpoint/2010/main" val="2856606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chemeClr val="accent6"/>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a:solidFill>
                  <a:srgbClr val="2D2D2D"/>
                </a:solidFill>
                <a:latin typeface="Trebuchet MS" pitchFamily="34" charset="0"/>
                <a:ea typeface="Trebuchet MS" pitchFamily="34" charset="-122"/>
                <a:cs typeface="Trebuchet MS" pitchFamily="34" charset="-120"/>
              </a:rPr>
              <a:t>Osman Berat Pasa — Ekspertiz Modulu</a:t>
            </a:r>
            <a:endParaRPr lang="en-US" sz="2600" b="1" dirty="0">
              <a:solidFill>
                <a:srgbClr val="2D2D2D"/>
              </a:solidFill>
            </a:endParaRPr>
          </a:p>
        </p:txBody>
      </p:sp>
      <p:sp>
        <p:nvSpPr>
          <p:cNvPr id="5" name="Shape 2"/>
          <p:cNvSpPr/>
          <p:nvPr/>
        </p:nvSpPr>
        <p:spPr>
          <a:xfrm>
            <a:off x="457200" y="731520"/>
            <a:ext cx="8229600" cy="18288"/>
          </a:xfrm>
          <a:prstGeom prst="rect">
            <a:avLst/>
          </a:prstGeom>
          <a:solidFill>
            <a:schemeClr val="accent6"/>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43" name="Rectangle 42">
            <a:extLst>
              <a:ext uri="{FF2B5EF4-FFF2-40B4-BE49-F238E27FC236}">
                <a16:creationId xmlns:a16="http://schemas.microsoft.com/office/drawing/2014/main" id="{65304AC8-D161-4131-BC16-054B55A1A0B8}"/>
              </a:ext>
            </a:extLst>
          </p:cNvPr>
          <p:cNvSpPr/>
          <p:nvPr/>
        </p:nvSpPr>
        <p:spPr>
          <a:xfrm>
            <a:off x="457200" y="863600"/>
            <a:ext cx="50800" cy="3733800"/>
          </a:xfrm>
          <a:prstGeom prst="rect">
            <a:avLst/>
          </a:prstGeom>
          <a:solidFill>
            <a:schemeClr val="accent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4" name="Rectangle 43">
            <a:extLst>
              <a:ext uri="{FF2B5EF4-FFF2-40B4-BE49-F238E27FC236}">
                <a16:creationId xmlns:a16="http://schemas.microsoft.com/office/drawing/2014/main" id="{795617B7-2C37-458D-9596-BA8E1D531C97}"/>
              </a:ext>
            </a:extLst>
          </p:cNvPr>
          <p:cNvSpPr/>
          <p:nvPr/>
        </p:nvSpPr>
        <p:spPr>
          <a:xfrm>
            <a:off x="609600" y="889000"/>
            <a:ext cx="2413000" cy="3733800"/>
          </a:xfrm>
          <a:prstGeom prst="rect">
            <a:avLst/>
          </a:prstGeom>
          <a:solidFill>
            <a:schemeClr val="accent6">
              <a:lumMod val="20000"/>
              <a:lumOff val="80000"/>
            </a:schemeClr>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5" name="TextBox 44">
            <a:extLst>
              <a:ext uri="{FF2B5EF4-FFF2-40B4-BE49-F238E27FC236}">
                <a16:creationId xmlns:a16="http://schemas.microsoft.com/office/drawing/2014/main" id="{C8332640-0DBA-4FEF-BA79-4A87B9070772}"/>
              </a:ext>
            </a:extLst>
          </p:cNvPr>
          <p:cNvSpPr txBox="1"/>
          <p:nvPr/>
        </p:nvSpPr>
        <p:spPr>
          <a:xfrm>
            <a:off x="698500" y="939800"/>
            <a:ext cx="2235200" cy="406400"/>
          </a:xfrm>
          <a:prstGeom prst="rect">
            <a:avLst/>
          </a:prstGeom>
          <a:noFill/>
        </p:spPr>
        <p:txBody>
          <a:bodyPr vertOverflow="overflow" vert="horz" wrap="square" rtlCol="0" anchor="t">
            <a:spAutoFit/>
          </a:bodyPr>
          <a:lstStyle/>
          <a:p>
            <a:pPr algn="l"/>
            <a:r>
              <a:rPr lang="tr-TR" sz="2000" b="1">
                <a:solidFill>
                  <a:srgbClr val="2D2D2D"/>
                </a:solidFill>
              </a:rPr>
              <a:t>Osman Berat Pasa</a:t>
            </a:r>
          </a:p>
        </p:txBody>
      </p:sp>
      <p:sp>
        <p:nvSpPr>
          <p:cNvPr id="46" name="TextBox 45">
            <a:extLst>
              <a:ext uri="{FF2B5EF4-FFF2-40B4-BE49-F238E27FC236}">
                <a16:creationId xmlns:a16="http://schemas.microsoft.com/office/drawing/2014/main" id="{07F4D795-D811-46BD-BE84-B04E46BB1FD6}"/>
              </a:ext>
            </a:extLst>
          </p:cNvPr>
          <p:cNvSpPr txBox="1"/>
          <p:nvPr/>
        </p:nvSpPr>
        <p:spPr>
          <a:xfrm>
            <a:off x="698500" y="1346200"/>
            <a:ext cx="2235200" cy="307777"/>
          </a:xfrm>
          <a:prstGeom prst="rect">
            <a:avLst/>
          </a:prstGeom>
          <a:noFill/>
        </p:spPr>
        <p:txBody>
          <a:bodyPr vertOverflow="overflow" vert="horz" wrap="square" rtlCol="0" anchor="t">
            <a:spAutoFit/>
          </a:bodyPr>
          <a:lstStyle/>
          <a:p>
            <a:pPr algn="l"/>
            <a:r>
              <a:rPr lang="tr-TR" sz="1400" dirty="0">
                <a:solidFill>
                  <a:schemeClr val="accent6"/>
                </a:solidFill>
              </a:rPr>
              <a:t>BACKEND</a:t>
            </a:r>
          </a:p>
        </p:txBody>
      </p:sp>
      <p:sp>
        <p:nvSpPr>
          <p:cNvPr id="47" name="TextBox 46">
            <a:extLst>
              <a:ext uri="{FF2B5EF4-FFF2-40B4-BE49-F238E27FC236}">
                <a16:creationId xmlns:a16="http://schemas.microsoft.com/office/drawing/2014/main" id="{0FA1B674-BC7C-4F83-AF53-14B2B496DFBE}"/>
              </a:ext>
            </a:extLst>
          </p:cNvPr>
          <p:cNvSpPr txBox="1"/>
          <p:nvPr/>
        </p:nvSpPr>
        <p:spPr>
          <a:xfrm>
            <a:off x="698500" y="1625600"/>
            <a:ext cx="2235200" cy="254000"/>
          </a:xfrm>
          <a:prstGeom prst="rect">
            <a:avLst/>
          </a:prstGeom>
          <a:noFill/>
        </p:spPr>
        <p:txBody>
          <a:bodyPr vertOverflow="overflow" vert="horz" wrap="square" rtlCol="0" anchor="t">
            <a:spAutoFit/>
          </a:bodyPr>
          <a:lstStyle/>
          <a:p>
            <a:pPr algn="l"/>
            <a:r>
              <a:rPr lang="tr-TR" sz="1400">
                <a:solidFill>
                  <a:srgbClr val="888888"/>
                </a:solidFill>
              </a:rPr>
              <a:t>feature/ekspertiz-modulu</a:t>
            </a:r>
          </a:p>
        </p:txBody>
      </p:sp>
      <p:sp>
        <p:nvSpPr>
          <p:cNvPr id="48" name="Rectangle 47">
            <a:extLst>
              <a:ext uri="{FF2B5EF4-FFF2-40B4-BE49-F238E27FC236}">
                <a16:creationId xmlns:a16="http://schemas.microsoft.com/office/drawing/2014/main" id="{1C095F86-2681-4CE9-9BFA-B51126819025}"/>
              </a:ext>
            </a:extLst>
          </p:cNvPr>
          <p:cNvSpPr/>
          <p:nvPr/>
        </p:nvSpPr>
        <p:spPr>
          <a:xfrm>
            <a:off x="698500" y="1930400"/>
            <a:ext cx="2032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9" name="TextBox 48">
            <a:extLst>
              <a:ext uri="{FF2B5EF4-FFF2-40B4-BE49-F238E27FC236}">
                <a16:creationId xmlns:a16="http://schemas.microsoft.com/office/drawing/2014/main" id="{73AEE97C-9956-4B5E-9D12-20EF8FF19051}"/>
              </a:ext>
            </a:extLst>
          </p:cNvPr>
          <p:cNvSpPr txBox="1"/>
          <p:nvPr/>
        </p:nvSpPr>
        <p:spPr>
          <a:xfrm>
            <a:off x="698500" y="1993900"/>
            <a:ext cx="2235200" cy="254000"/>
          </a:xfrm>
          <a:prstGeom prst="rect">
            <a:avLst/>
          </a:prstGeom>
          <a:noFill/>
        </p:spPr>
        <p:txBody>
          <a:bodyPr vertOverflow="overflow" vert="horz" wrap="square" rtlCol="0" anchor="t">
            <a:spAutoFit/>
          </a:bodyPr>
          <a:lstStyle/>
          <a:p>
            <a:pPr algn="l"/>
            <a:r>
              <a:rPr lang="tr-TR" sz="1400" b="1">
                <a:solidFill>
                  <a:srgbClr val="666666"/>
                </a:solidFill>
              </a:rPr>
              <a:t>Sorumlu Siniflar:</a:t>
            </a:r>
          </a:p>
        </p:txBody>
      </p:sp>
      <p:sp>
        <p:nvSpPr>
          <p:cNvPr id="50" name="TextBox 49">
            <a:extLst>
              <a:ext uri="{FF2B5EF4-FFF2-40B4-BE49-F238E27FC236}">
                <a16:creationId xmlns:a16="http://schemas.microsoft.com/office/drawing/2014/main" id="{14983BE4-2CC2-4D1C-BE27-36926477FCF5}"/>
              </a:ext>
            </a:extLst>
          </p:cNvPr>
          <p:cNvSpPr txBox="1"/>
          <p:nvPr/>
        </p:nvSpPr>
        <p:spPr>
          <a:xfrm>
            <a:off x="762000" y="2273300"/>
            <a:ext cx="2171700" cy="254000"/>
          </a:xfrm>
          <a:prstGeom prst="rect">
            <a:avLst/>
          </a:prstGeom>
          <a:noFill/>
        </p:spPr>
        <p:txBody>
          <a:bodyPr vertOverflow="overflow" vert="horz" wrap="square" rtlCol="0" anchor="t">
            <a:spAutoFit/>
          </a:bodyPr>
          <a:lstStyle/>
          <a:p>
            <a:pPr algn="l"/>
            <a:r>
              <a:rPr lang="tr-TR" sz="1400">
                <a:solidFill>
                  <a:srgbClr val="444444"/>
                </a:solidFill>
              </a:rPr>
              <a:t>• HasarSeviyesi (enum)</a:t>
            </a:r>
          </a:p>
        </p:txBody>
      </p:sp>
      <p:sp>
        <p:nvSpPr>
          <p:cNvPr id="51" name="TextBox 50">
            <a:extLst>
              <a:ext uri="{FF2B5EF4-FFF2-40B4-BE49-F238E27FC236}">
                <a16:creationId xmlns:a16="http://schemas.microsoft.com/office/drawing/2014/main" id="{C3E0BC60-D231-41FE-85ED-8C28FAE15092}"/>
              </a:ext>
            </a:extLst>
          </p:cNvPr>
          <p:cNvSpPr txBox="1"/>
          <p:nvPr/>
        </p:nvSpPr>
        <p:spPr>
          <a:xfrm>
            <a:off x="762000" y="2552700"/>
            <a:ext cx="2171700" cy="254000"/>
          </a:xfrm>
          <a:prstGeom prst="rect">
            <a:avLst/>
          </a:prstGeom>
          <a:noFill/>
        </p:spPr>
        <p:txBody>
          <a:bodyPr vertOverflow="overflow" vert="horz" wrap="square" rtlCol="0" anchor="t">
            <a:spAutoFit/>
          </a:bodyPr>
          <a:lstStyle/>
          <a:p>
            <a:pPr algn="l"/>
            <a:r>
              <a:rPr lang="tr-TR" sz="1400">
                <a:solidFill>
                  <a:srgbClr val="444444"/>
                </a:solidFill>
              </a:rPr>
              <a:t>• Ekspertiz.java</a:t>
            </a:r>
          </a:p>
        </p:txBody>
      </p:sp>
      <p:sp>
        <p:nvSpPr>
          <p:cNvPr id="52" name="TextBox 51">
            <a:extLst>
              <a:ext uri="{FF2B5EF4-FFF2-40B4-BE49-F238E27FC236}">
                <a16:creationId xmlns:a16="http://schemas.microsoft.com/office/drawing/2014/main" id="{C9F5BA72-9DBA-4766-9159-CB6A1613E551}"/>
              </a:ext>
            </a:extLst>
          </p:cNvPr>
          <p:cNvSpPr txBox="1"/>
          <p:nvPr/>
        </p:nvSpPr>
        <p:spPr>
          <a:xfrm>
            <a:off x="762000" y="2832100"/>
            <a:ext cx="2171700" cy="254000"/>
          </a:xfrm>
          <a:prstGeom prst="rect">
            <a:avLst/>
          </a:prstGeom>
          <a:noFill/>
        </p:spPr>
        <p:txBody>
          <a:bodyPr vertOverflow="overflow" vert="horz" wrap="square" rtlCol="0" anchor="t">
            <a:spAutoFit/>
          </a:bodyPr>
          <a:lstStyle/>
          <a:p>
            <a:pPr algn="l"/>
            <a:r>
              <a:rPr lang="tr-TR" sz="1400">
                <a:solidFill>
                  <a:srgbClr val="444444"/>
                </a:solidFill>
              </a:rPr>
              <a:t>• EkspertizYonetimi (Singleton)</a:t>
            </a:r>
          </a:p>
        </p:txBody>
      </p:sp>
      <p:sp>
        <p:nvSpPr>
          <p:cNvPr id="53" name="TextBox 52">
            <a:extLst>
              <a:ext uri="{FF2B5EF4-FFF2-40B4-BE49-F238E27FC236}">
                <a16:creationId xmlns:a16="http://schemas.microsoft.com/office/drawing/2014/main" id="{AE69A5B7-0CEB-4BA7-B74F-7C08EA6FC036}"/>
              </a:ext>
            </a:extLst>
          </p:cNvPr>
          <p:cNvSpPr txBox="1"/>
          <p:nvPr/>
        </p:nvSpPr>
        <p:spPr>
          <a:xfrm>
            <a:off x="762000" y="3293979"/>
            <a:ext cx="2171700" cy="254000"/>
          </a:xfrm>
          <a:prstGeom prst="rect">
            <a:avLst/>
          </a:prstGeom>
          <a:noFill/>
        </p:spPr>
        <p:txBody>
          <a:bodyPr vertOverflow="overflow" vert="horz" wrap="square" rtlCol="0" anchor="t">
            <a:spAutoFit/>
          </a:bodyPr>
          <a:lstStyle/>
          <a:p>
            <a:pPr algn="l"/>
            <a:r>
              <a:rPr lang="tr-TR" sz="1400" dirty="0">
                <a:solidFill>
                  <a:srgbClr val="444444"/>
                </a:solidFill>
              </a:rPr>
              <a:t>• EkspertizYigini (Stack/LIFO)</a:t>
            </a:r>
          </a:p>
        </p:txBody>
      </p:sp>
      <p:sp>
        <p:nvSpPr>
          <p:cNvPr id="54" name="Rectangle 53">
            <a:extLst>
              <a:ext uri="{FF2B5EF4-FFF2-40B4-BE49-F238E27FC236}">
                <a16:creationId xmlns:a16="http://schemas.microsoft.com/office/drawing/2014/main" id="{5B1802C9-51C0-4E92-B446-5456C0C6EB60}"/>
              </a:ext>
            </a:extLst>
          </p:cNvPr>
          <p:cNvSpPr/>
          <p:nvPr/>
        </p:nvSpPr>
        <p:spPr>
          <a:xfrm>
            <a:off x="3175000" y="863600"/>
            <a:ext cx="5359400" cy="3733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5" name="Rectangle 54">
            <a:extLst>
              <a:ext uri="{FF2B5EF4-FFF2-40B4-BE49-F238E27FC236}">
                <a16:creationId xmlns:a16="http://schemas.microsoft.com/office/drawing/2014/main" id="{BDA80D24-FDB6-4012-BC0F-87CCCDBE8E92}"/>
              </a:ext>
            </a:extLst>
          </p:cNvPr>
          <p:cNvSpPr/>
          <p:nvPr/>
        </p:nvSpPr>
        <p:spPr>
          <a:xfrm>
            <a:off x="3175000" y="863600"/>
            <a:ext cx="5359400" cy="330200"/>
          </a:xfrm>
          <a:prstGeom prst="rect">
            <a:avLst/>
          </a:prstGeom>
          <a:solidFill>
            <a:schemeClr val="accent6"/>
          </a:solidFill>
          <a:ln w="12700" cap="flat" cmpd="sng" algn="ctr">
            <a:solidFill>
              <a:schemeClr val="accent6"/>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6" name="TextBox 55">
            <a:extLst>
              <a:ext uri="{FF2B5EF4-FFF2-40B4-BE49-F238E27FC236}">
                <a16:creationId xmlns:a16="http://schemas.microsoft.com/office/drawing/2014/main" id="{C8D33CEA-F4DE-4DCD-92FF-825B8B9456D4}"/>
              </a:ext>
            </a:extLst>
          </p:cNvPr>
          <p:cNvSpPr txBox="1"/>
          <p:nvPr/>
        </p:nvSpPr>
        <p:spPr>
          <a:xfrm>
            <a:off x="3251200" y="889000"/>
            <a:ext cx="5207000" cy="279400"/>
          </a:xfrm>
          <a:prstGeom prst="rect">
            <a:avLst/>
          </a:prstGeom>
          <a:noFill/>
        </p:spPr>
        <p:txBody>
          <a:bodyPr vertOverflow="overflow" vert="horz" wrap="square" rtlCol="0" anchor="t">
            <a:spAutoFit/>
          </a:bodyPr>
          <a:lstStyle/>
          <a:p>
            <a:pPr algn="l"/>
            <a:r>
              <a:rPr lang="tr-TR" sz="1600" b="1">
                <a:solidFill>
                  <a:srgbClr val="FFFFFF"/>
                </a:solidFill>
              </a:rPr>
              <a:t>Gorev Tanimi</a:t>
            </a:r>
          </a:p>
        </p:txBody>
      </p:sp>
      <p:sp>
        <p:nvSpPr>
          <p:cNvPr id="57" name="TextBox 56">
            <a:extLst>
              <a:ext uri="{FF2B5EF4-FFF2-40B4-BE49-F238E27FC236}">
                <a16:creationId xmlns:a16="http://schemas.microsoft.com/office/drawing/2014/main" id="{973A3824-FBC9-43AB-8942-1A18E4A07FEF}"/>
              </a:ext>
            </a:extLst>
          </p:cNvPr>
          <p:cNvSpPr txBox="1"/>
          <p:nvPr/>
        </p:nvSpPr>
        <p:spPr>
          <a:xfrm>
            <a:off x="3251200" y="1244600"/>
            <a:ext cx="5207000" cy="660400"/>
          </a:xfrm>
          <a:prstGeom prst="rect">
            <a:avLst/>
          </a:prstGeom>
          <a:noFill/>
        </p:spPr>
        <p:txBody>
          <a:bodyPr vertOverflow="overflow" vert="horz" wrap="square" rtlCol="0" anchor="t">
            <a:spAutoFit/>
          </a:bodyPr>
          <a:lstStyle/>
          <a:p>
            <a:pPr algn="l"/>
            <a:r>
              <a:rPr lang="tr-TR" sz="1400">
                <a:solidFill>
                  <a:srgbClr val="333333"/>
                </a:solidFill>
              </a:rPr>
              <a:t>Arac ekspertiz surecini uctan uca yonetir: hasarli parca tespiti, 100 uzerinden puan hesaplama, raporlama ve onaylama. Stack yapisiyla gecmis ekspertizleri korur ve karsilastirma saglar.</a:t>
            </a:r>
          </a:p>
        </p:txBody>
      </p:sp>
      <p:sp>
        <p:nvSpPr>
          <p:cNvPr id="58" name="Rectangle 57">
            <a:extLst>
              <a:ext uri="{FF2B5EF4-FFF2-40B4-BE49-F238E27FC236}">
                <a16:creationId xmlns:a16="http://schemas.microsoft.com/office/drawing/2014/main" id="{23A7F29E-3E8A-4B3E-B013-8432E3C9262F}"/>
              </a:ext>
            </a:extLst>
          </p:cNvPr>
          <p:cNvSpPr/>
          <p:nvPr/>
        </p:nvSpPr>
        <p:spPr>
          <a:xfrm>
            <a:off x="3175000" y="19431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9" name="TextBox 58">
            <a:extLst>
              <a:ext uri="{FF2B5EF4-FFF2-40B4-BE49-F238E27FC236}">
                <a16:creationId xmlns:a16="http://schemas.microsoft.com/office/drawing/2014/main" id="{CE12FFC8-F312-4557-970B-DC55266E98DF}"/>
              </a:ext>
            </a:extLst>
          </p:cNvPr>
          <p:cNvSpPr txBox="1"/>
          <p:nvPr/>
        </p:nvSpPr>
        <p:spPr>
          <a:xfrm>
            <a:off x="3251200" y="1968500"/>
            <a:ext cx="5207000" cy="254000"/>
          </a:xfrm>
          <a:prstGeom prst="rect">
            <a:avLst/>
          </a:prstGeom>
          <a:noFill/>
        </p:spPr>
        <p:txBody>
          <a:bodyPr vertOverflow="overflow" vert="horz" wrap="square" rtlCol="0" anchor="t">
            <a:spAutoFit/>
          </a:bodyPr>
          <a:lstStyle/>
          <a:p>
            <a:pPr algn="l"/>
            <a:r>
              <a:rPr lang="tr-TR" sz="1500" b="1">
                <a:solidFill>
                  <a:srgbClr val="2D2D2D"/>
                </a:solidFill>
              </a:rPr>
              <a:t>Ne Yapilacak?</a:t>
            </a:r>
          </a:p>
        </p:txBody>
      </p:sp>
      <p:sp>
        <p:nvSpPr>
          <p:cNvPr id="60" name="TextBox 59">
            <a:extLst>
              <a:ext uri="{FF2B5EF4-FFF2-40B4-BE49-F238E27FC236}">
                <a16:creationId xmlns:a16="http://schemas.microsoft.com/office/drawing/2014/main" id="{02996DEE-442A-4334-BBB3-CF36D6B00E1D}"/>
              </a:ext>
            </a:extLst>
          </p:cNvPr>
          <p:cNvSpPr txBox="1"/>
          <p:nvPr/>
        </p:nvSpPr>
        <p:spPr>
          <a:xfrm>
            <a:off x="3251200" y="2273300"/>
            <a:ext cx="5207000" cy="307777"/>
          </a:xfrm>
          <a:prstGeom prst="rect">
            <a:avLst/>
          </a:prstGeom>
          <a:noFill/>
        </p:spPr>
        <p:txBody>
          <a:bodyPr vertOverflow="overflow" vert="horz" wrap="square" rtlCol="0" anchor="t">
            <a:spAutoFit/>
          </a:bodyPr>
          <a:lstStyle/>
          <a:p>
            <a:pPr algn="l"/>
            <a:r>
              <a:rPr lang="tr-TR" sz="1400" dirty="0">
                <a:solidFill>
                  <a:srgbClr val="333333"/>
                </a:solidFill>
              </a:rPr>
              <a:t>• HasarSeviyesi enum, Ekspertiz sinifi iskelet</a:t>
            </a:r>
          </a:p>
        </p:txBody>
      </p:sp>
      <p:sp>
        <p:nvSpPr>
          <p:cNvPr id="61" name="TextBox 60">
            <a:extLst>
              <a:ext uri="{FF2B5EF4-FFF2-40B4-BE49-F238E27FC236}">
                <a16:creationId xmlns:a16="http://schemas.microsoft.com/office/drawing/2014/main" id="{7B2C8F8D-EE50-4784-9512-34F7D7C17FAB}"/>
              </a:ext>
            </a:extLst>
          </p:cNvPr>
          <p:cNvSpPr txBox="1"/>
          <p:nvPr/>
        </p:nvSpPr>
        <p:spPr>
          <a:xfrm>
            <a:off x="3251200" y="2578100"/>
            <a:ext cx="5207000" cy="307777"/>
          </a:xfrm>
          <a:prstGeom prst="rect">
            <a:avLst/>
          </a:prstGeom>
          <a:noFill/>
        </p:spPr>
        <p:txBody>
          <a:bodyPr vertOverflow="overflow" vert="horz" wrap="square" rtlCol="0" anchor="t">
            <a:spAutoFit/>
          </a:bodyPr>
          <a:lstStyle/>
          <a:p>
            <a:pPr algn="l"/>
            <a:r>
              <a:rPr lang="tr-TR" sz="1400" dirty="0">
                <a:solidFill>
                  <a:srgbClr val="333333"/>
                </a:solidFill>
              </a:rPr>
              <a:t>• Ekspertiz tamamla, Raporlanabilir implement, PR</a:t>
            </a:r>
          </a:p>
        </p:txBody>
      </p:sp>
      <p:sp>
        <p:nvSpPr>
          <p:cNvPr id="62" name="TextBox 61">
            <a:extLst>
              <a:ext uri="{FF2B5EF4-FFF2-40B4-BE49-F238E27FC236}">
                <a16:creationId xmlns:a16="http://schemas.microsoft.com/office/drawing/2014/main" id="{637464E0-6A80-41FC-B5AF-9DF2137C58BC}"/>
              </a:ext>
            </a:extLst>
          </p:cNvPr>
          <p:cNvSpPr txBox="1"/>
          <p:nvPr/>
        </p:nvSpPr>
        <p:spPr>
          <a:xfrm>
            <a:off x="3251200" y="2882900"/>
            <a:ext cx="5207000" cy="307777"/>
          </a:xfrm>
          <a:prstGeom prst="rect">
            <a:avLst/>
          </a:prstGeom>
          <a:noFill/>
        </p:spPr>
        <p:txBody>
          <a:bodyPr vertOverflow="overflow" vert="horz" wrap="square" rtlCol="0" anchor="t">
            <a:spAutoFit/>
          </a:bodyPr>
          <a:lstStyle/>
          <a:p>
            <a:pPr algn="l"/>
            <a:r>
              <a:rPr lang="tr-TR" sz="1400" dirty="0">
                <a:solidFill>
                  <a:srgbClr val="333333"/>
                </a:solidFill>
              </a:rPr>
              <a:t>• EkspertizYigini Stack implementasyonu</a:t>
            </a:r>
          </a:p>
        </p:txBody>
      </p:sp>
      <p:sp>
        <p:nvSpPr>
          <p:cNvPr id="63" name="TextBox 62">
            <a:extLst>
              <a:ext uri="{FF2B5EF4-FFF2-40B4-BE49-F238E27FC236}">
                <a16:creationId xmlns:a16="http://schemas.microsoft.com/office/drawing/2014/main" id="{0B2735CC-4736-4C85-8621-837F94E04955}"/>
              </a:ext>
            </a:extLst>
          </p:cNvPr>
          <p:cNvSpPr txBox="1"/>
          <p:nvPr/>
        </p:nvSpPr>
        <p:spPr>
          <a:xfrm>
            <a:off x="3251200" y="3187700"/>
            <a:ext cx="5207000" cy="307777"/>
          </a:xfrm>
          <a:prstGeom prst="rect">
            <a:avLst/>
          </a:prstGeom>
          <a:noFill/>
        </p:spPr>
        <p:txBody>
          <a:bodyPr vertOverflow="overflow" vert="horz" wrap="square" rtlCol="0" anchor="t">
            <a:spAutoFit/>
          </a:bodyPr>
          <a:lstStyle/>
          <a:p>
            <a:pPr algn="l"/>
            <a:r>
              <a:rPr lang="tr-TR" sz="1400" dirty="0">
                <a:solidFill>
                  <a:srgbClr val="333333"/>
                </a:solidFill>
              </a:rPr>
              <a:t>• Stack testleri, puanlama detayi, PR -&gt; develop</a:t>
            </a:r>
          </a:p>
        </p:txBody>
      </p:sp>
      <p:sp>
        <p:nvSpPr>
          <p:cNvPr id="64" name="TextBox 63">
            <a:extLst>
              <a:ext uri="{FF2B5EF4-FFF2-40B4-BE49-F238E27FC236}">
                <a16:creationId xmlns:a16="http://schemas.microsoft.com/office/drawing/2014/main" id="{C76AE780-3DA5-4227-BD14-C72A7B473E45}"/>
              </a:ext>
            </a:extLst>
          </p:cNvPr>
          <p:cNvSpPr txBox="1"/>
          <p:nvPr/>
        </p:nvSpPr>
        <p:spPr>
          <a:xfrm>
            <a:off x="3251200" y="3492500"/>
            <a:ext cx="5207000" cy="307777"/>
          </a:xfrm>
          <a:prstGeom prst="rect">
            <a:avLst/>
          </a:prstGeom>
          <a:noFill/>
        </p:spPr>
        <p:txBody>
          <a:bodyPr vertOverflow="overflow" vert="horz" wrap="square" rtlCol="0" anchor="t">
            <a:spAutoFit/>
          </a:bodyPr>
          <a:lstStyle/>
          <a:p>
            <a:pPr algn="l"/>
            <a:r>
              <a:rPr lang="tr-TR" sz="1400" dirty="0">
                <a:solidFill>
                  <a:srgbClr val="333333"/>
                </a:solidFill>
              </a:rPr>
              <a:t>• Hafta EkspertizYonetimi Singleton - CRUD metotlari</a:t>
            </a:r>
          </a:p>
        </p:txBody>
      </p:sp>
      <p:sp>
        <p:nvSpPr>
          <p:cNvPr id="65" name="TextBox 64">
            <a:extLst>
              <a:ext uri="{FF2B5EF4-FFF2-40B4-BE49-F238E27FC236}">
                <a16:creationId xmlns:a16="http://schemas.microsoft.com/office/drawing/2014/main" id="{54F18175-921B-4903-BB59-EBDEF2F241E3}"/>
              </a:ext>
            </a:extLst>
          </p:cNvPr>
          <p:cNvSpPr txBox="1"/>
          <p:nvPr/>
        </p:nvSpPr>
        <p:spPr>
          <a:xfrm>
            <a:off x="3251200" y="3797300"/>
            <a:ext cx="5207000" cy="307777"/>
          </a:xfrm>
          <a:prstGeom prst="rect">
            <a:avLst/>
          </a:prstGeom>
          <a:noFill/>
        </p:spPr>
        <p:txBody>
          <a:bodyPr vertOverflow="overflow" vert="horz" wrap="square" rtlCol="0" anchor="t">
            <a:spAutoFit/>
          </a:bodyPr>
          <a:lstStyle/>
          <a:p>
            <a:pPr algn="l"/>
            <a:r>
              <a:rPr lang="sv-SE" sz="1400" dirty="0">
                <a:solidFill>
                  <a:srgbClr val="333333"/>
                </a:solidFill>
              </a:rPr>
              <a:t>• Rapor formati, onaylama akisi, testler</a:t>
            </a:r>
            <a:endParaRPr lang="tr-TR" sz="1400" dirty="0">
              <a:solidFill>
                <a:srgbClr val="333333"/>
              </a:solidFill>
            </a:endParaRPr>
          </a:p>
        </p:txBody>
      </p:sp>
      <p:sp>
        <p:nvSpPr>
          <p:cNvPr id="66" name="Rectangle 65">
            <a:extLst>
              <a:ext uri="{FF2B5EF4-FFF2-40B4-BE49-F238E27FC236}">
                <a16:creationId xmlns:a16="http://schemas.microsoft.com/office/drawing/2014/main" id="{D939B210-EB18-4B79-8C12-DBCBE84DC65E}"/>
              </a:ext>
            </a:extLst>
          </p:cNvPr>
          <p:cNvSpPr/>
          <p:nvPr/>
        </p:nvSpPr>
        <p:spPr>
          <a:xfrm>
            <a:off x="3175000" y="41275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7" name="TextBox 66">
            <a:extLst>
              <a:ext uri="{FF2B5EF4-FFF2-40B4-BE49-F238E27FC236}">
                <a16:creationId xmlns:a16="http://schemas.microsoft.com/office/drawing/2014/main" id="{575C429B-F038-4D49-A07D-C006E006F03A}"/>
              </a:ext>
            </a:extLst>
          </p:cNvPr>
          <p:cNvSpPr txBox="1"/>
          <p:nvPr/>
        </p:nvSpPr>
        <p:spPr>
          <a:xfrm>
            <a:off x="3251200" y="4152900"/>
            <a:ext cx="5207000" cy="254000"/>
          </a:xfrm>
          <a:prstGeom prst="rect">
            <a:avLst/>
          </a:prstGeom>
          <a:noFill/>
        </p:spPr>
        <p:txBody>
          <a:bodyPr vertOverflow="overflow" vert="horz" wrap="square" rtlCol="0" anchor="t">
            <a:spAutoFit/>
          </a:bodyPr>
          <a:lstStyle/>
          <a:p>
            <a:pPr algn="l"/>
            <a:r>
              <a:rPr lang="tr-TR" sz="1500" b="1">
                <a:solidFill>
                  <a:srgbClr val="2D2D2D"/>
                </a:solidFill>
              </a:rPr>
              <a:t>Temel Mantik</a:t>
            </a:r>
          </a:p>
        </p:txBody>
      </p:sp>
      <p:sp>
        <p:nvSpPr>
          <p:cNvPr id="68" name="TextBox 67">
            <a:extLst>
              <a:ext uri="{FF2B5EF4-FFF2-40B4-BE49-F238E27FC236}">
                <a16:creationId xmlns:a16="http://schemas.microsoft.com/office/drawing/2014/main" id="{E19B6873-1786-4EB5-8479-D7C9B9D1CBD7}"/>
              </a:ext>
            </a:extLst>
          </p:cNvPr>
          <p:cNvSpPr txBox="1"/>
          <p:nvPr/>
        </p:nvSpPr>
        <p:spPr>
          <a:xfrm>
            <a:off x="3251200" y="4432300"/>
            <a:ext cx="5207000" cy="533400"/>
          </a:xfrm>
          <a:prstGeom prst="rect">
            <a:avLst/>
          </a:prstGeom>
          <a:noFill/>
        </p:spPr>
        <p:txBody>
          <a:bodyPr vertOverflow="overflow" vert="horz" wrap="square" rtlCol="0" anchor="t">
            <a:spAutoFit/>
          </a:bodyPr>
          <a:lstStyle/>
          <a:p>
            <a:pPr algn="l"/>
            <a:r>
              <a:rPr lang="tr-TR" sz="1400">
                <a:solidFill>
                  <a:srgbClr val="555555"/>
                </a:solidFill>
              </a:rPr>
              <a:t>Stack (LIFO) en son ekspertizi hizla geri almayi saglar; puanlama hasarsiz parca sayisini agirlikli hesaplar. Singleton tum ekspertiz verilerini tek noktadan yonetir.</a:t>
            </a:r>
          </a:p>
        </p:txBody>
      </p:sp>
    </p:spTree>
    <p:extLst>
      <p:ext uri="{BB962C8B-B14F-4D97-AF65-F5344CB8AC3E}">
        <p14:creationId xmlns:p14="http://schemas.microsoft.com/office/powerpoint/2010/main" val="2204784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245F"/>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a:buNone/>
            </a:pPr>
            <a:r>
              <a:rPr lang="en-US" sz="2600" b="1" dirty="0">
                <a:solidFill>
                  <a:srgbClr val="2D2D2D"/>
                </a:solidFill>
                <a:latin typeface="Trebuchet MS"/>
              </a:rPr>
              <a:t>Halil İbrahim Dinç — Bildirim Modülü</a:t>
            </a:r>
          </a:p>
        </p:txBody>
      </p:sp>
      <p:sp>
        <p:nvSpPr>
          <p:cNvPr id="5" name="Shape 2"/>
          <p:cNvSpPr/>
          <p:nvPr/>
        </p:nvSpPr>
        <p:spPr>
          <a:xfrm>
            <a:off x="457200" y="731520"/>
            <a:ext cx="8229600" cy="18288"/>
          </a:xfrm>
          <a:prstGeom prst="rect">
            <a:avLst/>
          </a:prstGeom>
          <a:solidFill>
            <a:srgbClr val="62245F"/>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10" name="Acc"/>
          <p:cNvSpPr>
            <a:spLocks noTextEdit="1"/>
          </p:cNvSpPr>
          <p:nvPr/>
        </p:nvSpPr>
        <p:spPr>
          <a:xfrm>
            <a:off x="457200" y="863600"/>
            <a:ext cx="50800" cy="3733800"/>
          </a:xfrm>
          <a:prstGeom prst="rect">
            <a:avLst/>
          </a:prstGeom>
          <a:solidFill>
            <a:srgbClr val="62245F"/>
          </a:solidFill>
          <a:ln>
            <a:noFill/>
          </a:ln>
        </p:spPr>
        <p:txBody>
          <a:bodyPr/>
          <a:lstStyle/>
          <a:p>
            <a:endParaRPr/>
          </a:p>
        </p:txBody>
      </p:sp>
      <p:sp>
        <p:nvSpPr>
          <p:cNvPr id="11" name="CB"/>
          <p:cNvSpPr>
            <a:spLocks noTextEdit="1"/>
          </p:cNvSpPr>
          <p:nvPr/>
        </p:nvSpPr>
        <p:spPr>
          <a:xfrm>
            <a:off x="609600" y="863600"/>
            <a:ext cx="2413000" cy="3733800"/>
          </a:xfrm>
          <a:prstGeom prst="rect">
            <a:avLst/>
          </a:prstGeom>
          <a:solidFill>
            <a:srgbClr val="D798E4"/>
          </a:solidFill>
          <a:ln>
            <a:noFill/>
          </a:ln>
        </p:spPr>
        <p:txBody>
          <a:bodyPr/>
          <a:lstStyle/>
          <a:p>
            <a:endParaRPr/>
          </a:p>
        </p:txBody>
      </p:sp>
      <p:sp>
        <p:nvSpPr>
          <p:cNvPr id="12" name="N"/>
          <p:cNvSpPr txBox="1"/>
          <p:nvPr/>
        </p:nvSpPr>
        <p:spPr>
          <a:xfrm>
            <a:off x="698500" y="939800"/>
            <a:ext cx="2235200" cy="381000"/>
          </a:xfrm>
          <a:prstGeom prst="rect">
            <a:avLst/>
          </a:prstGeom>
          <a:noFill/>
          <a:ln>
            <a:noFill/>
          </a:ln>
        </p:spPr>
        <p:txBody>
          <a:bodyPr wrap="square" lIns="91440" tIns="45720" rIns="91440" bIns="45720"/>
          <a:lstStyle/>
          <a:p>
            <a:pPr>
              <a:buNone/>
            </a:pPr>
            <a:r>
              <a:rPr lang="en-US" sz="1800" b="1" dirty="0">
                <a:solidFill>
                  <a:srgbClr val="2D2D2D"/>
                </a:solidFill>
                <a:latin typeface="Trebuchet MS"/>
              </a:rPr>
              <a:t>Halil İbrahim Dinç</a:t>
            </a:r>
          </a:p>
        </p:txBody>
      </p:sp>
      <p:sp>
        <p:nvSpPr>
          <p:cNvPr id="13" name="R"/>
          <p:cNvSpPr txBox="1"/>
          <p:nvPr/>
        </p:nvSpPr>
        <p:spPr>
          <a:xfrm>
            <a:off x="698500" y="1320800"/>
            <a:ext cx="2235200" cy="254000"/>
          </a:xfrm>
          <a:prstGeom prst="rect">
            <a:avLst/>
          </a:prstGeom>
          <a:noFill/>
          <a:ln>
            <a:noFill/>
          </a:ln>
        </p:spPr>
        <p:txBody>
          <a:bodyPr wrap="square" lIns="91440" tIns="45720" rIns="91440" bIns="45720"/>
          <a:lstStyle/>
          <a:p>
            <a:pPr>
              <a:buNone/>
            </a:pPr>
            <a:r>
              <a:rPr lang="en-US" sz="1200" dirty="0">
                <a:solidFill>
                  <a:srgbClr val="62245F"/>
                </a:solidFill>
                <a:latin typeface="Calibri"/>
              </a:rPr>
              <a:t>BACKEND</a:t>
            </a:r>
          </a:p>
        </p:txBody>
      </p:sp>
      <p:sp>
        <p:nvSpPr>
          <p:cNvPr id="14" name="Br"/>
          <p:cNvSpPr txBox="1"/>
          <p:nvPr/>
        </p:nvSpPr>
        <p:spPr>
          <a:xfrm>
            <a:off x="698500" y="1574800"/>
            <a:ext cx="2235200" cy="254000"/>
          </a:xfrm>
          <a:prstGeom prst="rect">
            <a:avLst/>
          </a:prstGeom>
          <a:noFill/>
          <a:ln>
            <a:noFill/>
          </a:ln>
        </p:spPr>
        <p:txBody>
          <a:bodyPr wrap="square" lIns="91440" tIns="45720" rIns="91440" bIns="45720"/>
          <a:lstStyle/>
          <a:p>
            <a:pPr>
              <a:buNone/>
            </a:pPr>
            <a:r>
              <a:rPr lang="en-US" sz="1100" dirty="0">
                <a:solidFill>
                  <a:srgbClr val="888888"/>
                </a:solidFill>
                <a:latin typeface="Calibri"/>
              </a:rPr>
              <a:t>feature/bildirim-modulu</a:t>
            </a:r>
          </a:p>
        </p:txBody>
      </p:sp>
      <p:sp>
        <p:nvSpPr>
          <p:cNvPr id="15" name="Dv"/>
          <p:cNvSpPr>
            <a:spLocks noTextEdit="1"/>
          </p:cNvSpPr>
          <p:nvPr/>
        </p:nvSpPr>
        <p:spPr>
          <a:xfrm>
            <a:off x="698500" y="1879600"/>
            <a:ext cx="2032000" cy="12700"/>
          </a:xfrm>
          <a:prstGeom prst="rect">
            <a:avLst/>
          </a:prstGeom>
          <a:solidFill>
            <a:srgbClr val="DDDDDD"/>
          </a:solidFill>
          <a:ln>
            <a:noFill/>
          </a:ln>
        </p:spPr>
        <p:txBody>
          <a:bodyPr/>
          <a:lstStyle/>
          <a:p>
            <a:endParaRPr/>
          </a:p>
        </p:txBody>
      </p:sp>
      <p:sp>
        <p:nvSpPr>
          <p:cNvPr id="16" name="CL"/>
          <p:cNvSpPr txBox="1"/>
          <p:nvPr/>
        </p:nvSpPr>
        <p:spPr>
          <a:xfrm>
            <a:off x="698500" y="1943100"/>
            <a:ext cx="2235200" cy="228600"/>
          </a:xfrm>
          <a:prstGeom prst="rect">
            <a:avLst/>
          </a:prstGeom>
          <a:noFill/>
          <a:ln>
            <a:noFill/>
          </a:ln>
        </p:spPr>
        <p:txBody>
          <a:bodyPr wrap="square" lIns="91440" tIns="45720" rIns="91440" bIns="45720"/>
          <a:lstStyle/>
          <a:p>
            <a:pPr>
              <a:buNone/>
            </a:pPr>
            <a:r>
              <a:rPr lang="en-US" sz="1100" b="1" dirty="0">
                <a:solidFill>
                  <a:srgbClr val="666666"/>
                </a:solidFill>
                <a:latin typeface="Trebuchet MS"/>
              </a:rPr>
              <a:t>Sorumlu Sınıflar:</a:t>
            </a:r>
          </a:p>
        </p:txBody>
      </p:sp>
      <p:sp>
        <p:nvSpPr>
          <p:cNvPr id="191" name="C"/>
          <p:cNvSpPr txBox="1"/>
          <p:nvPr/>
        </p:nvSpPr>
        <p:spPr>
          <a:xfrm>
            <a:off x="698500" y="21717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Calisan.java (extends Kisi)</a:t>
            </a:r>
          </a:p>
        </p:txBody>
      </p:sp>
      <p:sp>
        <p:nvSpPr>
          <p:cNvPr id="209" name="C"/>
          <p:cNvSpPr txBox="1"/>
          <p:nvPr/>
        </p:nvSpPr>
        <p:spPr>
          <a:xfrm>
            <a:off x="698500" y="24003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SigortaBilgisi.java</a:t>
            </a:r>
          </a:p>
        </p:txBody>
      </p:sp>
      <p:sp>
        <p:nvSpPr>
          <p:cNvPr id="227" name="C"/>
          <p:cNvSpPr txBox="1"/>
          <p:nvPr/>
        </p:nvSpPr>
        <p:spPr>
          <a:xfrm>
            <a:off x="698500" y="26289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MuayeneBilgisi.java</a:t>
            </a:r>
          </a:p>
        </p:txBody>
      </p:sp>
      <p:sp>
        <p:nvSpPr>
          <p:cNvPr id="245" name="C"/>
          <p:cNvSpPr txBox="1"/>
          <p:nvPr/>
        </p:nvSpPr>
        <p:spPr>
          <a:xfrm>
            <a:off x="698500" y="2857500"/>
            <a:ext cx="2235200" cy="228600"/>
          </a:xfrm>
          <a:prstGeom prst="rect">
            <a:avLst/>
          </a:prstGeom>
          <a:noFill/>
          <a:ln>
            <a:noFill/>
          </a:ln>
        </p:spPr>
        <p:txBody>
          <a:bodyPr wrap="square" lIns="91440" tIns="45720" rIns="91440" bIns="45720"/>
          <a:lstStyle/>
          <a:p>
            <a:pPr marL="228600" indent="-228600">
              <a:buFont typeface="Arial"/>
              <a:buChar char="•"/>
            </a:pPr>
            <a:r>
              <a:rPr lang="en-US" sz="1000" dirty="0">
                <a:solidFill>
                  <a:srgbClr val="444444"/>
                </a:solidFill>
                <a:latin typeface="Calibri"/>
              </a:rPr>
              <a:t>BildirimSistemi (Singleton)</a:t>
            </a:r>
          </a:p>
        </p:txBody>
      </p:sp>
      <p:sp>
        <p:nvSpPr>
          <p:cNvPr id="50" name="RB"/>
          <p:cNvSpPr>
            <a:spLocks noTextEdit="1"/>
          </p:cNvSpPr>
          <p:nvPr/>
        </p:nvSpPr>
        <p:spPr>
          <a:xfrm>
            <a:off x="3175000" y="863600"/>
            <a:ext cx="5359400" cy="3733800"/>
          </a:xfrm>
          <a:prstGeom prst="rect">
            <a:avLst/>
          </a:prstGeom>
          <a:solidFill>
            <a:srgbClr val="FFFFFF"/>
          </a:solidFill>
          <a:ln>
            <a:noFill/>
          </a:ln>
        </p:spPr>
        <p:txBody>
          <a:bodyPr/>
          <a:lstStyle/>
          <a:p>
            <a:endParaRPr/>
          </a:p>
        </p:txBody>
      </p:sp>
      <p:sp>
        <p:nvSpPr>
          <p:cNvPr id="51" name="S1"/>
          <p:cNvSpPr>
            <a:spLocks noTextEdit="1"/>
          </p:cNvSpPr>
          <p:nvPr/>
        </p:nvSpPr>
        <p:spPr>
          <a:xfrm>
            <a:off x="3175000" y="863600"/>
            <a:ext cx="5359400" cy="304800"/>
          </a:xfrm>
          <a:prstGeom prst="rect">
            <a:avLst/>
          </a:prstGeom>
          <a:solidFill>
            <a:srgbClr val="62245F"/>
          </a:solidFill>
          <a:ln>
            <a:solidFill>
              <a:srgbClr val="62245F"/>
            </a:solidFill>
          </a:ln>
        </p:spPr>
        <p:txBody>
          <a:bodyPr/>
          <a:lstStyle/>
          <a:p>
            <a:endParaRPr/>
          </a:p>
        </p:txBody>
      </p:sp>
      <p:sp>
        <p:nvSpPr>
          <p:cNvPr id="52" name="T1"/>
          <p:cNvSpPr txBox="1"/>
          <p:nvPr/>
        </p:nvSpPr>
        <p:spPr>
          <a:xfrm>
            <a:off x="3251200" y="889000"/>
            <a:ext cx="5207000" cy="254000"/>
          </a:xfrm>
          <a:prstGeom prst="rect">
            <a:avLst/>
          </a:prstGeom>
          <a:noFill/>
          <a:ln>
            <a:noFill/>
          </a:ln>
        </p:spPr>
        <p:txBody>
          <a:bodyPr wrap="square" lIns="91440" tIns="45720" rIns="91440" bIns="45720"/>
          <a:lstStyle/>
          <a:p>
            <a:pPr>
              <a:buNone/>
            </a:pPr>
            <a:r>
              <a:rPr lang="en-US" sz="1300" b="1" dirty="0">
                <a:solidFill>
                  <a:srgbClr val="FFFFFF"/>
                </a:solidFill>
                <a:latin typeface="Trebuchet MS"/>
              </a:rPr>
              <a:t>Görev Tanımı</a:t>
            </a:r>
          </a:p>
        </p:txBody>
      </p:sp>
      <p:sp>
        <p:nvSpPr>
          <p:cNvPr id="53" name="D"/>
          <p:cNvSpPr txBox="1"/>
          <p:nvPr/>
        </p:nvSpPr>
        <p:spPr>
          <a:xfrm>
            <a:off x="3251200" y="1219200"/>
            <a:ext cx="5207000" cy="635000"/>
          </a:xfrm>
          <a:prstGeom prst="rect">
            <a:avLst/>
          </a:prstGeom>
          <a:noFill/>
          <a:ln>
            <a:noFill/>
          </a:ln>
        </p:spPr>
        <p:txBody>
          <a:bodyPr wrap="square" lIns="91440" tIns="45720" rIns="91440" bIns="45720"/>
          <a:lstStyle/>
          <a:p>
            <a:pPr>
              <a:buNone/>
            </a:pPr>
            <a:r>
              <a:rPr lang="en-US" sz="1150" dirty="0">
                <a:solidFill>
                  <a:srgbClr val="333333"/>
                </a:solidFill>
                <a:latin typeface="Calibri"/>
              </a:rPr>
              <a:t>Sigorta ve muayene takip sistemini geliştirir. Yaklaşan ve süresi dolan tarihleri otomatik tespit eder; çalışan bilgilerini yönetir. BildirimSistemi Singleton üzerinden uyarı gönderir.</a:t>
            </a:r>
          </a:p>
        </p:txBody>
      </p:sp>
      <p:sp>
        <p:nvSpPr>
          <p:cNvPr id="54" name="S2"/>
          <p:cNvSpPr>
            <a:spLocks noTextEdit="1"/>
          </p:cNvSpPr>
          <p:nvPr/>
        </p:nvSpPr>
        <p:spPr>
          <a:xfrm>
            <a:off x="3175000" y="1879600"/>
            <a:ext cx="5359400" cy="254000"/>
          </a:xfrm>
          <a:prstGeom prst="rect">
            <a:avLst/>
          </a:prstGeom>
          <a:solidFill>
            <a:srgbClr val="F0F0F0"/>
          </a:solidFill>
          <a:ln>
            <a:noFill/>
          </a:ln>
        </p:spPr>
        <p:txBody>
          <a:bodyPr/>
          <a:lstStyle/>
          <a:p>
            <a:endParaRPr/>
          </a:p>
        </p:txBody>
      </p:sp>
      <p:sp>
        <p:nvSpPr>
          <p:cNvPr id="55" name="T2"/>
          <p:cNvSpPr txBox="1"/>
          <p:nvPr/>
        </p:nvSpPr>
        <p:spPr>
          <a:xfrm>
            <a:off x="3251200" y="18923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Ne Yapılacak?</a:t>
            </a:r>
          </a:p>
        </p:txBody>
      </p:sp>
      <p:sp>
        <p:nvSpPr>
          <p:cNvPr id="230" name="T"/>
          <p:cNvSpPr txBox="1"/>
          <p:nvPr/>
        </p:nvSpPr>
        <p:spPr>
          <a:xfrm>
            <a:off x="3251200" y="2159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Calisan</a:t>
            </a:r>
            <a:r>
              <a:rPr lang="en-US" sz="1050" dirty="0">
                <a:solidFill>
                  <a:srgbClr val="333333"/>
                </a:solidFill>
                <a:latin typeface="Calibri"/>
              </a:rPr>
              <a:t> sınıfı, Sigorta/Muayene iskeletleri</a:t>
            </a:r>
          </a:p>
        </p:txBody>
      </p:sp>
      <p:sp>
        <p:nvSpPr>
          <p:cNvPr id="252" name="T"/>
          <p:cNvSpPr txBox="1"/>
          <p:nvPr/>
        </p:nvSpPr>
        <p:spPr>
          <a:xfrm>
            <a:off x="3251200" y="24384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Tüm</a:t>
            </a:r>
            <a:r>
              <a:rPr lang="en-US" sz="1050" dirty="0">
                <a:solidFill>
                  <a:srgbClr val="333333"/>
                </a:solidFill>
                <a:latin typeface="Calibri"/>
              </a:rPr>
              <a:t> sınıfları tamamla, PR → develop</a:t>
            </a:r>
          </a:p>
        </p:txBody>
      </p:sp>
      <p:sp>
        <p:nvSpPr>
          <p:cNvPr id="274" name="T"/>
          <p:cNvSpPr txBox="1"/>
          <p:nvPr/>
        </p:nvSpPr>
        <p:spPr>
          <a:xfrm>
            <a:off x="3251200" y="27178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BildirimSistemi</a:t>
            </a:r>
            <a:r>
              <a:rPr lang="en-US" sz="1050" dirty="0">
                <a:solidFill>
                  <a:srgbClr val="333333"/>
                </a:solidFill>
                <a:latin typeface="Calibri"/>
              </a:rPr>
              <a:t> — sigortaKontrol(), muayeneKontrol()</a:t>
            </a:r>
          </a:p>
        </p:txBody>
      </p:sp>
      <p:sp>
        <p:nvSpPr>
          <p:cNvPr id="296" name="T"/>
          <p:cNvSpPr txBox="1"/>
          <p:nvPr/>
        </p:nvSpPr>
        <p:spPr>
          <a:xfrm>
            <a:off x="3251200" y="29972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yaklasanTarihler</a:t>
            </a:r>
            <a:r>
              <a:rPr lang="en-US" sz="1050" dirty="0">
                <a:solidFill>
                  <a:srgbClr val="333333"/>
                </a:solidFill>
                <a:latin typeface="Calibri"/>
              </a:rPr>
              <a:t>(), bildirimGonder(), testler, PR</a:t>
            </a:r>
          </a:p>
        </p:txBody>
      </p:sp>
      <p:sp>
        <p:nvSpPr>
          <p:cNvPr id="318" name="T"/>
          <p:cNvSpPr txBox="1"/>
          <p:nvPr/>
        </p:nvSpPr>
        <p:spPr>
          <a:xfrm>
            <a:off x="3251200" y="32766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BildirimSistemi</a:t>
            </a:r>
            <a:r>
              <a:rPr lang="en-US" sz="1050" dirty="0">
                <a:solidFill>
                  <a:srgbClr val="333333"/>
                </a:solidFill>
                <a:latin typeface="Calibri"/>
              </a:rPr>
              <a:t> Singleton, uyarı seviyeleri (3/7/30 gün)</a:t>
            </a:r>
          </a:p>
        </p:txBody>
      </p:sp>
      <p:sp>
        <p:nvSpPr>
          <p:cNvPr id="340" name="T"/>
          <p:cNvSpPr txBox="1"/>
          <p:nvPr/>
        </p:nvSpPr>
        <p:spPr>
          <a:xfrm>
            <a:off x="3251200" y="3556000"/>
            <a:ext cx="5207000" cy="254000"/>
          </a:xfrm>
          <a:prstGeom prst="rect">
            <a:avLst/>
          </a:prstGeom>
          <a:noFill/>
          <a:ln>
            <a:noFill/>
          </a:ln>
        </p:spPr>
        <p:txBody>
          <a:bodyPr wrap="square" lIns="91440" tIns="45720" rIns="91440" bIns="45720"/>
          <a:lstStyle/>
          <a:p>
            <a:pPr marL="228600" indent="-228600">
              <a:buFont typeface="Arial"/>
              <a:buChar char="•"/>
            </a:pPr>
            <a:r>
              <a:rPr lang="en-US" sz="1050" dirty="0" err="1">
                <a:solidFill>
                  <a:srgbClr val="333333"/>
                </a:solidFill>
                <a:latin typeface="Calibri"/>
              </a:rPr>
              <a:t>Mesaj</a:t>
            </a:r>
            <a:r>
              <a:rPr lang="en-US" sz="1050" dirty="0">
                <a:solidFill>
                  <a:srgbClr val="333333"/>
                </a:solidFill>
                <a:latin typeface="Calibri"/>
              </a:rPr>
              <a:t> formatları, performans verisi, testler</a:t>
            </a:r>
          </a:p>
        </p:txBody>
      </p:sp>
      <p:sp>
        <p:nvSpPr>
          <p:cNvPr id="80" name="S3"/>
          <p:cNvSpPr>
            <a:spLocks noTextEdit="1"/>
          </p:cNvSpPr>
          <p:nvPr/>
        </p:nvSpPr>
        <p:spPr>
          <a:xfrm>
            <a:off x="3175000" y="3860800"/>
            <a:ext cx="5359400" cy="254000"/>
          </a:xfrm>
          <a:prstGeom prst="rect">
            <a:avLst/>
          </a:prstGeom>
          <a:solidFill>
            <a:srgbClr val="F0F0F0"/>
          </a:solidFill>
          <a:ln>
            <a:noFill/>
          </a:ln>
        </p:spPr>
        <p:txBody>
          <a:bodyPr/>
          <a:lstStyle/>
          <a:p>
            <a:endParaRPr/>
          </a:p>
        </p:txBody>
      </p:sp>
      <p:sp>
        <p:nvSpPr>
          <p:cNvPr id="81" name="T3"/>
          <p:cNvSpPr txBox="1"/>
          <p:nvPr/>
        </p:nvSpPr>
        <p:spPr>
          <a:xfrm>
            <a:off x="3251200" y="3873500"/>
            <a:ext cx="5207000" cy="228600"/>
          </a:xfrm>
          <a:prstGeom prst="rect">
            <a:avLst/>
          </a:prstGeom>
          <a:noFill/>
          <a:ln>
            <a:noFill/>
          </a:ln>
        </p:spPr>
        <p:txBody>
          <a:bodyPr wrap="square" lIns="91440" tIns="45720" rIns="91440" bIns="45720"/>
          <a:lstStyle/>
          <a:p>
            <a:pPr>
              <a:buNone/>
            </a:pPr>
            <a:r>
              <a:rPr lang="en-US" sz="1200" b="1" dirty="0">
                <a:solidFill>
                  <a:srgbClr val="2D2D2D"/>
                </a:solidFill>
                <a:latin typeface="Trebuchet MS"/>
              </a:rPr>
              <a:t>Temel Mantık</a:t>
            </a:r>
          </a:p>
        </p:txBody>
      </p:sp>
      <p:sp>
        <p:nvSpPr>
          <p:cNvPr id="82" name="L"/>
          <p:cNvSpPr txBox="1"/>
          <p:nvPr/>
        </p:nvSpPr>
        <p:spPr>
          <a:xfrm>
            <a:off x="3251200" y="4114800"/>
            <a:ext cx="5207000" cy="482600"/>
          </a:xfrm>
          <a:prstGeom prst="rect">
            <a:avLst/>
          </a:prstGeom>
          <a:noFill/>
          <a:ln>
            <a:noFill/>
          </a:ln>
        </p:spPr>
        <p:txBody>
          <a:bodyPr wrap="square" lIns="91440" tIns="45720" rIns="91440" bIns="45720"/>
          <a:lstStyle/>
          <a:p>
            <a:pPr>
              <a:buNone/>
            </a:pPr>
            <a:r>
              <a:rPr lang="en-US" sz="1050" dirty="0">
                <a:solidFill>
                  <a:srgbClr val="555555"/>
                </a:solidFill>
                <a:latin typeface="Calibri"/>
              </a:rPr>
              <a:t>Tarih farkı hesaplaması (ChronoUnit/gün) süre kritiklik seviyesini belirler: &lt;3 gün kritik, &lt;7 uyarı, &lt;30 yaklaşan. Singleton tek bildirim noktası sağlar, mesaj tekrarını engeller.</a:t>
            </a:r>
          </a:p>
        </p:txBody>
      </p:sp>
    </p:spTree>
    <p:extLst>
      <p:ext uri="{BB962C8B-B14F-4D97-AF65-F5344CB8AC3E}">
        <p14:creationId xmlns:p14="http://schemas.microsoft.com/office/powerpoint/2010/main" val="1956633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00000"/>
          </a:solidFill>
          <a:ln/>
        </p:spPr>
        <p:txBody>
          <a:bodyPr/>
          <a:lstStyle/>
          <a:p>
            <a:endParaRPr lang="tr-TR"/>
          </a:p>
        </p:txBody>
      </p:sp>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a:solidFill>
                  <a:srgbClr val="2D2D2D"/>
                </a:solidFill>
                <a:latin typeface="Trebuchet MS" pitchFamily="34" charset="0"/>
                <a:ea typeface="Trebuchet MS" pitchFamily="34" charset="-122"/>
                <a:cs typeface="Trebuchet MS" pitchFamily="34" charset="-120"/>
              </a:rPr>
              <a:t>Eray Gok — Veri Yonetimi</a:t>
            </a:r>
            <a:endParaRPr lang="en-US" sz="2600" b="1" dirty="0">
              <a:solidFill>
                <a:srgbClr val="2D2D2D"/>
              </a:solidFill>
            </a:endParaRPr>
          </a:p>
        </p:txBody>
      </p:sp>
      <p:sp>
        <p:nvSpPr>
          <p:cNvPr id="5" name="Shape 2"/>
          <p:cNvSpPr/>
          <p:nvPr/>
        </p:nvSpPr>
        <p:spPr>
          <a:xfrm>
            <a:off x="457200" y="731520"/>
            <a:ext cx="8229600" cy="18288"/>
          </a:xfrm>
          <a:prstGeom prst="rect">
            <a:avLst/>
          </a:prstGeom>
          <a:solidFill>
            <a:srgbClr val="C00000"/>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43" name="Rectangle 42">
            <a:extLst>
              <a:ext uri="{FF2B5EF4-FFF2-40B4-BE49-F238E27FC236}">
                <a16:creationId xmlns:a16="http://schemas.microsoft.com/office/drawing/2014/main" id="{3115FD0A-2319-41E0-B3BF-8B83A13D3E9C}"/>
              </a:ext>
            </a:extLst>
          </p:cNvPr>
          <p:cNvSpPr/>
          <p:nvPr/>
        </p:nvSpPr>
        <p:spPr>
          <a:xfrm>
            <a:off x="457200" y="863600"/>
            <a:ext cx="50800" cy="3733800"/>
          </a:xfrm>
          <a:prstGeom prst="rect">
            <a:avLst/>
          </a:prstGeom>
          <a:solidFill>
            <a:srgbClr val="BF36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4" name="Rectangle 43">
            <a:extLst>
              <a:ext uri="{FF2B5EF4-FFF2-40B4-BE49-F238E27FC236}">
                <a16:creationId xmlns:a16="http://schemas.microsoft.com/office/drawing/2014/main" id="{09E32D3D-2091-4892-BF36-F9A99D5B399A}"/>
              </a:ext>
            </a:extLst>
          </p:cNvPr>
          <p:cNvSpPr/>
          <p:nvPr/>
        </p:nvSpPr>
        <p:spPr>
          <a:xfrm>
            <a:off x="609600" y="863600"/>
            <a:ext cx="2413000" cy="3733800"/>
          </a:xfrm>
          <a:prstGeom prst="rect">
            <a:avLst/>
          </a:prstGeom>
          <a:solidFill>
            <a:srgbClr val="FDC7C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5" name="TextBox 44">
            <a:extLst>
              <a:ext uri="{FF2B5EF4-FFF2-40B4-BE49-F238E27FC236}">
                <a16:creationId xmlns:a16="http://schemas.microsoft.com/office/drawing/2014/main" id="{67750C60-95B3-4EFB-B921-54301E394B9B}"/>
              </a:ext>
            </a:extLst>
          </p:cNvPr>
          <p:cNvSpPr txBox="1"/>
          <p:nvPr/>
        </p:nvSpPr>
        <p:spPr>
          <a:xfrm>
            <a:off x="698500" y="939800"/>
            <a:ext cx="2235200" cy="406400"/>
          </a:xfrm>
          <a:prstGeom prst="rect">
            <a:avLst/>
          </a:prstGeom>
          <a:noFill/>
        </p:spPr>
        <p:txBody>
          <a:bodyPr vertOverflow="overflow" vert="horz" wrap="square" rtlCol="0" anchor="t">
            <a:spAutoFit/>
          </a:bodyPr>
          <a:lstStyle/>
          <a:p>
            <a:pPr algn="l"/>
            <a:r>
              <a:rPr lang="tr-TR" sz="2000" b="1">
                <a:solidFill>
                  <a:srgbClr val="2D2D2D"/>
                </a:solidFill>
              </a:rPr>
              <a:t>Eray Gok</a:t>
            </a:r>
          </a:p>
        </p:txBody>
      </p:sp>
      <p:sp>
        <p:nvSpPr>
          <p:cNvPr id="46" name="TextBox 45">
            <a:extLst>
              <a:ext uri="{FF2B5EF4-FFF2-40B4-BE49-F238E27FC236}">
                <a16:creationId xmlns:a16="http://schemas.microsoft.com/office/drawing/2014/main" id="{8833CAE1-4F15-43ED-96D3-5621B8DAD63F}"/>
              </a:ext>
            </a:extLst>
          </p:cNvPr>
          <p:cNvSpPr txBox="1"/>
          <p:nvPr/>
        </p:nvSpPr>
        <p:spPr>
          <a:xfrm>
            <a:off x="698500" y="1346200"/>
            <a:ext cx="2235200" cy="279400"/>
          </a:xfrm>
          <a:prstGeom prst="rect">
            <a:avLst/>
          </a:prstGeom>
          <a:noFill/>
        </p:spPr>
        <p:txBody>
          <a:bodyPr vertOverflow="overflow" vert="horz" wrap="square" rtlCol="0" anchor="t">
            <a:spAutoFit/>
          </a:bodyPr>
          <a:lstStyle/>
          <a:p>
            <a:pPr algn="l"/>
            <a:r>
              <a:rPr lang="tr-TR" sz="1400">
                <a:solidFill>
                  <a:srgbClr val="BF360C"/>
                </a:solidFill>
              </a:rPr>
              <a:t>BACKEND</a:t>
            </a:r>
          </a:p>
        </p:txBody>
      </p:sp>
      <p:sp>
        <p:nvSpPr>
          <p:cNvPr id="47" name="TextBox 46">
            <a:extLst>
              <a:ext uri="{FF2B5EF4-FFF2-40B4-BE49-F238E27FC236}">
                <a16:creationId xmlns:a16="http://schemas.microsoft.com/office/drawing/2014/main" id="{CF230647-1C5F-4FFA-B2B6-2693513C2EAA}"/>
              </a:ext>
            </a:extLst>
          </p:cNvPr>
          <p:cNvSpPr txBox="1"/>
          <p:nvPr/>
        </p:nvSpPr>
        <p:spPr>
          <a:xfrm>
            <a:off x="698500" y="1625600"/>
            <a:ext cx="2235200" cy="254000"/>
          </a:xfrm>
          <a:prstGeom prst="rect">
            <a:avLst/>
          </a:prstGeom>
          <a:noFill/>
        </p:spPr>
        <p:txBody>
          <a:bodyPr vertOverflow="overflow" vert="horz" wrap="square" rtlCol="0" anchor="t">
            <a:spAutoFit/>
          </a:bodyPr>
          <a:lstStyle/>
          <a:p>
            <a:pPr algn="l"/>
            <a:r>
              <a:rPr lang="tr-TR" sz="1400" dirty="0">
                <a:solidFill>
                  <a:srgbClr val="888888"/>
                </a:solidFill>
              </a:rPr>
              <a:t>feature/veri-yonetim</a:t>
            </a:r>
          </a:p>
        </p:txBody>
      </p:sp>
      <p:sp>
        <p:nvSpPr>
          <p:cNvPr id="48" name="Rectangle 47">
            <a:extLst>
              <a:ext uri="{FF2B5EF4-FFF2-40B4-BE49-F238E27FC236}">
                <a16:creationId xmlns:a16="http://schemas.microsoft.com/office/drawing/2014/main" id="{29F4D000-2458-4971-BF91-99A389C10857}"/>
              </a:ext>
            </a:extLst>
          </p:cNvPr>
          <p:cNvSpPr/>
          <p:nvPr/>
        </p:nvSpPr>
        <p:spPr>
          <a:xfrm>
            <a:off x="698500" y="1930400"/>
            <a:ext cx="2032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9" name="TextBox 48">
            <a:extLst>
              <a:ext uri="{FF2B5EF4-FFF2-40B4-BE49-F238E27FC236}">
                <a16:creationId xmlns:a16="http://schemas.microsoft.com/office/drawing/2014/main" id="{208CEAF2-3975-4A90-A543-565C709981C5}"/>
              </a:ext>
            </a:extLst>
          </p:cNvPr>
          <p:cNvSpPr txBox="1"/>
          <p:nvPr/>
        </p:nvSpPr>
        <p:spPr>
          <a:xfrm>
            <a:off x="698500" y="1993900"/>
            <a:ext cx="2235200" cy="254000"/>
          </a:xfrm>
          <a:prstGeom prst="rect">
            <a:avLst/>
          </a:prstGeom>
          <a:noFill/>
        </p:spPr>
        <p:txBody>
          <a:bodyPr vertOverflow="overflow" vert="horz" wrap="square" rtlCol="0" anchor="t">
            <a:spAutoFit/>
          </a:bodyPr>
          <a:lstStyle/>
          <a:p>
            <a:pPr algn="l"/>
            <a:r>
              <a:rPr lang="tr-TR" sz="1400" b="1">
                <a:solidFill>
                  <a:srgbClr val="666666"/>
                </a:solidFill>
              </a:rPr>
              <a:t>Sorumlu Siniflar:</a:t>
            </a:r>
          </a:p>
        </p:txBody>
      </p:sp>
      <p:sp>
        <p:nvSpPr>
          <p:cNvPr id="50" name="TextBox 49">
            <a:extLst>
              <a:ext uri="{FF2B5EF4-FFF2-40B4-BE49-F238E27FC236}">
                <a16:creationId xmlns:a16="http://schemas.microsoft.com/office/drawing/2014/main" id="{73DF64CC-EA9A-4FC4-86FF-B88F4D260622}"/>
              </a:ext>
            </a:extLst>
          </p:cNvPr>
          <p:cNvSpPr txBox="1"/>
          <p:nvPr/>
        </p:nvSpPr>
        <p:spPr>
          <a:xfrm>
            <a:off x="762000" y="2273300"/>
            <a:ext cx="2171700" cy="254000"/>
          </a:xfrm>
          <a:prstGeom prst="rect">
            <a:avLst/>
          </a:prstGeom>
          <a:noFill/>
        </p:spPr>
        <p:txBody>
          <a:bodyPr vertOverflow="overflow" vert="horz" wrap="square" rtlCol="0" anchor="t">
            <a:spAutoFit/>
          </a:bodyPr>
          <a:lstStyle/>
          <a:p>
            <a:pPr algn="l"/>
            <a:r>
              <a:rPr lang="tr-TR" sz="1400">
                <a:solidFill>
                  <a:srgbClr val="444444"/>
                </a:solidFill>
              </a:rPr>
              <a:t>• AracListesi (LinkedList)</a:t>
            </a:r>
          </a:p>
        </p:txBody>
      </p:sp>
      <p:sp>
        <p:nvSpPr>
          <p:cNvPr id="51" name="TextBox 50">
            <a:extLst>
              <a:ext uri="{FF2B5EF4-FFF2-40B4-BE49-F238E27FC236}">
                <a16:creationId xmlns:a16="http://schemas.microsoft.com/office/drawing/2014/main" id="{05AEC79E-137C-4E69-901F-72D2026E2048}"/>
              </a:ext>
            </a:extLst>
          </p:cNvPr>
          <p:cNvSpPr txBox="1"/>
          <p:nvPr/>
        </p:nvSpPr>
        <p:spPr>
          <a:xfrm>
            <a:off x="762000" y="2552700"/>
            <a:ext cx="2171700" cy="254000"/>
          </a:xfrm>
          <a:prstGeom prst="rect">
            <a:avLst/>
          </a:prstGeom>
          <a:noFill/>
        </p:spPr>
        <p:txBody>
          <a:bodyPr vertOverflow="overflow" vert="horz" wrap="square" rtlCol="0" anchor="t">
            <a:spAutoFit/>
          </a:bodyPr>
          <a:lstStyle/>
          <a:p>
            <a:pPr algn="l"/>
            <a:r>
              <a:rPr lang="tr-TR" sz="1400">
                <a:solidFill>
                  <a:srgbClr val="444444"/>
                </a:solidFill>
              </a:rPr>
              <a:t>• MusteriAgaci (BST)</a:t>
            </a:r>
          </a:p>
        </p:txBody>
      </p:sp>
      <p:sp>
        <p:nvSpPr>
          <p:cNvPr id="52" name="TextBox 51">
            <a:extLst>
              <a:ext uri="{FF2B5EF4-FFF2-40B4-BE49-F238E27FC236}">
                <a16:creationId xmlns:a16="http://schemas.microsoft.com/office/drawing/2014/main" id="{8E8F4504-9170-4A84-8BA6-6C0A5195A821}"/>
              </a:ext>
            </a:extLst>
          </p:cNvPr>
          <p:cNvSpPr txBox="1"/>
          <p:nvPr/>
        </p:nvSpPr>
        <p:spPr>
          <a:xfrm>
            <a:off x="762000" y="2832100"/>
            <a:ext cx="2171700" cy="254000"/>
          </a:xfrm>
          <a:prstGeom prst="rect">
            <a:avLst/>
          </a:prstGeom>
          <a:noFill/>
        </p:spPr>
        <p:txBody>
          <a:bodyPr vertOverflow="overflow" vert="horz" wrap="square" rtlCol="0" anchor="t">
            <a:spAutoFit/>
          </a:bodyPr>
          <a:lstStyle/>
          <a:p>
            <a:pPr algn="l"/>
            <a:r>
              <a:rPr lang="tr-TR" sz="1400">
                <a:solidFill>
                  <a:srgbClr val="444444"/>
                </a:solidFill>
              </a:rPr>
              <a:t>• AracYonetimi (Singleton)</a:t>
            </a:r>
          </a:p>
        </p:txBody>
      </p:sp>
      <p:sp>
        <p:nvSpPr>
          <p:cNvPr id="53" name="TextBox 52">
            <a:extLst>
              <a:ext uri="{FF2B5EF4-FFF2-40B4-BE49-F238E27FC236}">
                <a16:creationId xmlns:a16="http://schemas.microsoft.com/office/drawing/2014/main" id="{8960D39A-F453-48D8-921C-4D15B2403610}"/>
              </a:ext>
            </a:extLst>
          </p:cNvPr>
          <p:cNvSpPr txBox="1"/>
          <p:nvPr/>
        </p:nvSpPr>
        <p:spPr>
          <a:xfrm>
            <a:off x="762000" y="3111500"/>
            <a:ext cx="2171700" cy="254000"/>
          </a:xfrm>
          <a:prstGeom prst="rect">
            <a:avLst/>
          </a:prstGeom>
          <a:noFill/>
        </p:spPr>
        <p:txBody>
          <a:bodyPr vertOverflow="overflow" vert="horz" wrap="square" rtlCol="0" anchor="t">
            <a:spAutoFit/>
          </a:bodyPr>
          <a:lstStyle/>
          <a:p>
            <a:pPr algn="l"/>
            <a:r>
              <a:rPr lang="tr-TR" sz="1400">
                <a:solidFill>
                  <a:srgbClr val="444444"/>
                </a:solidFill>
              </a:rPr>
              <a:t>• MusteriYonetimi (Singleton)</a:t>
            </a:r>
          </a:p>
        </p:txBody>
      </p:sp>
      <p:sp>
        <p:nvSpPr>
          <p:cNvPr id="54" name="TextBox 53">
            <a:extLst>
              <a:ext uri="{FF2B5EF4-FFF2-40B4-BE49-F238E27FC236}">
                <a16:creationId xmlns:a16="http://schemas.microsoft.com/office/drawing/2014/main" id="{D0AE900E-C455-474D-A2F3-3C01E0750212}"/>
              </a:ext>
            </a:extLst>
          </p:cNvPr>
          <p:cNvSpPr txBox="1"/>
          <p:nvPr/>
        </p:nvSpPr>
        <p:spPr>
          <a:xfrm>
            <a:off x="762000" y="3534664"/>
            <a:ext cx="2171700" cy="254000"/>
          </a:xfrm>
          <a:prstGeom prst="rect">
            <a:avLst/>
          </a:prstGeom>
          <a:noFill/>
        </p:spPr>
        <p:txBody>
          <a:bodyPr vertOverflow="overflow" vert="horz" wrap="square" rtlCol="0" anchor="t">
            <a:spAutoFit/>
          </a:bodyPr>
          <a:lstStyle/>
          <a:p>
            <a:pPr algn="l"/>
            <a:r>
              <a:rPr lang="tr-TR" sz="1400" dirty="0">
                <a:solidFill>
                  <a:srgbClr val="444444"/>
                </a:solidFill>
              </a:rPr>
              <a:t>• Test sinifi</a:t>
            </a:r>
          </a:p>
        </p:txBody>
      </p:sp>
      <p:sp>
        <p:nvSpPr>
          <p:cNvPr id="55" name="Rectangle 54">
            <a:extLst>
              <a:ext uri="{FF2B5EF4-FFF2-40B4-BE49-F238E27FC236}">
                <a16:creationId xmlns:a16="http://schemas.microsoft.com/office/drawing/2014/main" id="{DE4410F4-AB3F-4932-B64C-E8AA30B1E382}"/>
              </a:ext>
            </a:extLst>
          </p:cNvPr>
          <p:cNvSpPr/>
          <p:nvPr/>
        </p:nvSpPr>
        <p:spPr>
          <a:xfrm>
            <a:off x="3175000" y="863600"/>
            <a:ext cx="5359400" cy="3733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6" name="Rectangle 55">
            <a:extLst>
              <a:ext uri="{FF2B5EF4-FFF2-40B4-BE49-F238E27FC236}">
                <a16:creationId xmlns:a16="http://schemas.microsoft.com/office/drawing/2014/main" id="{3C0B540B-2733-459C-953A-3B161FA3250F}"/>
              </a:ext>
            </a:extLst>
          </p:cNvPr>
          <p:cNvSpPr/>
          <p:nvPr/>
        </p:nvSpPr>
        <p:spPr>
          <a:xfrm>
            <a:off x="3175000" y="863600"/>
            <a:ext cx="5359400" cy="330200"/>
          </a:xfrm>
          <a:prstGeom prst="rect">
            <a:avLst/>
          </a:prstGeom>
          <a:solidFill>
            <a:srgbClr val="BF36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57" name="TextBox 56">
            <a:extLst>
              <a:ext uri="{FF2B5EF4-FFF2-40B4-BE49-F238E27FC236}">
                <a16:creationId xmlns:a16="http://schemas.microsoft.com/office/drawing/2014/main" id="{5C73894F-56B3-42F2-84EC-440791C04567}"/>
              </a:ext>
            </a:extLst>
          </p:cNvPr>
          <p:cNvSpPr txBox="1"/>
          <p:nvPr/>
        </p:nvSpPr>
        <p:spPr>
          <a:xfrm>
            <a:off x="3251200" y="889000"/>
            <a:ext cx="5207000" cy="279400"/>
          </a:xfrm>
          <a:prstGeom prst="rect">
            <a:avLst/>
          </a:prstGeom>
          <a:noFill/>
        </p:spPr>
        <p:txBody>
          <a:bodyPr vertOverflow="overflow" vert="horz" wrap="square" rtlCol="0" anchor="t">
            <a:spAutoFit/>
          </a:bodyPr>
          <a:lstStyle/>
          <a:p>
            <a:pPr algn="l"/>
            <a:r>
              <a:rPr lang="tr-TR" sz="1600" b="1">
                <a:solidFill>
                  <a:srgbClr val="FFFFFF"/>
                </a:solidFill>
              </a:rPr>
              <a:t>Gorev Tanimi</a:t>
            </a:r>
          </a:p>
        </p:txBody>
      </p:sp>
      <p:sp>
        <p:nvSpPr>
          <p:cNvPr id="58" name="TextBox 57">
            <a:extLst>
              <a:ext uri="{FF2B5EF4-FFF2-40B4-BE49-F238E27FC236}">
                <a16:creationId xmlns:a16="http://schemas.microsoft.com/office/drawing/2014/main" id="{A9806EB5-3F7A-4646-A8F9-E87130ACFC34}"/>
              </a:ext>
            </a:extLst>
          </p:cNvPr>
          <p:cNvSpPr txBox="1"/>
          <p:nvPr/>
        </p:nvSpPr>
        <p:spPr>
          <a:xfrm>
            <a:off x="3251200" y="1244600"/>
            <a:ext cx="5207000" cy="660400"/>
          </a:xfrm>
          <a:prstGeom prst="rect">
            <a:avLst/>
          </a:prstGeom>
          <a:noFill/>
        </p:spPr>
        <p:txBody>
          <a:bodyPr vertOverflow="overflow" vert="horz" wrap="square" rtlCol="0" anchor="t">
            <a:spAutoFit/>
          </a:bodyPr>
          <a:lstStyle/>
          <a:p>
            <a:pPr algn="l"/>
            <a:r>
              <a:rPr lang="tr-TR" sz="1400">
                <a:solidFill>
                  <a:srgbClr val="333333"/>
                </a:solidFill>
              </a:rPr>
              <a:t>Projenin tum veri yapilarini ve yonetim singletonlarini tasarlar ve gelistirir. LinkedList ile arac koleksiyonu, BST ile musteri arama; AracYonetimi ve MusteriYonetimi Singleton'lari tum modullere hizmet eder.</a:t>
            </a:r>
          </a:p>
        </p:txBody>
      </p:sp>
      <p:sp>
        <p:nvSpPr>
          <p:cNvPr id="59" name="Rectangle 58">
            <a:extLst>
              <a:ext uri="{FF2B5EF4-FFF2-40B4-BE49-F238E27FC236}">
                <a16:creationId xmlns:a16="http://schemas.microsoft.com/office/drawing/2014/main" id="{9E99F0C4-12F8-451A-B8AB-4588887E56D3}"/>
              </a:ext>
            </a:extLst>
          </p:cNvPr>
          <p:cNvSpPr/>
          <p:nvPr/>
        </p:nvSpPr>
        <p:spPr>
          <a:xfrm>
            <a:off x="3175000" y="19431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0" name="TextBox 59">
            <a:extLst>
              <a:ext uri="{FF2B5EF4-FFF2-40B4-BE49-F238E27FC236}">
                <a16:creationId xmlns:a16="http://schemas.microsoft.com/office/drawing/2014/main" id="{B10D6794-B315-4CF3-BD06-4F5E9543F133}"/>
              </a:ext>
            </a:extLst>
          </p:cNvPr>
          <p:cNvSpPr txBox="1"/>
          <p:nvPr/>
        </p:nvSpPr>
        <p:spPr>
          <a:xfrm>
            <a:off x="3251200" y="1968500"/>
            <a:ext cx="5207000" cy="254000"/>
          </a:xfrm>
          <a:prstGeom prst="rect">
            <a:avLst/>
          </a:prstGeom>
          <a:noFill/>
        </p:spPr>
        <p:txBody>
          <a:bodyPr vertOverflow="overflow" vert="horz" wrap="square" rtlCol="0" anchor="t">
            <a:spAutoFit/>
          </a:bodyPr>
          <a:lstStyle/>
          <a:p>
            <a:pPr algn="l"/>
            <a:r>
              <a:rPr lang="tr-TR" sz="1500" b="1">
                <a:solidFill>
                  <a:srgbClr val="2D2D2D"/>
                </a:solidFill>
              </a:rPr>
              <a:t>Ne Yapilacak?</a:t>
            </a:r>
          </a:p>
        </p:txBody>
      </p:sp>
      <p:sp>
        <p:nvSpPr>
          <p:cNvPr id="61" name="TextBox 60">
            <a:extLst>
              <a:ext uri="{FF2B5EF4-FFF2-40B4-BE49-F238E27FC236}">
                <a16:creationId xmlns:a16="http://schemas.microsoft.com/office/drawing/2014/main" id="{A25ABFC9-4F79-4A50-B540-4B8017A2FDDD}"/>
              </a:ext>
            </a:extLst>
          </p:cNvPr>
          <p:cNvSpPr txBox="1"/>
          <p:nvPr/>
        </p:nvSpPr>
        <p:spPr>
          <a:xfrm>
            <a:off x="3251200" y="2273300"/>
            <a:ext cx="5207000" cy="307777"/>
          </a:xfrm>
          <a:prstGeom prst="rect">
            <a:avLst/>
          </a:prstGeom>
          <a:noFill/>
        </p:spPr>
        <p:txBody>
          <a:bodyPr vertOverflow="overflow" vert="horz" wrap="square" rtlCol="0" anchor="t">
            <a:spAutoFit/>
          </a:bodyPr>
          <a:lstStyle/>
          <a:p>
            <a:pPr algn="l"/>
            <a:r>
              <a:rPr lang="sv-SE" sz="1400" dirty="0">
                <a:solidFill>
                  <a:srgbClr val="333333"/>
                </a:solidFill>
              </a:rPr>
              <a:t>• </a:t>
            </a:r>
            <a:r>
              <a:rPr lang="sv-SE" sz="1300" dirty="0">
                <a:solidFill>
                  <a:srgbClr val="333333"/>
                </a:solidFill>
              </a:rPr>
              <a:t>Node&lt;T&gt;, TreeNode&lt;T&gt; generic inner class iskeletleri</a:t>
            </a:r>
            <a:endParaRPr lang="tr-TR" sz="1300" dirty="0">
              <a:solidFill>
                <a:srgbClr val="333333"/>
              </a:solidFill>
            </a:endParaRPr>
          </a:p>
        </p:txBody>
      </p:sp>
      <p:sp>
        <p:nvSpPr>
          <p:cNvPr id="62" name="TextBox 61">
            <a:extLst>
              <a:ext uri="{FF2B5EF4-FFF2-40B4-BE49-F238E27FC236}">
                <a16:creationId xmlns:a16="http://schemas.microsoft.com/office/drawing/2014/main" id="{2D2EEC2D-83A4-4E7B-9870-F2EA8F126A77}"/>
              </a:ext>
            </a:extLst>
          </p:cNvPr>
          <p:cNvSpPr txBox="1"/>
          <p:nvPr/>
        </p:nvSpPr>
        <p:spPr>
          <a:xfrm>
            <a:off x="3251200" y="2578100"/>
            <a:ext cx="5207000" cy="292388"/>
          </a:xfrm>
          <a:prstGeom prst="rect">
            <a:avLst/>
          </a:prstGeom>
          <a:noFill/>
        </p:spPr>
        <p:txBody>
          <a:bodyPr vertOverflow="overflow" vert="horz" wrap="square" rtlCol="0" anchor="t">
            <a:spAutoFit/>
          </a:bodyPr>
          <a:lstStyle/>
          <a:p>
            <a:pPr algn="l"/>
            <a:r>
              <a:rPr lang="tr-TR" sz="1300" dirty="0">
                <a:solidFill>
                  <a:srgbClr val="333333"/>
                </a:solidFill>
              </a:rPr>
              <a:t>• AracListesi ekle/sil/getBoyut, MusteriAgaci ekle/ara, PR</a:t>
            </a:r>
          </a:p>
        </p:txBody>
      </p:sp>
      <p:sp>
        <p:nvSpPr>
          <p:cNvPr id="63" name="TextBox 62">
            <a:extLst>
              <a:ext uri="{FF2B5EF4-FFF2-40B4-BE49-F238E27FC236}">
                <a16:creationId xmlns:a16="http://schemas.microsoft.com/office/drawing/2014/main" id="{C49DEDF6-0161-4ABF-B008-FC97675670B0}"/>
              </a:ext>
            </a:extLst>
          </p:cNvPr>
          <p:cNvSpPr txBox="1"/>
          <p:nvPr/>
        </p:nvSpPr>
        <p:spPr>
          <a:xfrm>
            <a:off x="3251200" y="2882900"/>
            <a:ext cx="5207000" cy="307777"/>
          </a:xfrm>
          <a:prstGeom prst="rect">
            <a:avLst/>
          </a:prstGeom>
          <a:noFill/>
        </p:spPr>
        <p:txBody>
          <a:bodyPr vertOverflow="overflow" vert="horz" wrap="square" rtlCol="0" anchor="t">
            <a:spAutoFit/>
          </a:bodyPr>
          <a:lstStyle/>
          <a:p>
            <a:pPr algn="l"/>
            <a:r>
              <a:rPr lang="tr-TR" sz="1400" dirty="0">
                <a:solidFill>
                  <a:srgbClr val="333333"/>
                </a:solidFill>
              </a:rPr>
              <a:t>• </a:t>
            </a:r>
            <a:r>
              <a:rPr lang="tr-TR" sz="1300" dirty="0">
                <a:solidFill>
                  <a:srgbClr val="333333"/>
                </a:solidFill>
              </a:rPr>
              <a:t>AracListesi ara/sirala/filtrele, MusteriAgaci        sil/tumMusteriler</a:t>
            </a:r>
          </a:p>
        </p:txBody>
      </p:sp>
      <p:sp>
        <p:nvSpPr>
          <p:cNvPr id="64" name="TextBox 63">
            <a:extLst>
              <a:ext uri="{FF2B5EF4-FFF2-40B4-BE49-F238E27FC236}">
                <a16:creationId xmlns:a16="http://schemas.microsoft.com/office/drawing/2014/main" id="{06ADE2AA-690C-4E95-892F-CDF91E3DE06E}"/>
              </a:ext>
            </a:extLst>
          </p:cNvPr>
          <p:cNvSpPr txBox="1"/>
          <p:nvPr/>
        </p:nvSpPr>
        <p:spPr>
          <a:xfrm>
            <a:off x="3251200" y="3184183"/>
            <a:ext cx="5207000" cy="292388"/>
          </a:xfrm>
          <a:prstGeom prst="rect">
            <a:avLst/>
          </a:prstGeom>
          <a:noFill/>
        </p:spPr>
        <p:txBody>
          <a:bodyPr vertOverflow="overflow" vert="horz" wrap="square" rtlCol="0" anchor="t">
            <a:spAutoFit/>
          </a:bodyPr>
          <a:lstStyle/>
          <a:p>
            <a:pPr algn="l"/>
            <a:r>
              <a:rPr lang="tr-TR" sz="1300" dirty="0">
                <a:solidFill>
                  <a:srgbClr val="333333"/>
                </a:solidFill>
              </a:rPr>
              <a:t>• Veri yapisi testleri, siraliListele(), PR -&gt; develop</a:t>
            </a:r>
          </a:p>
        </p:txBody>
      </p:sp>
      <p:sp>
        <p:nvSpPr>
          <p:cNvPr id="65" name="TextBox 64">
            <a:extLst>
              <a:ext uri="{FF2B5EF4-FFF2-40B4-BE49-F238E27FC236}">
                <a16:creationId xmlns:a16="http://schemas.microsoft.com/office/drawing/2014/main" id="{817D17D8-C16C-4780-AE74-BA44897A2856}"/>
              </a:ext>
            </a:extLst>
          </p:cNvPr>
          <p:cNvSpPr txBox="1"/>
          <p:nvPr/>
        </p:nvSpPr>
        <p:spPr>
          <a:xfrm>
            <a:off x="3251200" y="3492500"/>
            <a:ext cx="5207000" cy="292388"/>
          </a:xfrm>
          <a:prstGeom prst="rect">
            <a:avLst/>
          </a:prstGeom>
          <a:noFill/>
        </p:spPr>
        <p:txBody>
          <a:bodyPr vertOverflow="overflow" vert="horz" wrap="square" rtlCol="0" anchor="t">
            <a:spAutoFit/>
          </a:bodyPr>
          <a:lstStyle/>
          <a:p>
            <a:pPr algn="l"/>
            <a:r>
              <a:rPr lang="tr-TR" sz="1300" dirty="0">
                <a:solidFill>
                  <a:srgbClr val="333333"/>
                </a:solidFill>
              </a:rPr>
              <a:t>•  AracYonetimi Singleton - CRUD + Aranabilir + stokRaporu</a:t>
            </a:r>
          </a:p>
        </p:txBody>
      </p:sp>
      <p:sp>
        <p:nvSpPr>
          <p:cNvPr id="66" name="TextBox 65">
            <a:extLst>
              <a:ext uri="{FF2B5EF4-FFF2-40B4-BE49-F238E27FC236}">
                <a16:creationId xmlns:a16="http://schemas.microsoft.com/office/drawing/2014/main" id="{F32DCF20-4023-4F68-8AF1-5BF7B99972D8}"/>
              </a:ext>
            </a:extLst>
          </p:cNvPr>
          <p:cNvSpPr txBox="1"/>
          <p:nvPr/>
        </p:nvSpPr>
        <p:spPr>
          <a:xfrm>
            <a:off x="3251200" y="3771900"/>
            <a:ext cx="5207000" cy="292388"/>
          </a:xfrm>
          <a:prstGeom prst="rect">
            <a:avLst/>
          </a:prstGeom>
          <a:noFill/>
        </p:spPr>
        <p:txBody>
          <a:bodyPr vertOverflow="overflow" vert="horz" wrap="square" rtlCol="0" anchor="t">
            <a:spAutoFit/>
          </a:bodyPr>
          <a:lstStyle/>
          <a:p>
            <a:pPr algn="l"/>
            <a:r>
              <a:rPr lang="tr-TR" sz="1300" dirty="0">
                <a:solidFill>
                  <a:srgbClr val="333333"/>
                </a:solidFill>
              </a:rPr>
              <a:t>• MusteriYonetimi Singleton - CRUD + Aranabilir, testler</a:t>
            </a:r>
          </a:p>
        </p:txBody>
      </p:sp>
      <p:sp>
        <p:nvSpPr>
          <p:cNvPr id="67" name="Rectangle 66">
            <a:extLst>
              <a:ext uri="{FF2B5EF4-FFF2-40B4-BE49-F238E27FC236}">
                <a16:creationId xmlns:a16="http://schemas.microsoft.com/office/drawing/2014/main" id="{C9940364-3916-4DD9-8D7F-A55E8DD33350}"/>
              </a:ext>
            </a:extLst>
          </p:cNvPr>
          <p:cNvSpPr/>
          <p:nvPr/>
        </p:nvSpPr>
        <p:spPr>
          <a:xfrm>
            <a:off x="3175000" y="4127500"/>
            <a:ext cx="5359400" cy="279400"/>
          </a:xfrm>
          <a:prstGeom prst="rect">
            <a:avLst/>
          </a:prstGeom>
          <a:solidFill>
            <a:srgbClr val="F0F0F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68" name="TextBox 67">
            <a:extLst>
              <a:ext uri="{FF2B5EF4-FFF2-40B4-BE49-F238E27FC236}">
                <a16:creationId xmlns:a16="http://schemas.microsoft.com/office/drawing/2014/main" id="{64F2D9F3-1D0B-4CAE-8789-77AC3C657F40}"/>
              </a:ext>
            </a:extLst>
          </p:cNvPr>
          <p:cNvSpPr txBox="1"/>
          <p:nvPr/>
        </p:nvSpPr>
        <p:spPr>
          <a:xfrm>
            <a:off x="3251200" y="4152900"/>
            <a:ext cx="5207000" cy="254000"/>
          </a:xfrm>
          <a:prstGeom prst="rect">
            <a:avLst/>
          </a:prstGeom>
          <a:noFill/>
        </p:spPr>
        <p:txBody>
          <a:bodyPr vertOverflow="overflow" vert="horz" wrap="square" rtlCol="0" anchor="t">
            <a:spAutoFit/>
          </a:bodyPr>
          <a:lstStyle/>
          <a:p>
            <a:pPr algn="l"/>
            <a:r>
              <a:rPr lang="tr-TR" sz="1500" b="1">
                <a:solidFill>
                  <a:srgbClr val="2D2D2D"/>
                </a:solidFill>
              </a:rPr>
              <a:t>Temel Mantik</a:t>
            </a:r>
          </a:p>
        </p:txBody>
      </p:sp>
      <p:sp>
        <p:nvSpPr>
          <p:cNvPr id="69" name="TextBox 68">
            <a:extLst>
              <a:ext uri="{FF2B5EF4-FFF2-40B4-BE49-F238E27FC236}">
                <a16:creationId xmlns:a16="http://schemas.microsoft.com/office/drawing/2014/main" id="{7125B4A2-DB55-45E0-9C52-BD8501ACA5AC}"/>
              </a:ext>
            </a:extLst>
          </p:cNvPr>
          <p:cNvSpPr txBox="1"/>
          <p:nvPr/>
        </p:nvSpPr>
        <p:spPr>
          <a:xfrm>
            <a:off x="3251200" y="4432300"/>
            <a:ext cx="5207000" cy="558800"/>
          </a:xfrm>
          <a:prstGeom prst="rect">
            <a:avLst/>
          </a:prstGeom>
          <a:noFill/>
        </p:spPr>
        <p:txBody>
          <a:bodyPr vertOverflow="overflow" vert="horz" wrap="square" rtlCol="0" anchor="t">
            <a:spAutoFit/>
          </a:bodyPr>
          <a:lstStyle/>
          <a:p>
            <a:pPr algn="l"/>
            <a:r>
              <a:rPr lang="tr-TR" sz="1400">
                <a:solidFill>
                  <a:srgbClr val="555555"/>
                </a:solidFill>
              </a:rPr>
              <a:t>LinkedList O(n) sirali erisim saglar; BST O(log n) arama/ekleme/silme. Generic yapilari (Node&lt;T&gt;, TreeNode&lt;T&gt;) hem Arac hem Musteri tiplerini destekler. Singleton'lar tek ornek garantisiyle veri tutarliligini korur.</a:t>
            </a:r>
          </a:p>
        </p:txBody>
      </p:sp>
    </p:spTree>
    <p:extLst>
      <p:ext uri="{BB962C8B-B14F-4D97-AF65-F5344CB8AC3E}">
        <p14:creationId xmlns:p14="http://schemas.microsoft.com/office/powerpoint/2010/main" val="1657704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Gereksinimler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1005840"/>
            <a:ext cx="3840480" cy="164592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Text 5"/>
          <p:cNvSpPr/>
          <p:nvPr/>
        </p:nvSpPr>
        <p:spPr>
          <a:xfrm>
            <a:off x="731520" y="1097280"/>
            <a:ext cx="3291840" cy="320040"/>
          </a:xfrm>
          <a:prstGeom prst="rect">
            <a:avLst/>
          </a:prstGeom>
          <a:noFill/>
          <a:ln/>
        </p:spPr>
        <p:txBody>
          <a:bodyPr wrap="square" lIns="0" tIns="0" rIns="0" bIns="0" rtlCol="0" anchor="ctr"/>
          <a:lstStyle/>
          <a:p>
            <a:pPr marL="0" indent="0">
              <a:buNone/>
            </a:pPr>
            <a:r>
              <a:rPr lang="en-US" sz="1600" b="1" dirty="0">
                <a:solidFill>
                  <a:srgbClr val="2D2D2D"/>
                </a:solidFill>
                <a:latin typeface="Trebuchet MS" pitchFamily="34" charset="0"/>
                <a:ea typeface="Trebuchet MS" pitchFamily="34" charset="-122"/>
                <a:cs typeface="Trebuchet MS" pitchFamily="34" charset="-120"/>
              </a:rPr>
              <a:t>IEEE 830 SRS Belgesi</a:t>
            </a:r>
            <a:endParaRPr lang="en-US" sz="1600" dirty="0"/>
          </a:p>
        </p:txBody>
      </p:sp>
      <p:sp>
        <p:nvSpPr>
          <p:cNvPr id="9" name="Text 6"/>
          <p:cNvSpPr/>
          <p:nvPr/>
        </p:nvSpPr>
        <p:spPr>
          <a:xfrm>
            <a:off x="731520" y="1463040"/>
            <a:ext cx="1371600" cy="731520"/>
          </a:xfrm>
          <a:prstGeom prst="rect">
            <a:avLst/>
          </a:prstGeom>
          <a:noFill/>
          <a:ln/>
        </p:spPr>
        <p:txBody>
          <a:bodyPr wrap="square" lIns="0" tIns="0" rIns="0" bIns="0" rtlCol="0" anchor="ctr"/>
          <a:lstStyle/>
          <a:p>
            <a:pPr marL="0" indent="0">
              <a:buNone/>
            </a:pPr>
            <a:r>
              <a:rPr lang="en-US" sz="4800" b="1" dirty="0">
                <a:solidFill>
                  <a:srgbClr val="E87722"/>
                </a:solidFill>
                <a:latin typeface="Trebuchet MS" pitchFamily="34" charset="0"/>
                <a:ea typeface="Trebuchet MS" pitchFamily="34" charset="-122"/>
                <a:cs typeface="Trebuchet MS" pitchFamily="34" charset="-120"/>
              </a:rPr>
              <a:t>43+</a:t>
            </a:r>
            <a:endParaRPr lang="en-US" sz="4800" dirty="0"/>
          </a:p>
        </p:txBody>
      </p:sp>
      <p:sp>
        <p:nvSpPr>
          <p:cNvPr id="10" name="Text 7"/>
          <p:cNvSpPr/>
          <p:nvPr/>
        </p:nvSpPr>
        <p:spPr>
          <a:xfrm>
            <a:off x="2103120" y="1737360"/>
            <a:ext cx="1371600" cy="365760"/>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sayfa</a:t>
            </a:r>
            <a:endParaRPr lang="en-US" sz="1400" dirty="0"/>
          </a:p>
        </p:txBody>
      </p:sp>
      <p:sp>
        <p:nvSpPr>
          <p:cNvPr id="11" name="Shape 8"/>
          <p:cNvSpPr/>
          <p:nvPr/>
        </p:nvSpPr>
        <p:spPr>
          <a:xfrm>
            <a:off x="4754880" y="100584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2" name="Text 9"/>
          <p:cNvSpPr/>
          <p:nvPr/>
        </p:nvSpPr>
        <p:spPr>
          <a:xfrm>
            <a:off x="4937760" y="109728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24</a:t>
            </a:r>
            <a:endParaRPr lang="en-US" sz="3200" dirty="0"/>
          </a:p>
        </p:txBody>
      </p:sp>
      <p:sp>
        <p:nvSpPr>
          <p:cNvPr id="13" name="Text 10"/>
          <p:cNvSpPr/>
          <p:nvPr/>
        </p:nvSpPr>
        <p:spPr>
          <a:xfrm>
            <a:off x="5943600" y="109728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Fonksiyonel Gereksinim</a:t>
            </a:r>
            <a:endParaRPr lang="en-US" sz="1400" dirty="0"/>
          </a:p>
        </p:txBody>
      </p:sp>
      <p:sp>
        <p:nvSpPr>
          <p:cNvPr id="14" name="Text 11"/>
          <p:cNvSpPr/>
          <p:nvPr/>
        </p:nvSpPr>
        <p:spPr>
          <a:xfrm>
            <a:off x="5943600" y="146304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FR-101 → FR-604</a:t>
            </a:r>
            <a:endParaRPr lang="en-US" sz="1100" dirty="0"/>
          </a:p>
        </p:txBody>
      </p:sp>
      <p:sp>
        <p:nvSpPr>
          <p:cNvPr id="15" name="Shape 12"/>
          <p:cNvSpPr/>
          <p:nvPr/>
        </p:nvSpPr>
        <p:spPr>
          <a:xfrm>
            <a:off x="4754880" y="224028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4937760" y="233172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6</a:t>
            </a:r>
            <a:endParaRPr lang="en-US" sz="3200" dirty="0"/>
          </a:p>
        </p:txBody>
      </p:sp>
      <p:sp>
        <p:nvSpPr>
          <p:cNvPr id="17" name="Text 14"/>
          <p:cNvSpPr/>
          <p:nvPr/>
        </p:nvSpPr>
        <p:spPr>
          <a:xfrm>
            <a:off x="5943600" y="233172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Fonksiyonel Olmayan</a:t>
            </a:r>
            <a:endParaRPr lang="en-US" sz="1400" dirty="0"/>
          </a:p>
        </p:txBody>
      </p:sp>
      <p:sp>
        <p:nvSpPr>
          <p:cNvPr id="18" name="Text 15"/>
          <p:cNvSpPr/>
          <p:nvPr/>
        </p:nvSpPr>
        <p:spPr>
          <a:xfrm>
            <a:off x="5943600" y="269748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Performans, Güvenlik, ...</a:t>
            </a:r>
            <a:endParaRPr lang="en-US" sz="1100" dirty="0"/>
          </a:p>
        </p:txBody>
      </p:sp>
      <p:sp>
        <p:nvSpPr>
          <p:cNvPr id="19" name="Shape 16"/>
          <p:cNvSpPr/>
          <p:nvPr/>
        </p:nvSpPr>
        <p:spPr>
          <a:xfrm>
            <a:off x="4754880" y="3474720"/>
            <a:ext cx="3931920" cy="10058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0" name="Text 17"/>
          <p:cNvSpPr/>
          <p:nvPr/>
        </p:nvSpPr>
        <p:spPr>
          <a:xfrm>
            <a:off x="4937760" y="3566160"/>
            <a:ext cx="914400" cy="548640"/>
          </a:xfrm>
          <a:prstGeom prst="rect">
            <a:avLst/>
          </a:prstGeom>
          <a:noFill/>
          <a:ln/>
        </p:spPr>
        <p:txBody>
          <a:bodyPr wrap="square" lIns="0" tIns="0" rIns="0" bIns="0" rtlCol="0" anchor="ctr"/>
          <a:lstStyle/>
          <a:p>
            <a:pPr marL="0" indent="0" algn="ctr">
              <a:buNone/>
            </a:pPr>
            <a:r>
              <a:rPr lang="en-US" sz="3200" b="1" dirty="0">
                <a:solidFill>
                  <a:srgbClr val="E87722"/>
                </a:solidFill>
                <a:latin typeface="Trebuchet MS" pitchFamily="34" charset="0"/>
                <a:ea typeface="Trebuchet MS" pitchFamily="34" charset="-122"/>
                <a:cs typeface="Trebuchet MS" pitchFamily="34" charset="-120"/>
              </a:rPr>
              <a:t>✓</a:t>
            </a:r>
            <a:endParaRPr lang="en-US" sz="3200" dirty="0"/>
          </a:p>
        </p:txBody>
      </p:sp>
      <p:sp>
        <p:nvSpPr>
          <p:cNvPr id="21" name="Text 18"/>
          <p:cNvSpPr/>
          <p:nvPr/>
        </p:nvSpPr>
        <p:spPr>
          <a:xfrm>
            <a:off x="5943600" y="3566160"/>
            <a:ext cx="2560320" cy="32004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Sözde Gereksinimler</a:t>
            </a:r>
            <a:endParaRPr lang="en-US" sz="1400" dirty="0"/>
          </a:p>
        </p:txBody>
      </p:sp>
      <p:sp>
        <p:nvSpPr>
          <p:cNvPr id="22" name="Text 19"/>
          <p:cNvSpPr/>
          <p:nvPr/>
        </p:nvSpPr>
        <p:spPr>
          <a:xfrm>
            <a:off x="5943600" y="3931920"/>
            <a:ext cx="2560320" cy="2743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Tanımlandı</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UML</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457200" y="1005840"/>
            <a:ext cx="3200400" cy="347472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sp>
        <p:nvSpPr>
          <p:cNvPr id="8" name="Text 5"/>
          <p:cNvSpPr/>
          <p:nvPr/>
        </p:nvSpPr>
        <p:spPr>
          <a:xfrm>
            <a:off x="640080" y="1188720"/>
            <a:ext cx="2834640" cy="914400"/>
          </a:xfrm>
          <a:prstGeom prst="rect">
            <a:avLst/>
          </a:prstGeom>
          <a:noFill/>
          <a:ln/>
        </p:spPr>
        <p:txBody>
          <a:bodyPr wrap="square" lIns="0" tIns="0" rIns="0" bIns="0" rtlCol="0" anchor="ctr"/>
          <a:lstStyle/>
          <a:p>
            <a:pPr marL="0" indent="0" algn="ctr">
              <a:buNone/>
            </a:pPr>
            <a:r>
              <a:rPr lang="en-US" sz="6400" b="1" dirty="0">
                <a:solidFill>
                  <a:srgbClr val="E87722"/>
                </a:solidFill>
                <a:latin typeface="Trebuchet MS" pitchFamily="34" charset="0"/>
                <a:ea typeface="Trebuchet MS" pitchFamily="34" charset="-122"/>
                <a:cs typeface="Trebuchet MS" pitchFamily="34" charset="-120"/>
              </a:rPr>
              <a:t>22</a:t>
            </a:r>
            <a:endParaRPr lang="en-US" sz="6400" dirty="0"/>
          </a:p>
        </p:txBody>
      </p:sp>
      <p:sp>
        <p:nvSpPr>
          <p:cNvPr id="9" name="Text 6"/>
          <p:cNvSpPr/>
          <p:nvPr/>
        </p:nvSpPr>
        <p:spPr>
          <a:xfrm>
            <a:off x="640080" y="2103120"/>
            <a:ext cx="2834640" cy="365760"/>
          </a:xfrm>
          <a:prstGeom prst="rect">
            <a:avLst/>
          </a:prstGeom>
          <a:noFill/>
          <a:ln/>
        </p:spPr>
        <p:txBody>
          <a:bodyPr wrap="square" lIns="0" tIns="0" rIns="0" bIns="0" rtlCol="0" anchor="ctr"/>
          <a:lstStyle/>
          <a:p>
            <a:pPr marL="0" indent="0" algn="ctr">
              <a:buNone/>
            </a:pPr>
            <a:r>
              <a:rPr lang="en-US" sz="1400" b="1" dirty="0">
                <a:solidFill>
                  <a:srgbClr val="2D2D2D"/>
                </a:solidFill>
                <a:latin typeface="Calibri" pitchFamily="34" charset="0"/>
                <a:ea typeface="Calibri" pitchFamily="34" charset="-122"/>
                <a:cs typeface="Calibri" pitchFamily="34" charset="-120"/>
              </a:rPr>
              <a:t>Kullanım Durumu (Use Case)</a:t>
            </a:r>
            <a:endParaRPr lang="en-US" sz="1400" dirty="0"/>
          </a:p>
        </p:txBody>
      </p:sp>
      <p:sp>
        <p:nvSpPr>
          <p:cNvPr id="10" name="Text 7"/>
          <p:cNvSpPr/>
          <p:nvPr/>
        </p:nvSpPr>
        <p:spPr>
          <a:xfrm>
            <a:off x="640080" y="2514600"/>
            <a:ext cx="2834640" cy="640080"/>
          </a:xfrm>
          <a:prstGeom prst="rect">
            <a:avLst/>
          </a:prstGeom>
          <a:noFill/>
          <a:ln/>
        </p:spPr>
        <p:txBody>
          <a:bodyPr wrap="square" lIns="0" tIns="0" rIns="0" bIns="0" rtlCol="0" anchor="ctr"/>
          <a:lstStyle/>
          <a:p>
            <a:pPr marL="0" indent="0" algn="ctr">
              <a:buNone/>
            </a:pPr>
            <a:r>
              <a:rPr lang="en-US" sz="1100" dirty="0">
                <a:solidFill>
                  <a:srgbClr val="666666"/>
                </a:solidFill>
                <a:latin typeface="Calibri" pitchFamily="34" charset="0"/>
                <a:ea typeface="Calibri" pitchFamily="34" charset="-122"/>
                <a:cs typeface="Calibri" pitchFamily="34" charset="-120"/>
              </a:rPr>
              <a:t>Her biri alternatif akışlar ve istisnai durumlarla detaylandırılmıştır</a:t>
            </a:r>
            <a:endParaRPr lang="en-US" sz="1100" dirty="0"/>
          </a:p>
        </p:txBody>
      </p:sp>
      <p:sp>
        <p:nvSpPr>
          <p:cNvPr id="11" name="Shape 8"/>
          <p:cNvSpPr/>
          <p:nvPr/>
        </p:nvSpPr>
        <p:spPr>
          <a:xfrm>
            <a:off x="4023360" y="100584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2" name="Text 9"/>
          <p:cNvSpPr/>
          <p:nvPr/>
        </p:nvSpPr>
        <p:spPr>
          <a:xfrm>
            <a:off x="4206240" y="105156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25+</a:t>
            </a:r>
            <a:endParaRPr lang="en-US" sz="2800" dirty="0"/>
          </a:p>
        </p:txBody>
      </p:sp>
      <p:sp>
        <p:nvSpPr>
          <p:cNvPr id="13" name="Text 10"/>
          <p:cNvSpPr/>
          <p:nvPr/>
        </p:nvSpPr>
        <p:spPr>
          <a:xfrm>
            <a:off x="5029200" y="105156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Sınıf Diyagramı</a:t>
            </a:r>
            <a:endParaRPr lang="en-US" sz="1300" dirty="0"/>
          </a:p>
        </p:txBody>
      </p:sp>
      <p:sp>
        <p:nvSpPr>
          <p:cNvPr id="14" name="Text 11"/>
          <p:cNvSpPr/>
          <p:nvPr/>
        </p:nvSpPr>
        <p:spPr>
          <a:xfrm>
            <a:off x="5029200" y="135331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25+ sınıf, 15 ilişki detaylı tablo</a:t>
            </a:r>
            <a:endParaRPr lang="en-US" sz="1000" dirty="0"/>
          </a:p>
        </p:txBody>
      </p:sp>
      <p:sp>
        <p:nvSpPr>
          <p:cNvPr id="15" name="Shape 12"/>
          <p:cNvSpPr/>
          <p:nvPr/>
        </p:nvSpPr>
        <p:spPr>
          <a:xfrm>
            <a:off x="4023360" y="187452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4206240" y="192024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4</a:t>
            </a:r>
            <a:endParaRPr lang="en-US" sz="2800" dirty="0"/>
          </a:p>
        </p:txBody>
      </p:sp>
      <p:sp>
        <p:nvSpPr>
          <p:cNvPr id="17" name="Text 14"/>
          <p:cNvSpPr/>
          <p:nvPr/>
        </p:nvSpPr>
        <p:spPr>
          <a:xfrm>
            <a:off x="5029200" y="192024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Durum Diyagramı</a:t>
            </a:r>
            <a:endParaRPr lang="en-US" sz="1300" dirty="0"/>
          </a:p>
        </p:txBody>
      </p:sp>
      <p:sp>
        <p:nvSpPr>
          <p:cNvPr id="18" name="Text 15"/>
          <p:cNvSpPr/>
          <p:nvPr/>
        </p:nvSpPr>
        <p:spPr>
          <a:xfrm>
            <a:off x="5029200" y="222199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State machine modelleri</a:t>
            </a:r>
            <a:endParaRPr lang="en-US" sz="1000" dirty="0"/>
          </a:p>
        </p:txBody>
      </p:sp>
      <p:sp>
        <p:nvSpPr>
          <p:cNvPr id="19" name="Shape 16"/>
          <p:cNvSpPr/>
          <p:nvPr/>
        </p:nvSpPr>
        <p:spPr>
          <a:xfrm>
            <a:off x="4023360" y="274320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0" name="Text 17"/>
          <p:cNvSpPr/>
          <p:nvPr/>
        </p:nvSpPr>
        <p:spPr>
          <a:xfrm>
            <a:off x="4206240" y="278892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3</a:t>
            </a:r>
            <a:endParaRPr lang="en-US" sz="2800" dirty="0"/>
          </a:p>
        </p:txBody>
      </p:sp>
      <p:sp>
        <p:nvSpPr>
          <p:cNvPr id="21" name="Text 18"/>
          <p:cNvSpPr/>
          <p:nvPr/>
        </p:nvSpPr>
        <p:spPr>
          <a:xfrm>
            <a:off x="5029200" y="278892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Aktivite Diyagramı</a:t>
            </a:r>
            <a:endParaRPr lang="en-US" sz="1300" dirty="0"/>
          </a:p>
        </p:txBody>
      </p:sp>
      <p:sp>
        <p:nvSpPr>
          <p:cNvPr id="22" name="Text 19"/>
          <p:cNvSpPr/>
          <p:nvPr/>
        </p:nvSpPr>
        <p:spPr>
          <a:xfrm>
            <a:off x="5029200" y="309067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İş akışı modelleri</a:t>
            </a:r>
            <a:endParaRPr lang="en-US" sz="1000" dirty="0"/>
          </a:p>
        </p:txBody>
      </p:sp>
      <p:sp>
        <p:nvSpPr>
          <p:cNvPr id="23" name="Shape 20"/>
          <p:cNvSpPr/>
          <p:nvPr/>
        </p:nvSpPr>
        <p:spPr>
          <a:xfrm>
            <a:off x="4023360" y="3611880"/>
            <a:ext cx="4663440" cy="6858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4" name="Text 21"/>
          <p:cNvSpPr/>
          <p:nvPr/>
        </p:nvSpPr>
        <p:spPr>
          <a:xfrm>
            <a:off x="4206240" y="3657600"/>
            <a:ext cx="731520" cy="548640"/>
          </a:xfrm>
          <a:prstGeom prst="rect">
            <a:avLst/>
          </a:prstGeom>
          <a:noFill/>
          <a:ln/>
        </p:spPr>
        <p:txBody>
          <a:bodyPr wrap="square" lIns="0" tIns="0" rIns="0" bIns="0" rtlCol="0" anchor="ctr"/>
          <a:lstStyle/>
          <a:p>
            <a:pPr marL="0" indent="0" algn="ctr">
              <a:buNone/>
            </a:pPr>
            <a:r>
              <a:rPr lang="en-US" sz="2800" b="1" dirty="0">
                <a:solidFill>
                  <a:srgbClr val="E87722"/>
                </a:solidFill>
                <a:latin typeface="Trebuchet MS" pitchFamily="34" charset="0"/>
                <a:ea typeface="Trebuchet MS" pitchFamily="34" charset="-122"/>
                <a:cs typeface="Trebuchet MS" pitchFamily="34" charset="-120"/>
              </a:rPr>
              <a:t>3</a:t>
            </a:r>
            <a:endParaRPr lang="en-US" sz="2800" dirty="0"/>
          </a:p>
        </p:txBody>
      </p:sp>
      <p:sp>
        <p:nvSpPr>
          <p:cNvPr id="25" name="Text 22"/>
          <p:cNvSpPr/>
          <p:nvPr/>
        </p:nvSpPr>
        <p:spPr>
          <a:xfrm>
            <a:off x="5029200" y="3657600"/>
            <a:ext cx="3474720" cy="320040"/>
          </a:xfrm>
          <a:prstGeom prst="rect">
            <a:avLst/>
          </a:prstGeom>
          <a:noFill/>
          <a:ln/>
        </p:spPr>
        <p:txBody>
          <a:bodyPr wrap="square" lIns="0" tIns="0" rIns="0" bIns="0" rtlCol="0" anchor="ctr"/>
          <a:lstStyle/>
          <a:p>
            <a:pPr marL="0" indent="0">
              <a:buNone/>
            </a:pPr>
            <a:r>
              <a:rPr lang="en-US" sz="1300" b="1" dirty="0">
                <a:solidFill>
                  <a:srgbClr val="2D2D2D"/>
                </a:solidFill>
                <a:latin typeface="Calibri" pitchFamily="34" charset="0"/>
                <a:ea typeface="Calibri" pitchFamily="34" charset="-122"/>
                <a:cs typeface="Calibri" pitchFamily="34" charset="-120"/>
              </a:rPr>
              <a:t>Sıra Diyagramı</a:t>
            </a:r>
            <a:endParaRPr lang="en-US" sz="1300" dirty="0"/>
          </a:p>
        </p:txBody>
      </p:sp>
      <p:sp>
        <p:nvSpPr>
          <p:cNvPr id="26" name="Text 23"/>
          <p:cNvSpPr/>
          <p:nvPr/>
        </p:nvSpPr>
        <p:spPr>
          <a:xfrm>
            <a:off x="5029200" y="3959352"/>
            <a:ext cx="347472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Nesne etkileşim senaryoları</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Kullanıcı Arayüzü Tasarımı</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Text 4"/>
          <p:cNvSpPr/>
          <p:nvPr/>
        </p:nvSpPr>
        <p:spPr>
          <a:xfrm>
            <a:off x="457200" y="837301"/>
            <a:ext cx="8229600" cy="282097"/>
          </a:xfrm>
          <a:prstGeom prst="rect">
            <a:avLst/>
          </a:prstGeom>
          <a:noFill/>
          <a:ln/>
        </p:spPr>
        <p:txBody>
          <a:bodyPr wrap="square" lIns="0" tIns="0" rIns="0" bIns="0" rtlCol="0" anchor="ctr"/>
          <a:lstStyle/>
          <a:p>
            <a:pPr marL="0" indent="0">
              <a:buNone/>
            </a:pPr>
            <a:r>
              <a:rPr lang="en-US" sz="1400" dirty="0">
                <a:solidFill>
                  <a:srgbClr val="666666"/>
                </a:solidFill>
                <a:latin typeface="Calibri" pitchFamily="34" charset="0"/>
                <a:ea typeface="Calibri" pitchFamily="34" charset="-122"/>
                <a:cs typeface="Calibri" pitchFamily="34" charset="-120"/>
              </a:rPr>
              <a:t>8 adet modern masaüstü GUI mockup tasarlandı</a:t>
            </a:r>
            <a:endParaRPr lang="en-US" sz="1400" dirty="0"/>
          </a:p>
        </p:txBody>
      </p:sp>
      <p:sp>
        <p:nvSpPr>
          <p:cNvPr id="8" name="Shape 5"/>
          <p:cNvSpPr/>
          <p:nvPr/>
        </p:nvSpPr>
        <p:spPr>
          <a:xfrm>
            <a:off x="45720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9" name="Shape 6"/>
          <p:cNvSpPr/>
          <p:nvPr/>
        </p:nvSpPr>
        <p:spPr>
          <a:xfrm>
            <a:off x="457200" y="1417320"/>
            <a:ext cx="1920240" cy="145288"/>
          </a:xfrm>
          <a:prstGeom prst="rect">
            <a:avLst/>
          </a:prstGeom>
          <a:solidFill>
            <a:srgbClr val="E87722"/>
          </a:solidFill>
          <a:ln/>
        </p:spPr>
        <p:txBody>
          <a:bodyPr/>
          <a:lstStyle/>
          <a:p>
            <a:endParaRPr lang="tr-TR"/>
          </a:p>
        </p:txBody>
      </p:sp>
      <p:sp>
        <p:nvSpPr>
          <p:cNvPr id="10" name="Shape 7"/>
          <p:cNvSpPr/>
          <p:nvPr/>
        </p:nvSpPr>
        <p:spPr>
          <a:xfrm>
            <a:off x="566928" y="1490472"/>
            <a:ext cx="128016" cy="128016"/>
          </a:xfrm>
          <a:prstGeom prst="ellipse">
            <a:avLst/>
          </a:prstGeom>
          <a:solidFill>
            <a:srgbClr val="FFFFFF"/>
          </a:solidFill>
          <a:ln/>
        </p:spPr>
        <p:txBody>
          <a:bodyPr/>
          <a:lstStyle/>
          <a:p>
            <a:endParaRPr lang="tr-TR"/>
          </a:p>
        </p:txBody>
      </p:sp>
      <p:sp>
        <p:nvSpPr>
          <p:cNvPr id="11" name="Shape 8"/>
          <p:cNvSpPr/>
          <p:nvPr/>
        </p:nvSpPr>
        <p:spPr>
          <a:xfrm>
            <a:off x="704088" y="1490472"/>
            <a:ext cx="128016" cy="128016"/>
          </a:xfrm>
          <a:prstGeom prst="ellipse">
            <a:avLst/>
          </a:prstGeom>
          <a:solidFill>
            <a:srgbClr val="FFFFFF"/>
          </a:solidFill>
          <a:ln/>
        </p:spPr>
        <p:txBody>
          <a:bodyPr/>
          <a:lstStyle/>
          <a:p>
            <a:endParaRPr lang="tr-TR"/>
          </a:p>
        </p:txBody>
      </p:sp>
      <p:sp>
        <p:nvSpPr>
          <p:cNvPr id="12" name="Shape 9"/>
          <p:cNvSpPr/>
          <p:nvPr/>
        </p:nvSpPr>
        <p:spPr>
          <a:xfrm>
            <a:off x="841248" y="1490472"/>
            <a:ext cx="128016" cy="128016"/>
          </a:xfrm>
          <a:prstGeom prst="ellipse">
            <a:avLst/>
          </a:prstGeom>
          <a:solidFill>
            <a:srgbClr val="FFFFFF"/>
          </a:solidFill>
          <a:ln/>
        </p:spPr>
        <p:txBody>
          <a:bodyPr/>
          <a:lstStyle/>
          <a:p>
            <a:endParaRPr lang="tr-TR"/>
          </a:p>
        </p:txBody>
      </p:sp>
      <p:sp>
        <p:nvSpPr>
          <p:cNvPr id="14" name="Shape 11"/>
          <p:cNvSpPr/>
          <p:nvPr/>
        </p:nvSpPr>
        <p:spPr>
          <a:xfrm>
            <a:off x="260604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5" name="Shape 12"/>
          <p:cNvSpPr/>
          <p:nvPr/>
        </p:nvSpPr>
        <p:spPr>
          <a:xfrm>
            <a:off x="2606040" y="1417320"/>
            <a:ext cx="1920240" cy="274320"/>
          </a:xfrm>
          <a:prstGeom prst="rect">
            <a:avLst/>
          </a:prstGeom>
          <a:solidFill>
            <a:srgbClr val="E87722"/>
          </a:solidFill>
          <a:ln/>
        </p:spPr>
        <p:txBody>
          <a:bodyPr/>
          <a:lstStyle/>
          <a:p>
            <a:endParaRPr lang="tr-TR"/>
          </a:p>
        </p:txBody>
      </p:sp>
      <p:sp>
        <p:nvSpPr>
          <p:cNvPr id="16" name="Shape 13"/>
          <p:cNvSpPr/>
          <p:nvPr/>
        </p:nvSpPr>
        <p:spPr>
          <a:xfrm>
            <a:off x="2715768" y="1490472"/>
            <a:ext cx="128016" cy="128016"/>
          </a:xfrm>
          <a:prstGeom prst="ellipse">
            <a:avLst/>
          </a:prstGeom>
          <a:solidFill>
            <a:srgbClr val="FFFFFF"/>
          </a:solidFill>
          <a:ln/>
        </p:spPr>
        <p:txBody>
          <a:bodyPr/>
          <a:lstStyle/>
          <a:p>
            <a:endParaRPr lang="tr-TR"/>
          </a:p>
        </p:txBody>
      </p:sp>
      <p:sp>
        <p:nvSpPr>
          <p:cNvPr id="17" name="Shape 14"/>
          <p:cNvSpPr/>
          <p:nvPr/>
        </p:nvSpPr>
        <p:spPr>
          <a:xfrm>
            <a:off x="2852928" y="1490472"/>
            <a:ext cx="128016" cy="128016"/>
          </a:xfrm>
          <a:prstGeom prst="ellipse">
            <a:avLst/>
          </a:prstGeom>
          <a:solidFill>
            <a:srgbClr val="FFFFFF"/>
          </a:solidFill>
          <a:ln/>
        </p:spPr>
        <p:txBody>
          <a:bodyPr/>
          <a:lstStyle/>
          <a:p>
            <a:endParaRPr lang="tr-TR"/>
          </a:p>
        </p:txBody>
      </p:sp>
      <p:sp>
        <p:nvSpPr>
          <p:cNvPr id="18" name="Shape 15"/>
          <p:cNvSpPr/>
          <p:nvPr/>
        </p:nvSpPr>
        <p:spPr>
          <a:xfrm>
            <a:off x="2990088" y="1490472"/>
            <a:ext cx="128016" cy="128016"/>
          </a:xfrm>
          <a:prstGeom prst="ellipse">
            <a:avLst/>
          </a:prstGeom>
          <a:solidFill>
            <a:srgbClr val="FFFFFF"/>
          </a:solidFill>
          <a:ln/>
        </p:spPr>
        <p:txBody>
          <a:bodyPr/>
          <a:lstStyle/>
          <a:p>
            <a:endParaRPr lang="tr-TR"/>
          </a:p>
        </p:txBody>
      </p:sp>
      <p:sp>
        <p:nvSpPr>
          <p:cNvPr id="20" name="Shape 17"/>
          <p:cNvSpPr/>
          <p:nvPr/>
        </p:nvSpPr>
        <p:spPr>
          <a:xfrm>
            <a:off x="475488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1" name="Shape 18"/>
          <p:cNvSpPr/>
          <p:nvPr/>
        </p:nvSpPr>
        <p:spPr>
          <a:xfrm>
            <a:off x="4747260" y="1410990"/>
            <a:ext cx="1920240" cy="274320"/>
          </a:xfrm>
          <a:prstGeom prst="rect">
            <a:avLst/>
          </a:prstGeom>
          <a:solidFill>
            <a:srgbClr val="E87722"/>
          </a:solidFill>
          <a:ln/>
        </p:spPr>
        <p:txBody>
          <a:bodyPr/>
          <a:lstStyle/>
          <a:p>
            <a:endParaRPr lang="tr-TR"/>
          </a:p>
        </p:txBody>
      </p:sp>
      <p:sp>
        <p:nvSpPr>
          <p:cNvPr id="22" name="Shape 19"/>
          <p:cNvSpPr/>
          <p:nvPr/>
        </p:nvSpPr>
        <p:spPr>
          <a:xfrm>
            <a:off x="4864608" y="1490472"/>
            <a:ext cx="128016" cy="128016"/>
          </a:xfrm>
          <a:prstGeom prst="ellipse">
            <a:avLst/>
          </a:prstGeom>
          <a:solidFill>
            <a:srgbClr val="FFFFFF"/>
          </a:solidFill>
          <a:ln/>
        </p:spPr>
        <p:txBody>
          <a:bodyPr/>
          <a:lstStyle/>
          <a:p>
            <a:endParaRPr lang="tr-TR"/>
          </a:p>
        </p:txBody>
      </p:sp>
      <p:sp>
        <p:nvSpPr>
          <p:cNvPr id="23" name="Shape 20"/>
          <p:cNvSpPr/>
          <p:nvPr/>
        </p:nvSpPr>
        <p:spPr>
          <a:xfrm>
            <a:off x="5001768" y="1490472"/>
            <a:ext cx="128016" cy="128016"/>
          </a:xfrm>
          <a:prstGeom prst="ellipse">
            <a:avLst/>
          </a:prstGeom>
          <a:solidFill>
            <a:srgbClr val="FFFFFF"/>
          </a:solidFill>
          <a:ln/>
        </p:spPr>
        <p:txBody>
          <a:bodyPr/>
          <a:lstStyle/>
          <a:p>
            <a:endParaRPr lang="tr-TR"/>
          </a:p>
        </p:txBody>
      </p:sp>
      <p:sp>
        <p:nvSpPr>
          <p:cNvPr id="24" name="Shape 21"/>
          <p:cNvSpPr/>
          <p:nvPr/>
        </p:nvSpPr>
        <p:spPr>
          <a:xfrm>
            <a:off x="5138928" y="1490472"/>
            <a:ext cx="128016" cy="128016"/>
          </a:xfrm>
          <a:prstGeom prst="ellipse">
            <a:avLst/>
          </a:prstGeom>
          <a:solidFill>
            <a:srgbClr val="FFFFFF"/>
          </a:solidFill>
          <a:ln/>
        </p:spPr>
        <p:txBody>
          <a:bodyPr/>
          <a:lstStyle/>
          <a:p>
            <a:endParaRPr lang="tr-TR"/>
          </a:p>
        </p:txBody>
      </p:sp>
      <p:sp>
        <p:nvSpPr>
          <p:cNvPr id="26" name="Shape 23"/>
          <p:cNvSpPr/>
          <p:nvPr/>
        </p:nvSpPr>
        <p:spPr>
          <a:xfrm>
            <a:off x="6903720" y="141732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7" name="Shape 24"/>
          <p:cNvSpPr/>
          <p:nvPr/>
        </p:nvSpPr>
        <p:spPr>
          <a:xfrm>
            <a:off x="6903720" y="1417320"/>
            <a:ext cx="1920240" cy="274320"/>
          </a:xfrm>
          <a:prstGeom prst="rect">
            <a:avLst/>
          </a:prstGeom>
          <a:solidFill>
            <a:srgbClr val="E87722"/>
          </a:solidFill>
          <a:ln/>
        </p:spPr>
        <p:txBody>
          <a:bodyPr/>
          <a:lstStyle/>
          <a:p>
            <a:endParaRPr lang="tr-TR"/>
          </a:p>
        </p:txBody>
      </p:sp>
      <p:sp>
        <p:nvSpPr>
          <p:cNvPr id="28" name="Shape 25"/>
          <p:cNvSpPr/>
          <p:nvPr/>
        </p:nvSpPr>
        <p:spPr>
          <a:xfrm>
            <a:off x="7013448" y="1490472"/>
            <a:ext cx="128016" cy="128016"/>
          </a:xfrm>
          <a:prstGeom prst="ellipse">
            <a:avLst/>
          </a:prstGeom>
          <a:solidFill>
            <a:srgbClr val="FFFFFF"/>
          </a:solidFill>
          <a:ln/>
        </p:spPr>
        <p:txBody>
          <a:bodyPr/>
          <a:lstStyle/>
          <a:p>
            <a:endParaRPr lang="tr-TR"/>
          </a:p>
        </p:txBody>
      </p:sp>
      <p:sp>
        <p:nvSpPr>
          <p:cNvPr id="29" name="Shape 26"/>
          <p:cNvSpPr/>
          <p:nvPr/>
        </p:nvSpPr>
        <p:spPr>
          <a:xfrm>
            <a:off x="7150608" y="1490472"/>
            <a:ext cx="128016" cy="128016"/>
          </a:xfrm>
          <a:prstGeom prst="ellipse">
            <a:avLst/>
          </a:prstGeom>
          <a:solidFill>
            <a:srgbClr val="FFFFFF"/>
          </a:solidFill>
          <a:ln/>
        </p:spPr>
        <p:txBody>
          <a:bodyPr/>
          <a:lstStyle/>
          <a:p>
            <a:endParaRPr lang="tr-TR"/>
          </a:p>
        </p:txBody>
      </p:sp>
      <p:sp>
        <p:nvSpPr>
          <p:cNvPr id="30" name="Shape 27"/>
          <p:cNvSpPr/>
          <p:nvPr/>
        </p:nvSpPr>
        <p:spPr>
          <a:xfrm>
            <a:off x="7287768" y="1490472"/>
            <a:ext cx="128016" cy="128016"/>
          </a:xfrm>
          <a:prstGeom prst="ellipse">
            <a:avLst/>
          </a:prstGeom>
          <a:solidFill>
            <a:srgbClr val="FFFFFF"/>
          </a:solidFill>
          <a:ln/>
        </p:spPr>
        <p:txBody>
          <a:bodyPr/>
          <a:lstStyle/>
          <a:p>
            <a:endParaRPr lang="tr-TR"/>
          </a:p>
        </p:txBody>
      </p:sp>
      <p:sp>
        <p:nvSpPr>
          <p:cNvPr id="32" name="Shape 29"/>
          <p:cNvSpPr/>
          <p:nvPr/>
        </p:nvSpPr>
        <p:spPr>
          <a:xfrm>
            <a:off x="45720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3" name="Shape 30"/>
          <p:cNvSpPr/>
          <p:nvPr/>
        </p:nvSpPr>
        <p:spPr>
          <a:xfrm>
            <a:off x="457200" y="3063240"/>
            <a:ext cx="1920240" cy="274320"/>
          </a:xfrm>
          <a:prstGeom prst="rect">
            <a:avLst/>
          </a:prstGeom>
          <a:solidFill>
            <a:srgbClr val="E87722"/>
          </a:solidFill>
          <a:ln/>
        </p:spPr>
        <p:txBody>
          <a:bodyPr/>
          <a:lstStyle/>
          <a:p>
            <a:endParaRPr lang="tr-TR"/>
          </a:p>
        </p:txBody>
      </p:sp>
      <p:sp>
        <p:nvSpPr>
          <p:cNvPr id="34" name="Shape 31"/>
          <p:cNvSpPr/>
          <p:nvPr/>
        </p:nvSpPr>
        <p:spPr>
          <a:xfrm>
            <a:off x="566928" y="3136392"/>
            <a:ext cx="128016" cy="128016"/>
          </a:xfrm>
          <a:prstGeom prst="ellipse">
            <a:avLst/>
          </a:prstGeom>
          <a:solidFill>
            <a:srgbClr val="FFFFFF"/>
          </a:solidFill>
          <a:ln/>
        </p:spPr>
        <p:txBody>
          <a:bodyPr/>
          <a:lstStyle/>
          <a:p>
            <a:endParaRPr lang="tr-TR"/>
          </a:p>
        </p:txBody>
      </p:sp>
      <p:sp>
        <p:nvSpPr>
          <p:cNvPr id="35" name="Shape 32"/>
          <p:cNvSpPr/>
          <p:nvPr/>
        </p:nvSpPr>
        <p:spPr>
          <a:xfrm>
            <a:off x="704088" y="3136392"/>
            <a:ext cx="128016" cy="128016"/>
          </a:xfrm>
          <a:prstGeom prst="ellipse">
            <a:avLst/>
          </a:prstGeom>
          <a:solidFill>
            <a:srgbClr val="FFFFFF"/>
          </a:solidFill>
          <a:ln/>
        </p:spPr>
        <p:txBody>
          <a:bodyPr/>
          <a:lstStyle/>
          <a:p>
            <a:endParaRPr lang="tr-TR"/>
          </a:p>
        </p:txBody>
      </p:sp>
      <p:sp>
        <p:nvSpPr>
          <p:cNvPr id="36" name="Shape 33"/>
          <p:cNvSpPr/>
          <p:nvPr/>
        </p:nvSpPr>
        <p:spPr>
          <a:xfrm>
            <a:off x="841248" y="3136392"/>
            <a:ext cx="128016" cy="128016"/>
          </a:xfrm>
          <a:prstGeom prst="ellipse">
            <a:avLst/>
          </a:prstGeom>
          <a:solidFill>
            <a:srgbClr val="FFFFFF"/>
          </a:solidFill>
          <a:ln/>
        </p:spPr>
        <p:txBody>
          <a:bodyPr/>
          <a:lstStyle/>
          <a:p>
            <a:endParaRPr lang="tr-TR"/>
          </a:p>
        </p:txBody>
      </p:sp>
      <p:sp>
        <p:nvSpPr>
          <p:cNvPr id="38" name="Shape 35"/>
          <p:cNvSpPr/>
          <p:nvPr/>
        </p:nvSpPr>
        <p:spPr>
          <a:xfrm>
            <a:off x="260604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9" name="Shape 36"/>
          <p:cNvSpPr/>
          <p:nvPr/>
        </p:nvSpPr>
        <p:spPr>
          <a:xfrm>
            <a:off x="2606040" y="3063240"/>
            <a:ext cx="1920240" cy="274320"/>
          </a:xfrm>
          <a:prstGeom prst="rect">
            <a:avLst/>
          </a:prstGeom>
          <a:solidFill>
            <a:srgbClr val="E87722"/>
          </a:solidFill>
          <a:ln/>
        </p:spPr>
        <p:txBody>
          <a:bodyPr/>
          <a:lstStyle/>
          <a:p>
            <a:endParaRPr lang="tr-TR"/>
          </a:p>
        </p:txBody>
      </p:sp>
      <p:sp>
        <p:nvSpPr>
          <p:cNvPr id="40" name="Shape 37"/>
          <p:cNvSpPr/>
          <p:nvPr/>
        </p:nvSpPr>
        <p:spPr>
          <a:xfrm>
            <a:off x="2715768" y="3136392"/>
            <a:ext cx="128016" cy="128016"/>
          </a:xfrm>
          <a:prstGeom prst="ellipse">
            <a:avLst/>
          </a:prstGeom>
          <a:solidFill>
            <a:srgbClr val="FFFFFF"/>
          </a:solidFill>
          <a:ln/>
        </p:spPr>
        <p:txBody>
          <a:bodyPr/>
          <a:lstStyle/>
          <a:p>
            <a:endParaRPr lang="tr-TR"/>
          </a:p>
        </p:txBody>
      </p:sp>
      <p:sp>
        <p:nvSpPr>
          <p:cNvPr id="41" name="Shape 38"/>
          <p:cNvSpPr/>
          <p:nvPr/>
        </p:nvSpPr>
        <p:spPr>
          <a:xfrm>
            <a:off x="2852928" y="3136392"/>
            <a:ext cx="128016" cy="128016"/>
          </a:xfrm>
          <a:prstGeom prst="ellipse">
            <a:avLst/>
          </a:prstGeom>
          <a:solidFill>
            <a:srgbClr val="FFFFFF"/>
          </a:solidFill>
          <a:ln/>
        </p:spPr>
        <p:txBody>
          <a:bodyPr/>
          <a:lstStyle/>
          <a:p>
            <a:endParaRPr lang="tr-TR"/>
          </a:p>
        </p:txBody>
      </p:sp>
      <p:sp>
        <p:nvSpPr>
          <p:cNvPr id="42" name="Shape 39"/>
          <p:cNvSpPr/>
          <p:nvPr/>
        </p:nvSpPr>
        <p:spPr>
          <a:xfrm>
            <a:off x="2990088" y="3136392"/>
            <a:ext cx="128016" cy="128016"/>
          </a:xfrm>
          <a:prstGeom prst="ellipse">
            <a:avLst/>
          </a:prstGeom>
          <a:solidFill>
            <a:srgbClr val="FFFFFF"/>
          </a:solidFill>
          <a:ln/>
        </p:spPr>
        <p:txBody>
          <a:bodyPr/>
          <a:lstStyle/>
          <a:p>
            <a:endParaRPr lang="tr-TR"/>
          </a:p>
        </p:txBody>
      </p:sp>
      <p:sp>
        <p:nvSpPr>
          <p:cNvPr id="44" name="Shape 41"/>
          <p:cNvSpPr/>
          <p:nvPr/>
        </p:nvSpPr>
        <p:spPr>
          <a:xfrm>
            <a:off x="475488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45" name="Shape 42"/>
          <p:cNvSpPr/>
          <p:nvPr/>
        </p:nvSpPr>
        <p:spPr>
          <a:xfrm>
            <a:off x="4754880" y="3063240"/>
            <a:ext cx="1920240" cy="274320"/>
          </a:xfrm>
          <a:prstGeom prst="rect">
            <a:avLst/>
          </a:prstGeom>
          <a:solidFill>
            <a:srgbClr val="E87722"/>
          </a:solidFill>
          <a:ln/>
        </p:spPr>
        <p:txBody>
          <a:bodyPr/>
          <a:lstStyle/>
          <a:p>
            <a:endParaRPr lang="tr-TR"/>
          </a:p>
        </p:txBody>
      </p:sp>
      <p:sp>
        <p:nvSpPr>
          <p:cNvPr id="46" name="Shape 43"/>
          <p:cNvSpPr/>
          <p:nvPr/>
        </p:nvSpPr>
        <p:spPr>
          <a:xfrm>
            <a:off x="4864608" y="3136392"/>
            <a:ext cx="128016" cy="128016"/>
          </a:xfrm>
          <a:prstGeom prst="ellipse">
            <a:avLst/>
          </a:prstGeom>
          <a:solidFill>
            <a:srgbClr val="FFFFFF"/>
          </a:solidFill>
          <a:ln/>
        </p:spPr>
        <p:txBody>
          <a:bodyPr/>
          <a:lstStyle/>
          <a:p>
            <a:endParaRPr lang="tr-TR"/>
          </a:p>
        </p:txBody>
      </p:sp>
      <p:sp>
        <p:nvSpPr>
          <p:cNvPr id="47" name="Shape 44"/>
          <p:cNvSpPr/>
          <p:nvPr/>
        </p:nvSpPr>
        <p:spPr>
          <a:xfrm>
            <a:off x="5001768" y="3136392"/>
            <a:ext cx="128016" cy="128016"/>
          </a:xfrm>
          <a:prstGeom prst="ellipse">
            <a:avLst/>
          </a:prstGeom>
          <a:solidFill>
            <a:srgbClr val="FFFFFF"/>
          </a:solidFill>
          <a:ln/>
        </p:spPr>
        <p:txBody>
          <a:bodyPr/>
          <a:lstStyle/>
          <a:p>
            <a:endParaRPr lang="tr-TR"/>
          </a:p>
        </p:txBody>
      </p:sp>
      <p:sp>
        <p:nvSpPr>
          <p:cNvPr id="48" name="Shape 45"/>
          <p:cNvSpPr/>
          <p:nvPr/>
        </p:nvSpPr>
        <p:spPr>
          <a:xfrm>
            <a:off x="5138928" y="3136392"/>
            <a:ext cx="128016" cy="128016"/>
          </a:xfrm>
          <a:prstGeom prst="ellipse">
            <a:avLst/>
          </a:prstGeom>
          <a:solidFill>
            <a:srgbClr val="FFFFFF"/>
          </a:solidFill>
          <a:ln/>
        </p:spPr>
        <p:txBody>
          <a:bodyPr/>
          <a:lstStyle/>
          <a:p>
            <a:endParaRPr lang="tr-TR"/>
          </a:p>
        </p:txBody>
      </p:sp>
      <p:sp>
        <p:nvSpPr>
          <p:cNvPr id="50" name="Shape 47"/>
          <p:cNvSpPr/>
          <p:nvPr/>
        </p:nvSpPr>
        <p:spPr>
          <a:xfrm>
            <a:off x="6903720" y="3063240"/>
            <a:ext cx="1920240" cy="13716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51" name="Shape 48"/>
          <p:cNvSpPr/>
          <p:nvPr/>
        </p:nvSpPr>
        <p:spPr>
          <a:xfrm>
            <a:off x="6903720" y="3063240"/>
            <a:ext cx="1920240" cy="274320"/>
          </a:xfrm>
          <a:prstGeom prst="rect">
            <a:avLst/>
          </a:prstGeom>
          <a:solidFill>
            <a:srgbClr val="E87722"/>
          </a:solidFill>
          <a:ln/>
        </p:spPr>
        <p:txBody>
          <a:bodyPr/>
          <a:lstStyle/>
          <a:p>
            <a:endParaRPr lang="tr-TR"/>
          </a:p>
        </p:txBody>
      </p:sp>
      <p:sp>
        <p:nvSpPr>
          <p:cNvPr id="52" name="Shape 49"/>
          <p:cNvSpPr/>
          <p:nvPr/>
        </p:nvSpPr>
        <p:spPr>
          <a:xfrm>
            <a:off x="7013448" y="3136392"/>
            <a:ext cx="128016" cy="128016"/>
          </a:xfrm>
          <a:prstGeom prst="ellipse">
            <a:avLst/>
          </a:prstGeom>
          <a:solidFill>
            <a:srgbClr val="FFFFFF"/>
          </a:solidFill>
          <a:ln/>
        </p:spPr>
        <p:txBody>
          <a:bodyPr/>
          <a:lstStyle/>
          <a:p>
            <a:endParaRPr lang="tr-TR"/>
          </a:p>
        </p:txBody>
      </p:sp>
      <p:sp>
        <p:nvSpPr>
          <p:cNvPr id="53" name="Shape 50"/>
          <p:cNvSpPr/>
          <p:nvPr/>
        </p:nvSpPr>
        <p:spPr>
          <a:xfrm>
            <a:off x="7150608" y="3136392"/>
            <a:ext cx="128016" cy="128016"/>
          </a:xfrm>
          <a:prstGeom prst="ellipse">
            <a:avLst/>
          </a:prstGeom>
          <a:solidFill>
            <a:srgbClr val="FFFFFF"/>
          </a:solidFill>
          <a:ln/>
        </p:spPr>
        <p:txBody>
          <a:bodyPr/>
          <a:lstStyle/>
          <a:p>
            <a:endParaRPr lang="tr-TR"/>
          </a:p>
        </p:txBody>
      </p:sp>
      <p:sp>
        <p:nvSpPr>
          <p:cNvPr id="54" name="Shape 51"/>
          <p:cNvSpPr/>
          <p:nvPr/>
        </p:nvSpPr>
        <p:spPr>
          <a:xfrm>
            <a:off x="7287768" y="3136392"/>
            <a:ext cx="128016" cy="128016"/>
          </a:xfrm>
          <a:prstGeom prst="ellipse">
            <a:avLst/>
          </a:prstGeom>
          <a:solidFill>
            <a:srgbClr val="FFFFFF"/>
          </a:solidFill>
          <a:ln/>
        </p:spPr>
        <p:txBody>
          <a:bodyPr/>
          <a:lstStyle/>
          <a:p>
            <a:endParaRPr lang="tr-TR"/>
          </a:p>
        </p:txBody>
      </p:sp>
      <p:sp>
        <p:nvSpPr>
          <p:cNvPr id="56" name="Text 53"/>
          <p:cNvSpPr/>
          <p:nvPr/>
        </p:nvSpPr>
        <p:spPr>
          <a:xfrm>
            <a:off x="457200" y="4572000"/>
            <a:ext cx="8229600" cy="228600"/>
          </a:xfrm>
          <a:prstGeom prst="rect">
            <a:avLst/>
          </a:prstGeom>
          <a:noFill/>
          <a:ln/>
        </p:spPr>
        <p:txBody>
          <a:bodyPr wrap="square" lIns="0" tIns="0" rIns="0" bIns="0" rtlCol="0" anchor="ctr"/>
          <a:lstStyle/>
          <a:p>
            <a:pPr marL="0" indent="0">
              <a:buNone/>
            </a:pPr>
            <a:r>
              <a:rPr lang="en-US" sz="1000" i="1" dirty="0">
                <a:solidFill>
                  <a:srgbClr val="999999"/>
                </a:solidFill>
                <a:latin typeface="Calibri" pitchFamily="34" charset="0"/>
                <a:ea typeface="Calibri" pitchFamily="34" charset="-122"/>
                <a:cs typeface="Calibri" pitchFamily="34" charset="-120"/>
              </a:rPr>
              <a:t>Not: Mockup görselleri proje dokümanlarında ve GitHub'da mevcuttur.</a:t>
            </a:r>
            <a:endParaRPr lang="en-US" sz="1000" dirty="0"/>
          </a:p>
        </p:txBody>
      </p:sp>
      <p:pic>
        <p:nvPicPr>
          <p:cNvPr id="57" name="Picture 56">
            <a:extLst>
              <a:ext uri="{FF2B5EF4-FFF2-40B4-BE49-F238E27FC236}">
                <a16:creationId xmlns:a16="http://schemas.microsoft.com/office/drawing/2014/main" id="{77A4018A-88B8-622B-248A-142A898B28A9}"/>
              </a:ext>
            </a:extLst>
          </p:cNvPr>
          <p:cNvPicPr>
            <a:picLocks/>
          </p:cNvPicPr>
          <p:nvPr/>
        </p:nvPicPr>
        <p:blipFill>
          <a:blip r:embed="rId4"/>
          <a:stretch>
            <a:fillRect/>
          </a:stretch>
        </p:blipFill>
        <p:spPr>
          <a:xfrm>
            <a:off x="243840" y="1371600"/>
            <a:ext cx="2131060" cy="1422400"/>
          </a:xfrm>
          <a:prstGeom prst="rect">
            <a:avLst/>
          </a:prstGeom>
        </p:spPr>
      </p:pic>
      <p:pic>
        <p:nvPicPr>
          <p:cNvPr id="58" name="Picture 57">
            <a:extLst>
              <a:ext uri="{FF2B5EF4-FFF2-40B4-BE49-F238E27FC236}">
                <a16:creationId xmlns:a16="http://schemas.microsoft.com/office/drawing/2014/main" id="{836556D8-5514-AD22-1CE9-68EDF03E4006}"/>
              </a:ext>
            </a:extLst>
          </p:cNvPr>
          <p:cNvPicPr>
            <a:picLocks/>
          </p:cNvPicPr>
          <p:nvPr/>
        </p:nvPicPr>
        <p:blipFill>
          <a:blip r:embed="rId5"/>
          <a:stretch>
            <a:fillRect/>
          </a:stretch>
        </p:blipFill>
        <p:spPr>
          <a:xfrm>
            <a:off x="2437911" y="1363863"/>
            <a:ext cx="2095500" cy="1422400"/>
          </a:xfrm>
          <a:prstGeom prst="rect">
            <a:avLst/>
          </a:prstGeom>
        </p:spPr>
      </p:pic>
      <p:pic>
        <p:nvPicPr>
          <p:cNvPr id="59" name="Picture 58">
            <a:extLst>
              <a:ext uri="{FF2B5EF4-FFF2-40B4-BE49-F238E27FC236}">
                <a16:creationId xmlns:a16="http://schemas.microsoft.com/office/drawing/2014/main" id="{426F7F7F-D79A-8685-A99C-62A09A1EC604}"/>
              </a:ext>
            </a:extLst>
          </p:cNvPr>
          <p:cNvPicPr>
            <a:picLocks/>
          </p:cNvPicPr>
          <p:nvPr/>
        </p:nvPicPr>
        <p:blipFill>
          <a:blip r:embed="rId6"/>
          <a:stretch>
            <a:fillRect/>
          </a:stretch>
        </p:blipFill>
        <p:spPr>
          <a:xfrm>
            <a:off x="4572000" y="1371600"/>
            <a:ext cx="2103120" cy="1422400"/>
          </a:xfrm>
          <a:prstGeom prst="rect">
            <a:avLst/>
          </a:prstGeom>
        </p:spPr>
      </p:pic>
      <p:pic>
        <p:nvPicPr>
          <p:cNvPr id="60" name="Picture 59">
            <a:extLst>
              <a:ext uri="{FF2B5EF4-FFF2-40B4-BE49-F238E27FC236}">
                <a16:creationId xmlns:a16="http://schemas.microsoft.com/office/drawing/2014/main" id="{EF32E326-CC36-55EA-AAD7-ACC310CC30FA}"/>
              </a:ext>
            </a:extLst>
          </p:cNvPr>
          <p:cNvPicPr>
            <a:picLocks/>
          </p:cNvPicPr>
          <p:nvPr/>
        </p:nvPicPr>
        <p:blipFill>
          <a:blip r:embed="rId7"/>
          <a:stretch>
            <a:fillRect/>
          </a:stretch>
        </p:blipFill>
        <p:spPr>
          <a:xfrm>
            <a:off x="6682740" y="1399032"/>
            <a:ext cx="2217420" cy="1394968"/>
          </a:xfrm>
          <a:prstGeom prst="rect">
            <a:avLst/>
          </a:prstGeom>
        </p:spPr>
      </p:pic>
      <p:pic>
        <p:nvPicPr>
          <p:cNvPr id="61" name="Picture 60">
            <a:extLst>
              <a:ext uri="{FF2B5EF4-FFF2-40B4-BE49-F238E27FC236}">
                <a16:creationId xmlns:a16="http://schemas.microsoft.com/office/drawing/2014/main" id="{82A44203-FDBE-B546-F223-AE1750F509FE}"/>
              </a:ext>
            </a:extLst>
          </p:cNvPr>
          <p:cNvPicPr>
            <a:picLocks/>
          </p:cNvPicPr>
          <p:nvPr/>
        </p:nvPicPr>
        <p:blipFill>
          <a:blip r:embed="rId8"/>
          <a:stretch>
            <a:fillRect/>
          </a:stretch>
        </p:blipFill>
        <p:spPr>
          <a:xfrm>
            <a:off x="243840" y="3050540"/>
            <a:ext cx="2131060" cy="1381760"/>
          </a:xfrm>
          <a:prstGeom prst="rect">
            <a:avLst/>
          </a:prstGeom>
        </p:spPr>
      </p:pic>
      <p:pic>
        <p:nvPicPr>
          <p:cNvPr id="62" name="Picture 61">
            <a:extLst>
              <a:ext uri="{FF2B5EF4-FFF2-40B4-BE49-F238E27FC236}">
                <a16:creationId xmlns:a16="http://schemas.microsoft.com/office/drawing/2014/main" id="{EFF71E30-457F-340A-BC81-FEAC8D5BD7CA}"/>
              </a:ext>
            </a:extLst>
          </p:cNvPr>
          <p:cNvPicPr>
            <a:picLocks/>
          </p:cNvPicPr>
          <p:nvPr/>
        </p:nvPicPr>
        <p:blipFill>
          <a:blip r:embed="rId9"/>
          <a:stretch>
            <a:fillRect/>
          </a:stretch>
        </p:blipFill>
        <p:spPr>
          <a:xfrm>
            <a:off x="2382520" y="3055620"/>
            <a:ext cx="2143760" cy="1407160"/>
          </a:xfrm>
          <a:prstGeom prst="rect">
            <a:avLst/>
          </a:prstGeom>
        </p:spPr>
      </p:pic>
      <p:pic>
        <p:nvPicPr>
          <p:cNvPr id="63" name="Picture 62">
            <a:extLst>
              <a:ext uri="{FF2B5EF4-FFF2-40B4-BE49-F238E27FC236}">
                <a16:creationId xmlns:a16="http://schemas.microsoft.com/office/drawing/2014/main" id="{9BB28028-65DD-E741-726D-90D83E531D29}"/>
              </a:ext>
            </a:extLst>
          </p:cNvPr>
          <p:cNvPicPr>
            <a:picLocks/>
          </p:cNvPicPr>
          <p:nvPr/>
        </p:nvPicPr>
        <p:blipFill>
          <a:blip r:embed="rId10"/>
          <a:stretch>
            <a:fillRect/>
          </a:stretch>
        </p:blipFill>
        <p:spPr>
          <a:xfrm>
            <a:off x="4561840" y="3025140"/>
            <a:ext cx="2113280" cy="1407160"/>
          </a:xfrm>
          <a:prstGeom prst="rect">
            <a:avLst/>
          </a:prstGeom>
        </p:spPr>
      </p:pic>
      <p:pic>
        <p:nvPicPr>
          <p:cNvPr id="64" name="Picture 63">
            <a:extLst>
              <a:ext uri="{FF2B5EF4-FFF2-40B4-BE49-F238E27FC236}">
                <a16:creationId xmlns:a16="http://schemas.microsoft.com/office/drawing/2014/main" id="{D7740FA0-11EF-5805-A2A1-CA06BA7A53DA}"/>
              </a:ext>
            </a:extLst>
          </p:cNvPr>
          <p:cNvPicPr>
            <a:picLocks/>
          </p:cNvPicPr>
          <p:nvPr/>
        </p:nvPicPr>
        <p:blipFill>
          <a:blip r:embed="rId11"/>
          <a:stretch>
            <a:fillRect/>
          </a:stretch>
        </p:blipFill>
        <p:spPr>
          <a:xfrm>
            <a:off x="6777228" y="3063240"/>
            <a:ext cx="2122932" cy="1369060"/>
          </a:xfrm>
          <a:prstGeom prst="rect">
            <a:avLst/>
          </a:prstGeom>
        </p:spPr>
      </p:pic>
      <p:sp>
        <p:nvSpPr>
          <p:cNvPr id="100" name="Label 100"/>
          <p:cNvSpPr txBox="1"/>
          <p:nvPr/>
        </p:nvSpPr>
        <p:spPr>
          <a:xfrm>
            <a:off x="368300" y="1128659"/>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Ana Sayfa</a:t>
            </a:r>
          </a:p>
        </p:txBody>
      </p:sp>
      <p:sp>
        <p:nvSpPr>
          <p:cNvPr id="101" name="Label 101"/>
          <p:cNvSpPr txBox="1"/>
          <p:nvPr/>
        </p:nvSpPr>
        <p:spPr>
          <a:xfrm>
            <a:off x="2526811" y="1156599"/>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Araç Listesi</a:t>
            </a:r>
          </a:p>
        </p:txBody>
      </p:sp>
      <p:sp>
        <p:nvSpPr>
          <p:cNvPr id="102" name="Label 102"/>
          <p:cNvSpPr txBox="1"/>
          <p:nvPr/>
        </p:nvSpPr>
        <p:spPr>
          <a:xfrm>
            <a:off x="4622311" y="1131043"/>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Araç Ekleme</a:t>
            </a:r>
          </a:p>
        </p:txBody>
      </p:sp>
      <p:sp>
        <p:nvSpPr>
          <p:cNvPr id="103" name="Label 103"/>
          <p:cNvSpPr txBox="1"/>
          <p:nvPr/>
        </p:nvSpPr>
        <p:spPr>
          <a:xfrm>
            <a:off x="6813550" y="1131043"/>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Müşteri Yönetimi</a:t>
            </a:r>
          </a:p>
        </p:txBody>
      </p:sp>
      <p:sp>
        <p:nvSpPr>
          <p:cNvPr id="104" name="Label 104"/>
          <p:cNvSpPr txBox="1"/>
          <p:nvPr/>
        </p:nvSpPr>
        <p:spPr>
          <a:xfrm>
            <a:off x="424180" y="282651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Satış İşlemleri</a:t>
            </a:r>
          </a:p>
        </p:txBody>
      </p:sp>
      <p:sp>
        <p:nvSpPr>
          <p:cNvPr id="105" name="Label 105"/>
          <p:cNvSpPr txBox="1"/>
          <p:nvPr/>
        </p:nvSpPr>
        <p:spPr>
          <a:xfrm>
            <a:off x="2567940" y="2809240"/>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Ekspertiz</a:t>
            </a:r>
          </a:p>
        </p:txBody>
      </p:sp>
      <p:sp>
        <p:nvSpPr>
          <p:cNvPr id="106" name="Label 106"/>
          <p:cNvSpPr txBox="1"/>
          <p:nvPr/>
        </p:nvSpPr>
        <p:spPr>
          <a:xfrm>
            <a:off x="4719320" y="280238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Sigorta Takibi</a:t>
            </a:r>
          </a:p>
        </p:txBody>
      </p:sp>
      <p:sp>
        <p:nvSpPr>
          <p:cNvPr id="107" name="Label 107"/>
          <p:cNvSpPr txBox="1"/>
          <p:nvPr/>
        </p:nvSpPr>
        <p:spPr>
          <a:xfrm>
            <a:off x="6827520" y="2828192"/>
            <a:ext cx="1917700" cy="279400"/>
          </a:xfrm>
          <a:prstGeom prst="rect">
            <a:avLst/>
          </a:prstGeom>
          <a:noFill/>
        </p:spPr>
        <p:txBody>
          <a:bodyPr wrap="square" lIns="0" tIns="0" rIns="0" bIns="0" anchor="ctr"/>
          <a:lstStyle/>
          <a:p>
            <a:pPr algn="ctr">
              <a:buNone/>
            </a:pPr>
            <a:r>
              <a:rPr lang="en-US" sz="1000" b="1" dirty="0">
                <a:solidFill>
                  <a:srgbClr val="2D2D2D"/>
                </a:solidFill>
                <a:latin typeface="Calibri" pitchFamily="34" charset="0"/>
              </a:rPr>
              <a:t>Raporlama</a:t>
            </a:r>
          </a:p>
        </p:txBody>
      </p:sp>
    </p:spTree>
    <p:extLst>
      <p:ext uri="{BB962C8B-B14F-4D97-AF65-F5344CB8AC3E}">
        <p14:creationId xmlns:p14="http://schemas.microsoft.com/office/powerpoint/2010/main" val="2114289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09AC50-2AAD-447E-A3E6-709AFED0808D}"/>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CA602E87-7498-438D-9781-7F8AD1BC9176}"/>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511DF0B7-3A4F-4F66-8A00-FC5EC9420784}"/>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Ana Sayfa — Dashboard</a:t>
            </a:r>
          </a:p>
        </p:txBody>
      </p:sp>
      <p:sp>
        <p:nvSpPr>
          <p:cNvPr id="5" name="TextBox 4">
            <a:extLst>
              <a:ext uri="{FF2B5EF4-FFF2-40B4-BE49-F238E27FC236}">
                <a16:creationId xmlns:a16="http://schemas.microsoft.com/office/drawing/2014/main" id="{6909FBBF-E6AC-4077-B940-3BB5EF3F652A}"/>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Anlık performans özeti ve hızlı erişim merkezi</a:t>
            </a:r>
          </a:p>
        </p:txBody>
      </p:sp>
      <p:sp>
        <p:nvSpPr>
          <p:cNvPr id="6" name="Rectangle 5">
            <a:extLst>
              <a:ext uri="{FF2B5EF4-FFF2-40B4-BE49-F238E27FC236}">
                <a16:creationId xmlns:a16="http://schemas.microsoft.com/office/drawing/2014/main" id="{14CD360E-9D65-4012-A747-B44051D73021}"/>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E052E6FF-1B63-478C-BC84-1F718EC011AD}"/>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FC631CB0-C3B5-42D9-AC9F-F22C2F0EA333}"/>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E1A01C8C-3132-4D51-B0B3-F7E349DEA435}"/>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8956EB9F-2A75-4E58-812B-A2C2BD519468}"/>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B4DB2511-4B68-48D6-8C34-8492CFF1C55E}"/>
              </a:ext>
            </a:extLst>
          </p:cNvPr>
          <p:cNvSpPr txBox="1"/>
          <p:nvPr/>
        </p:nvSpPr>
        <p:spPr>
          <a:xfrm>
            <a:off x="660400" y="1320800"/>
            <a:ext cx="3708400" cy="307777"/>
          </a:xfrm>
          <a:prstGeom prst="rect">
            <a:avLst/>
          </a:prstGeom>
          <a:noFill/>
        </p:spPr>
        <p:txBody>
          <a:bodyPr vertOverflow="overflow" vert="horz" wrap="square" rtlCol="0" anchor="t">
            <a:spAutoFit/>
          </a:bodyPr>
          <a:lstStyle/>
          <a:p>
            <a:pPr algn="l"/>
            <a:r>
              <a:rPr lang="tr-TR" sz="1400" dirty="0">
                <a:solidFill>
                  <a:srgbClr val="333333"/>
                </a:solidFill>
              </a:rPr>
              <a:t>▸ araç stoğu, aylık satış ve müşteri sayısı </a:t>
            </a:r>
          </a:p>
        </p:txBody>
      </p:sp>
      <p:sp>
        <p:nvSpPr>
          <p:cNvPr id="12" name="TextBox 11">
            <a:extLst>
              <a:ext uri="{FF2B5EF4-FFF2-40B4-BE49-F238E27FC236}">
                <a16:creationId xmlns:a16="http://schemas.microsoft.com/office/drawing/2014/main" id="{F3063817-E975-4FA9-A45C-0084844E7D57}"/>
              </a:ext>
            </a:extLst>
          </p:cNvPr>
          <p:cNvSpPr txBox="1"/>
          <p:nvPr/>
        </p:nvSpPr>
        <p:spPr>
          <a:xfrm>
            <a:off x="660400" y="1879600"/>
            <a:ext cx="3708400" cy="523220"/>
          </a:xfrm>
          <a:prstGeom prst="rect">
            <a:avLst/>
          </a:prstGeom>
          <a:noFill/>
        </p:spPr>
        <p:txBody>
          <a:bodyPr vertOverflow="overflow" vert="horz" wrap="square" rtlCol="0" anchor="t">
            <a:spAutoFit/>
          </a:bodyPr>
          <a:lstStyle/>
          <a:p>
            <a:pPr algn="l"/>
            <a:r>
              <a:rPr lang="tr-TR" sz="1400" dirty="0">
                <a:solidFill>
                  <a:srgbClr val="333333"/>
                </a:solidFill>
              </a:rPr>
              <a:t>▸ Son  satışları listeleyen tablo (araç, müşteri, fiyat, tarih)</a:t>
            </a:r>
          </a:p>
        </p:txBody>
      </p:sp>
      <p:sp>
        <p:nvSpPr>
          <p:cNvPr id="13" name="TextBox 12">
            <a:extLst>
              <a:ext uri="{FF2B5EF4-FFF2-40B4-BE49-F238E27FC236}">
                <a16:creationId xmlns:a16="http://schemas.microsoft.com/office/drawing/2014/main" id="{04564F55-870A-4C36-9609-A4B048483941}"/>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Hızlı İşlemler: Yeni Araç, Yeni Satış, Ekspertiz, Müşteri Ekle</a:t>
            </a:r>
          </a:p>
        </p:txBody>
      </p:sp>
      <p:sp>
        <p:nvSpPr>
          <p:cNvPr id="14" name="TextBox 13">
            <a:extLst>
              <a:ext uri="{FF2B5EF4-FFF2-40B4-BE49-F238E27FC236}">
                <a16:creationId xmlns:a16="http://schemas.microsoft.com/office/drawing/2014/main" id="{0D943433-1C2E-4574-86BA-34D81F046C5C}"/>
              </a:ext>
            </a:extLst>
          </p:cNvPr>
          <p:cNvSpPr txBox="1"/>
          <p:nvPr/>
        </p:nvSpPr>
        <p:spPr>
          <a:xfrm>
            <a:off x="660400" y="2997200"/>
            <a:ext cx="3708400" cy="508000"/>
          </a:xfrm>
          <a:prstGeom prst="rect">
            <a:avLst/>
          </a:prstGeom>
          <a:noFill/>
        </p:spPr>
        <p:txBody>
          <a:bodyPr vertOverflow="overflow" vert="horz" wrap="square" rtlCol="0" anchor="t">
            <a:spAutoFit/>
          </a:bodyPr>
          <a:lstStyle/>
          <a:p>
            <a:pPr algn="l"/>
            <a:r>
              <a:rPr lang="tr-TR" sz="1400">
                <a:solidFill>
                  <a:srgbClr val="333333"/>
                </a:solidFill>
              </a:rPr>
              <a:t>▸ Bildirim akışı: sigorta/muayene uyarıları ve tamamlanan satışlar</a:t>
            </a:r>
          </a:p>
        </p:txBody>
      </p:sp>
      <p:sp>
        <p:nvSpPr>
          <p:cNvPr id="15" name="Rectangle 14">
            <a:extLst>
              <a:ext uri="{FF2B5EF4-FFF2-40B4-BE49-F238E27FC236}">
                <a16:creationId xmlns:a16="http://schemas.microsoft.com/office/drawing/2014/main" id="{61C158E8-3AE5-4BEB-A29D-5752DEB015A4}"/>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FC30DF11-CE96-4F14-ADC4-AE46AEB5FB3F}"/>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443D53E8-6668-494A-8CAE-48EF950D6C32}"/>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8" name="Rectangle 17">
            <a:extLst>
              <a:ext uri="{FF2B5EF4-FFF2-40B4-BE49-F238E27FC236}">
                <a16:creationId xmlns:a16="http://schemas.microsoft.com/office/drawing/2014/main" id="{CBB5FD0D-4AA7-40BD-84DE-3547442D63D5}"/>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B21EE57F-74E0-4B91-ACBC-8947BACC55D4}"/>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BildirimSistemi yaklaşan tarihleri filtreler; SatisYonetimi son satışları döndürür. Tek ekranda tüm modüllerin özeti.</a:t>
            </a:r>
          </a:p>
        </p:txBody>
      </p:sp>
      <p:sp>
        <p:nvSpPr>
          <p:cNvPr id="22" name="Rectangle 21">
            <a:extLst>
              <a:ext uri="{FF2B5EF4-FFF2-40B4-BE49-F238E27FC236}">
                <a16:creationId xmlns:a16="http://schemas.microsoft.com/office/drawing/2014/main" id="{15F5184C-14E6-4C74-BF8F-68F9DFAC89AB}"/>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F87C8F2A-C5AC-43F6-BCAF-11DEB3051B18}"/>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22836579-F593-1DDB-2F24-84ECCFF01F46}"/>
              </a:ext>
            </a:extLst>
          </p:cNvPr>
          <p:cNvPicPr>
            <a:picLocks noChangeAspect="1"/>
          </p:cNvPicPr>
          <p:nvPr/>
        </p:nvPicPr>
        <p:blipFill>
          <a:blip r:embed="rId2"/>
          <a:stretch>
            <a:fillRect/>
          </a:stretch>
        </p:blipFill>
        <p:spPr>
          <a:xfrm>
            <a:off x="4648200" y="2051804"/>
            <a:ext cx="4279468" cy="2596396"/>
          </a:xfrm>
          <a:prstGeom prst="rect">
            <a:avLst/>
          </a:prstGeom>
        </p:spPr>
      </p:pic>
    </p:spTree>
    <p:extLst>
      <p:ext uri="{BB962C8B-B14F-4D97-AF65-F5344CB8AC3E}">
        <p14:creationId xmlns:p14="http://schemas.microsoft.com/office/powerpoint/2010/main" val="1771752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B67C22-71BE-4B29-B514-48E3B93E4088}"/>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5E747867-47DB-43C0-A22D-9205A02ED638}"/>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dirty="0"/>
          </a:p>
        </p:txBody>
      </p:sp>
      <p:sp>
        <p:nvSpPr>
          <p:cNvPr id="4" name="TextBox 3">
            <a:extLst>
              <a:ext uri="{FF2B5EF4-FFF2-40B4-BE49-F238E27FC236}">
                <a16:creationId xmlns:a16="http://schemas.microsoft.com/office/drawing/2014/main" id="{08AB40FB-802C-4197-9969-5A88735FBED7}"/>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Araç Yönetimi — Stok Listesi</a:t>
            </a:r>
          </a:p>
        </p:txBody>
      </p:sp>
      <p:sp>
        <p:nvSpPr>
          <p:cNvPr id="5" name="TextBox 4">
            <a:extLst>
              <a:ext uri="{FF2B5EF4-FFF2-40B4-BE49-F238E27FC236}">
                <a16:creationId xmlns:a16="http://schemas.microsoft.com/office/drawing/2014/main" id="{843BD62C-2829-4B42-9629-A2E673FCAA25}"/>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Tüm araçları filtreleyin, yönetin ve takip edin</a:t>
            </a:r>
          </a:p>
        </p:txBody>
      </p:sp>
      <p:sp>
        <p:nvSpPr>
          <p:cNvPr id="6" name="Rectangle 5">
            <a:extLst>
              <a:ext uri="{FF2B5EF4-FFF2-40B4-BE49-F238E27FC236}">
                <a16:creationId xmlns:a16="http://schemas.microsoft.com/office/drawing/2014/main" id="{B65B5120-4375-4EAF-9675-8A87D10C50E2}"/>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2C7E810C-7FA7-4F80-99B8-61E63F120511}"/>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3C443D87-5066-41FB-82CA-5F503976BE21}"/>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71B965A7-E408-4D4A-8EE3-88108CF9E44F}"/>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E045FA93-F5AA-47BF-AF4B-E7FCA7FC7BEA}"/>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5A2C5C80-7B82-4E70-A550-96A8A56E571B}"/>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Marka/model arama ve tip filtresi (Tümü/Otomobil/SUV/Ticari/Motosiklet)</a:t>
            </a:r>
          </a:p>
        </p:txBody>
      </p:sp>
      <p:sp>
        <p:nvSpPr>
          <p:cNvPr id="12" name="TextBox 11">
            <a:extLst>
              <a:ext uri="{FF2B5EF4-FFF2-40B4-BE49-F238E27FC236}">
                <a16:creationId xmlns:a16="http://schemas.microsoft.com/office/drawing/2014/main" id="{B9092E88-436D-4848-9911-B255F01990A0}"/>
              </a:ext>
            </a:extLst>
          </p:cNvPr>
          <p:cNvSpPr txBox="1"/>
          <p:nvPr/>
        </p:nvSpPr>
        <p:spPr>
          <a:xfrm>
            <a:off x="660400" y="1879600"/>
            <a:ext cx="3708400" cy="508000"/>
          </a:xfrm>
          <a:prstGeom prst="rect">
            <a:avLst/>
          </a:prstGeom>
          <a:noFill/>
        </p:spPr>
        <p:txBody>
          <a:bodyPr vertOverflow="overflow" vert="horz" wrap="square" rtlCol="0" anchor="t">
            <a:spAutoFit/>
          </a:bodyPr>
          <a:lstStyle/>
          <a:p>
            <a:pPr algn="l"/>
            <a:r>
              <a:rPr lang="tr-TR" sz="1400">
                <a:solidFill>
                  <a:srgbClr val="333333"/>
                </a:solidFill>
              </a:rPr>
              <a:t>▸ ID, marka, tip, yıl, KM, fiyat, plaka, durum ve ekspertiz puanı sütunları</a:t>
            </a:r>
          </a:p>
        </p:txBody>
      </p:sp>
      <p:sp>
        <p:nvSpPr>
          <p:cNvPr id="13" name="TextBox 12">
            <a:extLst>
              <a:ext uri="{FF2B5EF4-FFF2-40B4-BE49-F238E27FC236}">
                <a16:creationId xmlns:a16="http://schemas.microsoft.com/office/drawing/2014/main" id="{8AB94A52-A2A6-4272-AB62-4766F92E6316}"/>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Satışta (yeşil), Rezerve (turuncu), Serviste (mavi), Satıldı (kırmızı)</a:t>
            </a:r>
          </a:p>
        </p:txBody>
      </p:sp>
      <p:sp>
        <p:nvSpPr>
          <p:cNvPr id="14" name="TextBox 13">
            <a:extLst>
              <a:ext uri="{FF2B5EF4-FFF2-40B4-BE49-F238E27FC236}">
                <a16:creationId xmlns:a16="http://schemas.microsoft.com/office/drawing/2014/main" id="{087E9C76-CF86-4419-9F77-D1667C510C3E}"/>
              </a:ext>
            </a:extLst>
          </p:cNvPr>
          <p:cNvSpPr txBox="1"/>
          <p:nvPr/>
        </p:nvSpPr>
        <p:spPr>
          <a:xfrm>
            <a:off x="647700" y="2984500"/>
            <a:ext cx="3708400" cy="307777"/>
          </a:xfrm>
          <a:prstGeom prst="rect">
            <a:avLst/>
          </a:prstGeom>
          <a:noFill/>
        </p:spPr>
        <p:txBody>
          <a:bodyPr vertOverflow="overflow" vert="horz" wrap="square" rtlCol="0" anchor="t">
            <a:spAutoFit/>
          </a:bodyPr>
          <a:lstStyle/>
          <a:p>
            <a:pPr algn="l"/>
            <a:r>
              <a:rPr lang="tr-TR" sz="1400" dirty="0">
                <a:solidFill>
                  <a:srgbClr val="333333"/>
                </a:solidFill>
              </a:rPr>
              <a:t>▸ Sayfalama</a:t>
            </a:r>
          </a:p>
        </p:txBody>
      </p:sp>
      <p:sp>
        <p:nvSpPr>
          <p:cNvPr id="15" name="Rectangle 14">
            <a:extLst>
              <a:ext uri="{FF2B5EF4-FFF2-40B4-BE49-F238E27FC236}">
                <a16:creationId xmlns:a16="http://schemas.microsoft.com/office/drawing/2014/main" id="{EAFE81EA-7028-44CC-8FF2-F3C20357DB04}"/>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CCC3AD1E-E512-4E5E-917E-13C12D8D1AEA}"/>
              </a:ext>
            </a:extLst>
          </p:cNvPr>
          <p:cNvSpPr/>
          <p:nvPr/>
        </p:nvSpPr>
        <p:spPr>
          <a:xfrm>
            <a:off x="4648200" y="863600"/>
            <a:ext cx="4038600" cy="3556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5C11EFE8-5F9D-420B-A9F8-EC6012EB5816}"/>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8" name="Rectangle 17">
            <a:extLst>
              <a:ext uri="{FF2B5EF4-FFF2-40B4-BE49-F238E27FC236}">
                <a16:creationId xmlns:a16="http://schemas.microsoft.com/office/drawing/2014/main" id="{69795CAA-8141-4AC1-A26D-24DE2840A401}"/>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CA886D64-BB6D-439D-B2ED-BE5C529C58BD}"/>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AracYonetimi Singleton LinkedList üzerinde filtreler. AracListesi LinkedList veriyi sıralı tutar; Aranabilir interface marka aramasını sağlar.</a:t>
            </a:r>
          </a:p>
        </p:txBody>
      </p:sp>
      <p:sp>
        <p:nvSpPr>
          <p:cNvPr id="22" name="Rectangle 21">
            <a:extLst>
              <a:ext uri="{FF2B5EF4-FFF2-40B4-BE49-F238E27FC236}">
                <a16:creationId xmlns:a16="http://schemas.microsoft.com/office/drawing/2014/main" id="{FD512999-FC7B-4132-B20B-D03BA7DF35C4}"/>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D37A1003-91CA-4B06-B21F-311BD52840DB}"/>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35617530-114F-BD55-CAFC-6275C96B54A0}"/>
              </a:ext>
            </a:extLst>
          </p:cNvPr>
          <p:cNvPicPr>
            <a:picLocks noChangeAspect="1"/>
          </p:cNvPicPr>
          <p:nvPr/>
        </p:nvPicPr>
        <p:blipFill>
          <a:blip r:embed="rId2"/>
          <a:stretch>
            <a:fillRect/>
          </a:stretch>
        </p:blipFill>
        <p:spPr>
          <a:xfrm>
            <a:off x="4648200" y="1828801"/>
            <a:ext cx="4200378" cy="2819400"/>
          </a:xfrm>
          <a:prstGeom prst="rect">
            <a:avLst/>
          </a:prstGeom>
        </p:spPr>
      </p:pic>
    </p:spTree>
    <p:extLst>
      <p:ext uri="{BB962C8B-B14F-4D97-AF65-F5344CB8AC3E}">
        <p14:creationId xmlns:p14="http://schemas.microsoft.com/office/powerpoint/2010/main" val="3312528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13C78B-E49D-437E-AEE9-D569182B3D9F}"/>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5EB0A22E-926A-4244-A7DA-030E5C506BA0}"/>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F7AD815B-DBA9-46E3-9A84-CD182D35A7CE}"/>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Araç Ekleme — Yeni Araç Formu</a:t>
            </a:r>
          </a:p>
        </p:txBody>
      </p:sp>
      <p:sp>
        <p:nvSpPr>
          <p:cNvPr id="5" name="TextBox 4">
            <a:extLst>
              <a:ext uri="{FF2B5EF4-FFF2-40B4-BE49-F238E27FC236}">
                <a16:creationId xmlns:a16="http://schemas.microsoft.com/office/drawing/2014/main" id="{A3860409-32F9-4630-927F-70D522A726E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Stoka yeni araç kaydı ve fiyat hesabı</a:t>
            </a:r>
          </a:p>
        </p:txBody>
      </p:sp>
      <p:sp>
        <p:nvSpPr>
          <p:cNvPr id="6" name="Rectangle 5">
            <a:extLst>
              <a:ext uri="{FF2B5EF4-FFF2-40B4-BE49-F238E27FC236}">
                <a16:creationId xmlns:a16="http://schemas.microsoft.com/office/drawing/2014/main" id="{CAA49235-416E-4C7B-A477-F2F429F004D7}"/>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4C0CEAA7-CC8B-4947-A4AC-351F8B808DFF}"/>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42F29A5B-F3B5-41B2-BF07-2F430354268D}"/>
              </a:ext>
            </a:extLst>
          </p:cNvPr>
          <p:cNvSpPr/>
          <p:nvPr/>
        </p:nvSpPr>
        <p:spPr>
          <a:xfrm>
            <a:off x="457200" y="863600"/>
            <a:ext cx="50800" cy="3810000"/>
          </a:xfrm>
          <a:prstGeom prst="rect">
            <a:avLst/>
          </a:prstGeom>
          <a:solidFill>
            <a:schemeClr val="accent2"/>
          </a:solidFill>
          <a:ln w="12700" cap="flat" cmpd="sng" algn="ctr">
            <a:solidFill>
              <a:schemeClr val="bg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433CB24C-DDEA-4ABB-88EE-B8B9DFCF357E}"/>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70EED213-7B8E-4FD1-AE83-BC09A9ABEED4}"/>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359EABAF-C88F-4219-8597-525DFCF7B082}"/>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Araç tipi seçimi: Otomobil / SUV / Ticari / Motosiklet tab'ları</a:t>
            </a:r>
          </a:p>
        </p:txBody>
      </p:sp>
      <p:sp>
        <p:nvSpPr>
          <p:cNvPr id="12" name="TextBox 11">
            <a:extLst>
              <a:ext uri="{FF2B5EF4-FFF2-40B4-BE49-F238E27FC236}">
                <a16:creationId xmlns:a16="http://schemas.microsoft.com/office/drawing/2014/main" id="{8A6484D6-5E0E-4DEB-B173-41F3D5D73E3D}"/>
              </a:ext>
            </a:extLst>
          </p:cNvPr>
          <p:cNvSpPr txBox="1"/>
          <p:nvPr/>
        </p:nvSpPr>
        <p:spPr>
          <a:xfrm>
            <a:off x="660400" y="1879600"/>
            <a:ext cx="3708400" cy="508000"/>
          </a:xfrm>
          <a:prstGeom prst="rect">
            <a:avLst/>
          </a:prstGeom>
          <a:noFill/>
        </p:spPr>
        <p:txBody>
          <a:bodyPr vertOverflow="overflow" vert="horz" wrap="square" rtlCol="0" anchor="t">
            <a:spAutoFit/>
          </a:bodyPr>
          <a:lstStyle/>
          <a:p>
            <a:pPr algn="l"/>
            <a:r>
              <a:rPr lang="tr-TR" sz="1400">
                <a:solidFill>
                  <a:srgbClr val="333333"/>
                </a:solidFill>
              </a:rPr>
              <a:t>▸ Temel Bilgiler: Marka, Model, Yıl, KM, Plaka, Şasi No, Renk</a:t>
            </a:r>
          </a:p>
        </p:txBody>
      </p:sp>
      <p:sp>
        <p:nvSpPr>
          <p:cNvPr id="13" name="TextBox 12">
            <a:extLst>
              <a:ext uri="{FF2B5EF4-FFF2-40B4-BE49-F238E27FC236}">
                <a16:creationId xmlns:a16="http://schemas.microsoft.com/office/drawing/2014/main" id="{7186039D-6BD2-4C18-A02F-97208D2FCAEB}"/>
              </a:ext>
            </a:extLst>
          </p:cNvPr>
          <p:cNvSpPr txBox="1"/>
          <p:nvPr/>
        </p:nvSpPr>
        <p:spPr>
          <a:xfrm>
            <a:off x="660400" y="2438400"/>
            <a:ext cx="3708400" cy="508000"/>
          </a:xfrm>
          <a:prstGeom prst="rect">
            <a:avLst/>
          </a:prstGeom>
          <a:noFill/>
        </p:spPr>
        <p:txBody>
          <a:bodyPr vertOverflow="overflow" vert="horz" wrap="square" rtlCol="0" anchor="t">
            <a:spAutoFit/>
          </a:bodyPr>
          <a:lstStyle/>
          <a:p>
            <a:pPr algn="l"/>
            <a:r>
              <a:rPr lang="tr-TR" sz="1400">
                <a:solidFill>
                  <a:srgbClr val="333333"/>
                </a:solidFill>
              </a:rPr>
              <a:t>▸ Yakıt Tipi ve Vites Tipi açılır menüleri</a:t>
            </a:r>
          </a:p>
        </p:txBody>
      </p:sp>
      <p:sp>
        <p:nvSpPr>
          <p:cNvPr id="14" name="TextBox 13">
            <a:extLst>
              <a:ext uri="{FF2B5EF4-FFF2-40B4-BE49-F238E27FC236}">
                <a16:creationId xmlns:a16="http://schemas.microsoft.com/office/drawing/2014/main" id="{487FF817-57E3-414E-A232-BEF1B1F265F2}"/>
              </a:ext>
            </a:extLst>
          </p:cNvPr>
          <p:cNvSpPr txBox="1"/>
          <p:nvPr/>
        </p:nvSpPr>
        <p:spPr>
          <a:xfrm>
            <a:off x="660400" y="2829123"/>
            <a:ext cx="3708400" cy="508000"/>
          </a:xfrm>
          <a:prstGeom prst="rect">
            <a:avLst/>
          </a:prstGeom>
          <a:noFill/>
        </p:spPr>
        <p:txBody>
          <a:bodyPr vertOverflow="overflow" vert="horz" wrap="square" rtlCol="0" anchor="t">
            <a:spAutoFit/>
          </a:bodyPr>
          <a:lstStyle/>
          <a:p>
            <a:pPr algn="l"/>
            <a:r>
              <a:rPr lang="tr-TR" sz="1400" dirty="0">
                <a:solidFill>
                  <a:srgbClr val="333333"/>
                </a:solidFill>
              </a:rPr>
              <a:t>▸ Fiyat Bilgileri: Alış Fiyatı, Satış Fiyatı → otomatik Tahmini Kâr hesabı</a:t>
            </a:r>
          </a:p>
        </p:txBody>
      </p:sp>
      <p:sp>
        <p:nvSpPr>
          <p:cNvPr id="15" name="TextBox 14">
            <a:extLst>
              <a:ext uri="{FF2B5EF4-FFF2-40B4-BE49-F238E27FC236}">
                <a16:creationId xmlns:a16="http://schemas.microsoft.com/office/drawing/2014/main" id="{19B84810-6602-45F0-AF7A-890CA8FA9B89}"/>
              </a:ext>
            </a:extLst>
          </p:cNvPr>
          <p:cNvSpPr txBox="1"/>
          <p:nvPr/>
        </p:nvSpPr>
        <p:spPr>
          <a:xfrm>
            <a:off x="660400" y="3390900"/>
            <a:ext cx="3708400" cy="508000"/>
          </a:xfrm>
          <a:prstGeom prst="rect">
            <a:avLst/>
          </a:prstGeom>
          <a:noFill/>
        </p:spPr>
        <p:txBody>
          <a:bodyPr vertOverflow="overflow" vert="horz" wrap="square" rtlCol="0" anchor="t">
            <a:spAutoFit/>
          </a:bodyPr>
          <a:lstStyle/>
          <a:p>
            <a:pPr algn="l"/>
            <a:r>
              <a:rPr lang="tr-TR" sz="1400">
                <a:solidFill>
                  <a:srgbClr val="333333"/>
                </a:solidFill>
              </a:rPr>
              <a:t>▸ Otomobile Özgü: Kasa Tipi, Kapı Sayısı, Sunroof checkbox</a:t>
            </a:r>
          </a:p>
        </p:txBody>
      </p:sp>
      <p:sp>
        <p:nvSpPr>
          <p:cNvPr id="16" name="Rectangle 15">
            <a:extLst>
              <a:ext uri="{FF2B5EF4-FFF2-40B4-BE49-F238E27FC236}">
                <a16:creationId xmlns:a16="http://schemas.microsoft.com/office/drawing/2014/main" id="{236F6B6E-5949-4AF6-B33F-10A06BDE1F38}"/>
              </a:ext>
            </a:extLst>
          </p:cNvPr>
          <p:cNvSpPr/>
          <p:nvPr/>
        </p:nvSpPr>
        <p:spPr>
          <a:xfrm>
            <a:off x="4648200" y="9017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19A8789E-635A-40A5-8A78-F21233919630}"/>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4BCE8CD9-CB59-438E-8283-FEB07C0576A5}"/>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9" name="Rectangle 18">
            <a:extLst>
              <a:ext uri="{FF2B5EF4-FFF2-40B4-BE49-F238E27FC236}">
                <a16:creationId xmlns:a16="http://schemas.microsoft.com/office/drawing/2014/main" id="{917E546D-C25F-49D2-A3B6-10001BFA3B85}"/>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73C32615-51AC-4D9E-B778-DBC9111475CE}"/>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Polimorfizm: seçilen tipe göre farklı Concrete sınıf (Otomobil/SUV/Ticari/Motosiklet) oluşturulur. karHesapla() satış - alış farkını hesaplar.</a:t>
            </a:r>
          </a:p>
        </p:txBody>
      </p:sp>
      <p:sp>
        <p:nvSpPr>
          <p:cNvPr id="23" name="Rectangle 22">
            <a:extLst>
              <a:ext uri="{FF2B5EF4-FFF2-40B4-BE49-F238E27FC236}">
                <a16:creationId xmlns:a16="http://schemas.microsoft.com/office/drawing/2014/main" id="{17FB038C-A01F-4B06-8EB4-3630BD82CFF8}"/>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81C6F4B7-96A7-4C34-B06A-51AE00DC2A31}"/>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70CC90E6-4111-9772-5E2E-3528BDFB5FAE}"/>
              </a:ext>
            </a:extLst>
          </p:cNvPr>
          <p:cNvPicPr>
            <a:picLocks noChangeAspect="1"/>
          </p:cNvPicPr>
          <p:nvPr/>
        </p:nvPicPr>
        <p:blipFill>
          <a:blip r:embed="rId2"/>
          <a:srcRect r="3774"/>
          <a:stretch>
            <a:fillRect/>
          </a:stretch>
        </p:blipFill>
        <p:spPr>
          <a:xfrm>
            <a:off x="4648200" y="2037126"/>
            <a:ext cx="4038600" cy="2537851"/>
          </a:xfrm>
          <a:prstGeom prst="rect">
            <a:avLst/>
          </a:prstGeom>
        </p:spPr>
      </p:pic>
    </p:spTree>
    <p:extLst>
      <p:ext uri="{BB962C8B-B14F-4D97-AF65-F5344CB8AC3E}">
        <p14:creationId xmlns:p14="http://schemas.microsoft.com/office/powerpoint/2010/main" val="24810956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4FEDA5-2670-478B-B6E5-45BF73DB505B}"/>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D4875960-9F6F-481A-BC34-D04246654C44}"/>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3458AA80-44B6-47B9-8D5E-04861AEE1B18}"/>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Satış İşlemleri — Yeni Satış</a:t>
            </a:r>
          </a:p>
        </p:txBody>
      </p:sp>
      <p:sp>
        <p:nvSpPr>
          <p:cNvPr id="5" name="TextBox 4">
            <a:extLst>
              <a:ext uri="{FF2B5EF4-FFF2-40B4-BE49-F238E27FC236}">
                <a16:creationId xmlns:a16="http://schemas.microsoft.com/office/drawing/2014/main" id="{39981282-84C2-40E7-B6DC-32A8538EBA1A}"/>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4 adımlı satış akışı ve FIFO kuyruk sistemi</a:t>
            </a:r>
          </a:p>
        </p:txBody>
      </p:sp>
      <p:sp>
        <p:nvSpPr>
          <p:cNvPr id="6" name="Rectangle 5">
            <a:extLst>
              <a:ext uri="{FF2B5EF4-FFF2-40B4-BE49-F238E27FC236}">
                <a16:creationId xmlns:a16="http://schemas.microsoft.com/office/drawing/2014/main" id="{CE08F998-8A87-4ECB-9D7E-43BC559F1182}"/>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86C54770-3701-4AA0-B65B-984783783863}"/>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EE185F3B-6799-4288-B728-CB6008CE7512}"/>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A1049FCF-3F99-4DEC-B297-A5E9F41BF024}"/>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8E8A584-3FAC-42B6-9058-53AB6B3FE193}"/>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134814B5-0E44-41F6-B74B-709ABA3DB2E0}"/>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Adım 1: Araç Seç — stoktan filtreli seçim</a:t>
            </a:r>
          </a:p>
        </p:txBody>
      </p:sp>
      <p:sp>
        <p:nvSpPr>
          <p:cNvPr id="12" name="TextBox 11">
            <a:extLst>
              <a:ext uri="{FF2B5EF4-FFF2-40B4-BE49-F238E27FC236}">
                <a16:creationId xmlns:a16="http://schemas.microsoft.com/office/drawing/2014/main" id="{F12783DC-2524-4CA7-9A0F-05A8488200B3}"/>
              </a:ext>
            </a:extLst>
          </p:cNvPr>
          <p:cNvSpPr txBox="1"/>
          <p:nvPr/>
        </p:nvSpPr>
        <p:spPr>
          <a:xfrm>
            <a:off x="660400" y="1758037"/>
            <a:ext cx="3708400" cy="508000"/>
          </a:xfrm>
          <a:prstGeom prst="rect">
            <a:avLst/>
          </a:prstGeom>
          <a:noFill/>
        </p:spPr>
        <p:txBody>
          <a:bodyPr vertOverflow="overflow" vert="horz" wrap="square" rtlCol="0" anchor="t">
            <a:spAutoFit/>
          </a:bodyPr>
          <a:lstStyle/>
          <a:p>
            <a:pPr algn="l"/>
            <a:r>
              <a:rPr lang="tr-TR" sz="1400" dirty="0">
                <a:solidFill>
                  <a:srgbClr val="333333"/>
                </a:solidFill>
              </a:rPr>
              <a:t>▸ Adım 2: Müşteri Seç — BST araması ile hızlı müşteri bulma</a:t>
            </a:r>
          </a:p>
        </p:txBody>
      </p:sp>
      <p:sp>
        <p:nvSpPr>
          <p:cNvPr id="13" name="TextBox 12">
            <a:extLst>
              <a:ext uri="{FF2B5EF4-FFF2-40B4-BE49-F238E27FC236}">
                <a16:creationId xmlns:a16="http://schemas.microsoft.com/office/drawing/2014/main" id="{2822634C-8E88-4AA2-AD7E-2A75814E8CF4}"/>
              </a:ext>
            </a:extLst>
          </p:cNvPr>
          <p:cNvSpPr txBox="1"/>
          <p:nvPr/>
        </p:nvSpPr>
        <p:spPr>
          <a:xfrm>
            <a:off x="660400" y="2354937"/>
            <a:ext cx="3708400" cy="508000"/>
          </a:xfrm>
          <a:prstGeom prst="rect">
            <a:avLst/>
          </a:prstGeom>
          <a:noFill/>
        </p:spPr>
        <p:txBody>
          <a:bodyPr vertOverflow="overflow" vert="horz" wrap="square" rtlCol="0" anchor="t">
            <a:spAutoFit/>
          </a:bodyPr>
          <a:lstStyle/>
          <a:p>
            <a:pPr algn="l"/>
            <a:r>
              <a:rPr lang="tr-TR" sz="1400" dirty="0">
                <a:solidFill>
                  <a:srgbClr val="333333"/>
                </a:solidFill>
              </a:rPr>
              <a:t>▸ Adım 3: Fiyat Belirle — satış fiyatı ve ödeme şekli</a:t>
            </a:r>
          </a:p>
        </p:txBody>
      </p:sp>
      <p:sp>
        <p:nvSpPr>
          <p:cNvPr id="14" name="TextBox 13">
            <a:extLst>
              <a:ext uri="{FF2B5EF4-FFF2-40B4-BE49-F238E27FC236}">
                <a16:creationId xmlns:a16="http://schemas.microsoft.com/office/drawing/2014/main" id="{20DC0C59-E818-45FE-968A-8DE2A528C980}"/>
              </a:ext>
            </a:extLst>
          </p:cNvPr>
          <p:cNvSpPr txBox="1"/>
          <p:nvPr/>
        </p:nvSpPr>
        <p:spPr>
          <a:xfrm>
            <a:off x="660400" y="2926437"/>
            <a:ext cx="3708400" cy="523220"/>
          </a:xfrm>
          <a:prstGeom prst="rect">
            <a:avLst/>
          </a:prstGeom>
          <a:noFill/>
        </p:spPr>
        <p:txBody>
          <a:bodyPr vertOverflow="overflow" vert="horz" wrap="square" rtlCol="0" anchor="t">
            <a:spAutoFit/>
          </a:bodyPr>
          <a:lstStyle/>
          <a:p>
            <a:pPr algn="l"/>
            <a:r>
              <a:rPr lang="tr-TR" sz="1400" dirty="0">
                <a:solidFill>
                  <a:srgbClr val="333333"/>
                </a:solidFill>
              </a:rPr>
              <a:t>▸ Adım 4: Onayla — satış özeti (brüt kâr, kâr marjı)</a:t>
            </a:r>
          </a:p>
        </p:txBody>
      </p:sp>
      <p:sp>
        <p:nvSpPr>
          <p:cNvPr id="15" name="TextBox 14">
            <a:extLst>
              <a:ext uri="{FF2B5EF4-FFF2-40B4-BE49-F238E27FC236}">
                <a16:creationId xmlns:a16="http://schemas.microsoft.com/office/drawing/2014/main" id="{7A6DB671-BA4D-42BA-9712-D1CD5B1B5794}"/>
              </a:ext>
            </a:extLst>
          </p:cNvPr>
          <p:cNvSpPr txBox="1"/>
          <p:nvPr/>
        </p:nvSpPr>
        <p:spPr>
          <a:xfrm>
            <a:off x="660400" y="3504287"/>
            <a:ext cx="3708400" cy="508000"/>
          </a:xfrm>
          <a:prstGeom prst="rect">
            <a:avLst/>
          </a:prstGeom>
          <a:noFill/>
        </p:spPr>
        <p:txBody>
          <a:bodyPr vertOverflow="overflow" vert="horz" wrap="square" rtlCol="0" anchor="t">
            <a:spAutoFit/>
          </a:bodyPr>
          <a:lstStyle/>
          <a:p>
            <a:pPr algn="l"/>
            <a:r>
              <a:rPr lang="tr-TR" sz="1400" dirty="0">
                <a:solidFill>
                  <a:srgbClr val="333333"/>
                </a:solidFill>
              </a:rPr>
              <a:t>▸ Satış kuyruğuna eklenir, FIFO sırasıyla işlenir</a:t>
            </a:r>
          </a:p>
        </p:txBody>
      </p:sp>
      <p:sp>
        <p:nvSpPr>
          <p:cNvPr id="16" name="Rectangle 15">
            <a:extLst>
              <a:ext uri="{FF2B5EF4-FFF2-40B4-BE49-F238E27FC236}">
                <a16:creationId xmlns:a16="http://schemas.microsoft.com/office/drawing/2014/main" id="{3BF1C0C1-BBD2-4216-962C-8B9327C04E36}"/>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AE9AA238-1865-408C-B68E-9781D35630D1}"/>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27A552F0-3433-40CE-8E08-4ED497083EB0}"/>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9" name="Rectangle 18">
            <a:extLst>
              <a:ext uri="{FF2B5EF4-FFF2-40B4-BE49-F238E27FC236}">
                <a16:creationId xmlns:a16="http://schemas.microsoft.com/office/drawing/2014/main" id="{724C5A74-F197-413A-9550-9768410E42FA}"/>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6FA1B1E6-B021-4730-A24A-FF9030AFEA38}"/>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SatisKuyrugu (Queue/FIFO) işlem sırasını garanti eder. Onayda AracYonetimi stoğu günceller, SatisYonetimi Singleton kaydı saklar.</a:t>
            </a:r>
          </a:p>
        </p:txBody>
      </p:sp>
      <p:sp>
        <p:nvSpPr>
          <p:cNvPr id="23" name="Rectangle 22">
            <a:extLst>
              <a:ext uri="{FF2B5EF4-FFF2-40B4-BE49-F238E27FC236}">
                <a16:creationId xmlns:a16="http://schemas.microsoft.com/office/drawing/2014/main" id="{367CD219-7197-4C42-B1FF-E007550CFDBA}"/>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AD8731CE-0ACB-412A-8B56-DD45E962B53D}"/>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E7362675-9979-EA66-29B3-818E2A2D507F}"/>
              </a:ext>
            </a:extLst>
          </p:cNvPr>
          <p:cNvPicPr>
            <a:picLocks noChangeAspect="1"/>
          </p:cNvPicPr>
          <p:nvPr/>
        </p:nvPicPr>
        <p:blipFill>
          <a:blip r:embed="rId2"/>
          <a:stretch>
            <a:fillRect/>
          </a:stretch>
        </p:blipFill>
        <p:spPr>
          <a:xfrm>
            <a:off x="4749801" y="2082018"/>
            <a:ext cx="3937000" cy="2566182"/>
          </a:xfrm>
          <a:prstGeom prst="rect">
            <a:avLst/>
          </a:prstGeom>
        </p:spPr>
      </p:pic>
    </p:spTree>
    <p:extLst>
      <p:ext uri="{BB962C8B-B14F-4D97-AF65-F5344CB8AC3E}">
        <p14:creationId xmlns:p14="http://schemas.microsoft.com/office/powerpoint/2010/main" val="3177379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0BBC5A-4D0C-46EA-B735-0356114C3553}"/>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30A1D8F9-EF97-495F-8FD6-4BEA6FBAF145}"/>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E5CB726F-28FC-46CA-8049-C86910D3785D}"/>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Raporlama — Gelir Gider &amp; Performans</a:t>
            </a:r>
          </a:p>
        </p:txBody>
      </p:sp>
      <p:sp>
        <p:nvSpPr>
          <p:cNvPr id="5" name="TextBox 4">
            <a:extLst>
              <a:ext uri="{FF2B5EF4-FFF2-40B4-BE49-F238E27FC236}">
                <a16:creationId xmlns:a16="http://schemas.microsoft.com/office/drawing/2014/main" id="{DFC5C7DD-D1FC-4327-9BC9-969B10CC918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Dönemsel finansal analiz ve marka istatistikleri</a:t>
            </a:r>
          </a:p>
        </p:txBody>
      </p:sp>
      <p:sp>
        <p:nvSpPr>
          <p:cNvPr id="6" name="Rectangle 5">
            <a:extLst>
              <a:ext uri="{FF2B5EF4-FFF2-40B4-BE49-F238E27FC236}">
                <a16:creationId xmlns:a16="http://schemas.microsoft.com/office/drawing/2014/main" id="{620D85EE-5A3D-42AE-92E8-C69194185FE3}"/>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300D4265-F6FB-488B-9F6F-F9DCF34DF0BD}"/>
              </a:ext>
            </a:extLst>
          </p:cNvPr>
          <p:cNvSpPr/>
          <p:nvPr/>
        </p:nvSpPr>
        <p:spPr>
          <a:xfrm>
            <a:off x="457200" y="8763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40DDBE27-0554-48B3-8046-D4F8A0834801}"/>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ACCAE1ED-7C80-40AC-8E44-BC806E3801DA}"/>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E4FD3C3-3CFC-421E-B2A2-299A938540CD}"/>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F437D59D-C410-4573-8E5B-1E08C46A3E30}"/>
              </a:ext>
            </a:extLst>
          </p:cNvPr>
          <p:cNvSpPr txBox="1"/>
          <p:nvPr/>
        </p:nvSpPr>
        <p:spPr>
          <a:xfrm>
            <a:off x="660400" y="1320800"/>
            <a:ext cx="3708400" cy="307777"/>
          </a:xfrm>
          <a:prstGeom prst="rect">
            <a:avLst/>
          </a:prstGeom>
          <a:noFill/>
        </p:spPr>
        <p:txBody>
          <a:bodyPr vertOverflow="overflow" vert="horz" wrap="square" rtlCol="0" anchor="t">
            <a:spAutoFit/>
          </a:bodyPr>
          <a:lstStyle/>
          <a:p>
            <a:pPr algn="l"/>
            <a:r>
              <a:rPr lang="tr-TR" sz="1400" dirty="0">
                <a:solidFill>
                  <a:srgbClr val="333333"/>
                </a:solidFill>
              </a:rPr>
              <a:t>▸ Tarih aralığı seçimi ile rapor oluşturma </a:t>
            </a:r>
          </a:p>
        </p:txBody>
      </p:sp>
      <p:sp>
        <p:nvSpPr>
          <p:cNvPr id="12" name="TextBox 11">
            <a:extLst>
              <a:ext uri="{FF2B5EF4-FFF2-40B4-BE49-F238E27FC236}">
                <a16:creationId xmlns:a16="http://schemas.microsoft.com/office/drawing/2014/main" id="{0695A151-DB35-498B-86C8-F0F58B820848}"/>
              </a:ext>
            </a:extLst>
          </p:cNvPr>
          <p:cNvSpPr txBox="1"/>
          <p:nvPr/>
        </p:nvSpPr>
        <p:spPr>
          <a:xfrm>
            <a:off x="660400" y="1767702"/>
            <a:ext cx="3708400" cy="307777"/>
          </a:xfrm>
          <a:prstGeom prst="rect">
            <a:avLst/>
          </a:prstGeom>
          <a:noFill/>
        </p:spPr>
        <p:txBody>
          <a:bodyPr vertOverflow="overflow" vert="horz" wrap="square" rtlCol="0" anchor="t">
            <a:spAutoFit/>
          </a:bodyPr>
          <a:lstStyle/>
          <a:p>
            <a:pPr algn="l"/>
            <a:r>
              <a:rPr lang="tr-TR" sz="1400" dirty="0">
                <a:solidFill>
                  <a:srgbClr val="333333"/>
                </a:solidFill>
              </a:rPr>
              <a:t>▸ Kartlar: Toplam Gelir,Gider,Net Kâr,Kâr Marjı</a:t>
            </a:r>
          </a:p>
        </p:txBody>
      </p:sp>
      <p:sp>
        <p:nvSpPr>
          <p:cNvPr id="13" name="TextBox 12">
            <a:extLst>
              <a:ext uri="{FF2B5EF4-FFF2-40B4-BE49-F238E27FC236}">
                <a16:creationId xmlns:a16="http://schemas.microsoft.com/office/drawing/2014/main" id="{BDF79B73-8343-4F19-BE12-2A48026E0ACC}"/>
              </a:ext>
            </a:extLst>
          </p:cNvPr>
          <p:cNvSpPr txBox="1"/>
          <p:nvPr/>
        </p:nvSpPr>
        <p:spPr>
          <a:xfrm>
            <a:off x="660400" y="2197899"/>
            <a:ext cx="3708400" cy="307777"/>
          </a:xfrm>
          <a:prstGeom prst="rect">
            <a:avLst/>
          </a:prstGeom>
          <a:noFill/>
        </p:spPr>
        <p:txBody>
          <a:bodyPr vertOverflow="overflow" vert="horz" wrap="square" rtlCol="0" anchor="t">
            <a:spAutoFit/>
          </a:bodyPr>
          <a:lstStyle/>
          <a:p>
            <a:pPr algn="l"/>
            <a:r>
              <a:rPr lang="tr-TR" sz="1400" dirty="0">
                <a:solidFill>
                  <a:srgbClr val="333333"/>
                </a:solidFill>
              </a:rPr>
              <a:t>▸ Aylık Gelir-Gider çubuk grafiği </a:t>
            </a:r>
          </a:p>
        </p:txBody>
      </p:sp>
      <p:sp>
        <p:nvSpPr>
          <p:cNvPr id="14" name="TextBox 13">
            <a:extLst>
              <a:ext uri="{FF2B5EF4-FFF2-40B4-BE49-F238E27FC236}">
                <a16:creationId xmlns:a16="http://schemas.microsoft.com/office/drawing/2014/main" id="{CAFC2873-3CBF-44F3-AFF3-34A00C8D47F3}"/>
              </a:ext>
            </a:extLst>
          </p:cNvPr>
          <p:cNvSpPr txBox="1"/>
          <p:nvPr/>
        </p:nvSpPr>
        <p:spPr>
          <a:xfrm>
            <a:off x="660400" y="2637825"/>
            <a:ext cx="3708400" cy="508000"/>
          </a:xfrm>
          <a:prstGeom prst="rect">
            <a:avLst/>
          </a:prstGeom>
          <a:noFill/>
        </p:spPr>
        <p:txBody>
          <a:bodyPr vertOverflow="overflow" vert="horz" wrap="square" rtlCol="0" anchor="t">
            <a:spAutoFit/>
          </a:bodyPr>
          <a:lstStyle/>
          <a:p>
            <a:pPr algn="l"/>
            <a:r>
              <a:rPr lang="tr-TR" sz="1400" dirty="0">
                <a:solidFill>
                  <a:srgbClr val="333333"/>
                </a:solidFill>
              </a:rPr>
              <a:t>▸ Çalışan Performansı: satış sayısı + toplam kâr sıralaması</a:t>
            </a:r>
          </a:p>
        </p:txBody>
      </p:sp>
      <p:sp>
        <p:nvSpPr>
          <p:cNvPr id="15" name="TextBox 14">
            <a:extLst>
              <a:ext uri="{FF2B5EF4-FFF2-40B4-BE49-F238E27FC236}">
                <a16:creationId xmlns:a16="http://schemas.microsoft.com/office/drawing/2014/main" id="{6EFF6DE9-2276-4ADD-AEFD-3FC70504532D}"/>
              </a:ext>
            </a:extLst>
          </p:cNvPr>
          <p:cNvSpPr txBox="1"/>
          <p:nvPr/>
        </p:nvSpPr>
        <p:spPr>
          <a:xfrm>
            <a:off x="660400" y="3184537"/>
            <a:ext cx="3708400" cy="508000"/>
          </a:xfrm>
          <a:prstGeom prst="rect">
            <a:avLst/>
          </a:prstGeom>
          <a:noFill/>
        </p:spPr>
        <p:txBody>
          <a:bodyPr vertOverflow="overflow" vert="horz" wrap="square" rtlCol="0" anchor="t">
            <a:spAutoFit/>
          </a:bodyPr>
          <a:lstStyle/>
          <a:p>
            <a:pPr algn="l"/>
            <a:r>
              <a:rPr lang="tr-TR" sz="1400" dirty="0">
                <a:solidFill>
                  <a:srgbClr val="333333"/>
                </a:solidFill>
              </a:rPr>
              <a:t>▸ Marka İstatistikleri: stok, satılan, ort. satış süresi, ort. kâr, oran</a:t>
            </a:r>
          </a:p>
        </p:txBody>
      </p:sp>
      <p:sp>
        <p:nvSpPr>
          <p:cNvPr id="16" name="Rectangle 15">
            <a:extLst>
              <a:ext uri="{FF2B5EF4-FFF2-40B4-BE49-F238E27FC236}">
                <a16:creationId xmlns:a16="http://schemas.microsoft.com/office/drawing/2014/main" id="{D92EDF1B-6AE6-47E6-9C0D-8B7CD69F5441}"/>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56A5903E-3D20-48DB-80EE-3E667BFAC537}"/>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99144675-79A2-4416-8247-BCA84142DECE}"/>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Arka Plan Mantığı</a:t>
            </a:r>
          </a:p>
        </p:txBody>
      </p:sp>
      <p:sp>
        <p:nvSpPr>
          <p:cNvPr id="19" name="Rectangle 18">
            <a:extLst>
              <a:ext uri="{FF2B5EF4-FFF2-40B4-BE49-F238E27FC236}">
                <a16:creationId xmlns:a16="http://schemas.microsoft.com/office/drawing/2014/main" id="{7ECE3F34-27B7-4B85-AEAD-A9D98E9E7830}"/>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0AF357E2-6194-4BA8-8AAC-890FB14562AF}"/>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RaporlayiciServis Raporlanabilir interface üzerinden veri toplar. AracYonetimi marka stok raporunu, SatisYonetimi gelir/gider özetini döndürür.</a:t>
            </a:r>
          </a:p>
        </p:txBody>
      </p:sp>
      <p:sp>
        <p:nvSpPr>
          <p:cNvPr id="23" name="Rectangle 22">
            <a:extLst>
              <a:ext uri="{FF2B5EF4-FFF2-40B4-BE49-F238E27FC236}">
                <a16:creationId xmlns:a16="http://schemas.microsoft.com/office/drawing/2014/main" id="{F492A9FD-5309-4619-866B-2E45FCB9D5B5}"/>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58BAC3EB-D985-4C88-A6A7-0A3F44A8844C}"/>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DAA419DC-B043-D378-935C-CCD0EA5F71A2}"/>
              </a:ext>
            </a:extLst>
          </p:cNvPr>
          <p:cNvPicPr>
            <a:picLocks noChangeAspect="1"/>
          </p:cNvPicPr>
          <p:nvPr/>
        </p:nvPicPr>
        <p:blipFill>
          <a:blip r:embed="rId2"/>
          <a:stretch>
            <a:fillRect/>
          </a:stretch>
        </p:blipFill>
        <p:spPr>
          <a:xfrm>
            <a:off x="4698609" y="2264898"/>
            <a:ext cx="3988191" cy="2347279"/>
          </a:xfrm>
          <a:prstGeom prst="rect">
            <a:avLst/>
          </a:prstGeom>
        </p:spPr>
      </p:pic>
    </p:spTree>
    <p:extLst>
      <p:ext uri="{BB962C8B-B14F-4D97-AF65-F5344CB8AC3E}">
        <p14:creationId xmlns:p14="http://schemas.microsoft.com/office/powerpoint/2010/main" val="3163428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B2AB0E-2F99-405F-A452-F7B448D07186}"/>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81245459-B17A-4A18-A3C5-5E08D7CF2D2F}"/>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500097BB-E203-4EF2-B58F-3ECD77E3A78E}"/>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Sigorta &amp; Muayene Takibi</a:t>
            </a:r>
          </a:p>
        </p:txBody>
      </p:sp>
      <p:sp>
        <p:nvSpPr>
          <p:cNvPr id="5" name="TextBox 4">
            <a:extLst>
              <a:ext uri="{FF2B5EF4-FFF2-40B4-BE49-F238E27FC236}">
                <a16:creationId xmlns:a16="http://schemas.microsoft.com/office/drawing/2014/main" id="{180078EC-8341-4374-9577-6475F369600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Yaklaşan ve süresi dolan kayıtların yönetimi</a:t>
            </a:r>
          </a:p>
        </p:txBody>
      </p:sp>
      <p:sp>
        <p:nvSpPr>
          <p:cNvPr id="6" name="Rectangle 5">
            <a:extLst>
              <a:ext uri="{FF2B5EF4-FFF2-40B4-BE49-F238E27FC236}">
                <a16:creationId xmlns:a16="http://schemas.microsoft.com/office/drawing/2014/main" id="{7FE68C2B-2FD5-4A5D-9AD2-16DA8BB3E5DE}"/>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E4A050BC-5190-498E-8B49-0EF7ED3AC3B7}"/>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5B15D77D-8787-42D8-9BCB-B0BCBAC071BC}"/>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BEC145AD-78FB-4BC4-8D80-8826B286A9A1}"/>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5E7346FC-C707-45E6-997D-484B32787A56}"/>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C00BB31F-EA83-4A1B-AFCF-426DCBD91F77}"/>
              </a:ext>
            </a:extLst>
          </p:cNvPr>
          <p:cNvSpPr txBox="1"/>
          <p:nvPr/>
        </p:nvSpPr>
        <p:spPr>
          <a:xfrm>
            <a:off x="660400" y="1320800"/>
            <a:ext cx="3708400" cy="523220"/>
          </a:xfrm>
          <a:prstGeom prst="rect">
            <a:avLst/>
          </a:prstGeom>
          <a:noFill/>
        </p:spPr>
        <p:txBody>
          <a:bodyPr vertOverflow="overflow" vert="horz" wrap="square" rtlCol="0" anchor="t">
            <a:spAutoFit/>
          </a:bodyPr>
          <a:lstStyle/>
          <a:p>
            <a:pPr algn="l"/>
            <a:r>
              <a:rPr lang="tr-TR" sz="1400" dirty="0">
                <a:solidFill>
                  <a:srgbClr val="333333"/>
                </a:solidFill>
              </a:rPr>
              <a:t>▸ Özet kartlar:Yaklaşan Sigorta,Yaklaşan Muayene,Süresi Dolan,Geçerli</a:t>
            </a:r>
          </a:p>
        </p:txBody>
      </p:sp>
      <p:sp>
        <p:nvSpPr>
          <p:cNvPr id="12" name="TextBox 11">
            <a:extLst>
              <a:ext uri="{FF2B5EF4-FFF2-40B4-BE49-F238E27FC236}">
                <a16:creationId xmlns:a16="http://schemas.microsoft.com/office/drawing/2014/main" id="{F60AE9CF-4885-4913-8C13-301ABE7FEC88}"/>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Sigorta Kayıtları tablosu: plaka, araç, şirket, başlangıç/bitiş, kalan gün, durum</a:t>
            </a:r>
          </a:p>
        </p:txBody>
      </p:sp>
      <p:sp>
        <p:nvSpPr>
          <p:cNvPr id="13" name="TextBox 12">
            <a:extLst>
              <a:ext uri="{FF2B5EF4-FFF2-40B4-BE49-F238E27FC236}">
                <a16:creationId xmlns:a16="http://schemas.microsoft.com/office/drawing/2014/main" id="{34296BC8-8653-4022-B119-810ACB9EAD45}"/>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dirty="0">
                <a:solidFill>
                  <a:srgbClr val="333333"/>
                </a:solidFill>
              </a:rPr>
              <a:t>▸ Muayene Kayıtları tablosu: plaka, araç, muayene tarihi, sonraki tarih, sonuç</a:t>
            </a:r>
          </a:p>
        </p:txBody>
      </p:sp>
      <p:sp>
        <p:nvSpPr>
          <p:cNvPr id="14" name="TextBox 13">
            <a:extLst>
              <a:ext uri="{FF2B5EF4-FFF2-40B4-BE49-F238E27FC236}">
                <a16:creationId xmlns:a16="http://schemas.microsoft.com/office/drawing/2014/main" id="{0697D9A9-3F02-4A11-B1B1-C37AE2134840}"/>
              </a:ext>
            </a:extLst>
          </p:cNvPr>
          <p:cNvSpPr txBox="1"/>
          <p:nvPr/>
        </p:nvSpPr>
        <p:spPr>
          <a:xfrm>
            <a:off x="660400" y="30734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Yaklaşan (turuncu), Kritik (kırmızı), Geçerli (yeşil), Doldu (kırmızı)</a:t>
            </a:r>
          </a:p>
        </p:txBody>
      </p:sp>
      <p:sp>
        <p:nvSpPr>
          <p:cNvPr id="15" name="Rectangle 14">
            <a:extLst>
              <a:ext uri="{FF2B5EF4-FFF2-40B4-BE49-F238E27FC236}">
                <a16:creationId xmlns:a16="http://schemas.microsoft.com/office/drawing/2014/main" id="{DDC5B524-0A84-4C50-A13B-EA78FCDB4280}"/>
              </a:ext>
            </a:extLst>
          </p:cNvPr>
          <p:cNvSpPr/>
          <p:nvPr/>
        </p:nvSpPr>
        <p:spPr>
          <a:xfrm>
            <a:off x="4714631" y="90805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6" name="Rectangle 15">
            <a:extLst>
              <a:ext uri="{FF2B5EF4-FFF2-40B4-BE49-F238E27FC236}">
                <a16:creationId xmlns:a16="http://schemas.microsoft.com/office/drawing/2014/main" id="{83E55A80-730C-41A6-BB41-03565A95D212}"/>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TextBox 16">
            <a:extLst>
              <a:ext uri="{FF2B5EF4-FFF2-40B4-BE49-F238E27FC236}">
                <a16:creationId xmlns:a16="http://schemas.microsoft.com/office/drawing/2014/main" id="{D32E54BD-01FE-4DF3-BA48-AC0A49B84B73}"/>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Arka Plan Mantığı</a:t>
            </a:r>
          </a:p>
        </p:txBody>
      </p:sp>
      <p:sp>
        <p:nvSpPr>
          <p:cNvPr id="18" name="Rectangle 17">
            <a:extLst>
              <a:ext uri="{FF2B5EF4-FFF2-40B4-BE49-F238E27FC236}">
                <a16:creationId xmlns:a16="http://schemas.microsoft.com/office/drawing/2014/main" id="{BE61EEC0-BF79-47BB-902A-B0FC96EC2F8B}"/>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9" name="TextBox 18">
            <a:extLst>
              <a:ext uri="{FF2B5EF4-FFF2-40B4-BE49-F238E27FC236}">
                <a16:creationId xmlns:a16="http://schemas.microsoft.com/office/drawing/2014/main" id="{A92D895B-8ADE-4E11-A67B-C781262EFB55}"/>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BildirimSistemi gün farkını hesaplar: &lt;3 gün Kritik, &lt;7 Uyarı, &lt;30 Yaklaşan. SigortaBilgisi ve MuayeneBilgisi nesneleri bitiş tarihlerini tutar.</a:t>
            </a:r>
          </a:p>
        </p:txBody>
      </p:sp>
      <p:sp>
        <p:nvSpPr>
          <p:cNvPr id="22" name="Rectangle 21">
            <a:extLst>
              <a:ext uri="{FF2B5EF4-FFF2-40B4-BE49-F238E27FC236}">
                <a16:creationId xmlns:a16="http://schemas.microsoft.com/office/drawing/2014/main" id="{8B609F08-A67B-4F34-8E95-2F7909F4E300}"/>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3" name="TextBox 22">
            <a:extLst>
              <a:ext uri="{FF2B5EF4-FFF2-40B4-BE49-F238E27FC236}">
                <a16:creationId xmlns:a16="http://schemas.microsoft.com/office/drawing/2014/main" id="{0D103486-AE45-4364-B6E4-BE76D3270592}"/>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5" name="Picture 24">
            <a:extLst>
              <a:ext uri="{FF2B5EF4-FFF2-40B4-BE49-F238E27FC236}">
                <a16:creationId xmlns:a16="http://schemas.microsoft.com/office/drawing/2014/main" id="{E01E8598-C219-3D85-7CE2-92181738FD96}"/>
              </a:ext>
            </a:extLst>
          </p:cNvPr>
          <p:cNvPicPr>
            <a:picLocks noChangeAspect="1"/>
          </p:cNvPicPr>
          <p:nvPr/>
        </p:nvPicPr>
        <p:blipFill>
          <a:blip r:embed="rId2"/>
          <a:stretch>
            <a:fillRect/>
          </a:stretch>
        </p:blipFill>
        <p:spPr>
          <a:xfrm>
            <a:off x="4669944" y="2143955"/>
            <a:ext cx="4016856" cy="2478845"/>
          </a:xfrm>
          <a:prstGeom prst="rect">
            <a:avLst/>
          </a:prstGeom>
        </p:spPr>
      </p:pic>
    </p:spTree>
    <p:extLst>
      <p:ext uri="{BB962C8B-B14F-4D97-AF65-F5344CB8AC3E}">
        <p14:creationId xmlns:p14="http://schemas.microsoft.com/office/powerpoint/2010/main" val="3077550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1549D-6704-41C3-A419-988D33C30D22}"/>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E66343A4-1891-4784-AED9-C993225FA80B}"/>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9009313F-D45A-468C-A875-4132331DF691}"/>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Ekspertiz — Parça Durum Raporu</a:t>
            </a:r>
          </a:p>
        </p:txBody>
      </p:sp>
      <p:sp>
        <p:nvSpPr>
          <p:cNvPr id="5" name="TextBox 4">
            <a:extLst>
              <a:ext uri="{FF2B5EF4-FFF2-40B4-BE49-F238E27FC236}">
                <a16:creationId xmlns:a16="http://schemas.microsoft.com/office/drawing/2014/main" id="{13EECED1-5B8E-4100-AA82-1D86014152D4}"/>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it-IT" sz="1400" dirty="0">
                <a:solidFill>
                  <a:schemeClr val="accent2"/>
                </a:solidFill>
              </a:rPr>
              <a:t>Araç kondisyon tespiti ve 100 puan sistemi</a:t>
            </a:r>
            <a:endParaRPr lang="tr-TR" sz="1400" dirty="0">
              <a:solidFill>
                <a:schemeClr val="accent2"/>
              </a:solidFill>
            </a:endParaRPr>
          </a:p>
        </p:txBody>
      </p:sp>
      <p:sp>
        <p:nvSpPr>
          <p:cNvPr id="6" name="Rectangle 5">
            <a:extLst>
              <a:ext uri="{FF2B5EF4-FFF2-40B4-BE49-F238E27FC236}">
                <a16:creationId xmlns:a16="http://schemas.microsoft.com/office/drawing/2014/main" id="{C8224629-5C8E-43DB-A0E6-0644A84B2C2A}"/>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F5590D33-0148-43F8-8AB9-6EAB0E706C2C}"/>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DD7C3894-510E-4F3E-945B-8A285EC7EFC8}"/>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solidFill>
                <a:schemeClr val="accent2"/>
              </a:solidFill>
            </a:endParaRPr>
          </a:p>
        </p:txBody>
      </p:sp>
      <p:sp>
        <p:nvSpPr>
          <p:cNvPr id="9" name="TextBox 8">
            <a:extLst>
              <a:ext uri="{FF2B5EF4-FFF2-40B4-BE49-F238E27FC236}">
                <a16:creationId xmlns:a16="http://schemas.microsoft.com/office/drawing/2014/main" id="{13017973-E7A7-4D1A-926C-0EFF4310856E}"/>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57E8EE67-DD52-4EA5-970B-95BB011FFE09}"/>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5D6201CB-2C22-4E7F-9A76-3A42CD23DE7F}"/>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Araç başlığı: Toyota Corolla 2022 | Plaka: 34 ABC 123 | Ekspertiz Yapan: Emre Kuzal</a:t>
            </a:r>
          </a:p>
        </p:txBody>
      </p:sp>
      <p:sp>
        <p:nvSpPr>
          <p:cNvPr id="12" name="TextBox 11">
            <a:extLst>
              <a:ext uri="{FF2B5EF4-FFF2-40B4-BE49-F238E27FC236}">
                <a16:creationId xmlns:a16="http://schemas.microsoft.com/office/drawing/2014/main" id="{D027458E-55C7-4E09-959E-D1B10E4E133A}"/>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Parça Durumları tablosu: Motor, Kaput, Tamponlar, Çamurluklar, Kapılar, Tavan, Bagaj</a:t>
            </a:r>
          </a:p>
        </p:txBody>
      </p:sp>
      <p:sp>
        <p:nvSpPr>
          <p:cNvPr id="13" name="TextBox 12">
            <a:extLst>
              <a:ext uri="{FF2B5EF4-FFF2-40B4-BE49-F238E27FC236}">
                <a16:creationId xmlns:a16="http://schemas.microsoft.com/office/drawing/2014/main" id="{C5A169A2-4AA7-44ED-B1B0-5C5D391DBA32}"/>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a:solidFill>
                  <a:srgbClr val="333333"/>
                </a:solidFill>
              </a:rPr>
              <a:t>▸ Durum renk kodları: HASARSIZ (yeşil), BOYALI (sarı), DEĞİŞEN (kırmızı)</a:t>
            </a:r>
          </a:p>
        </p:txBody>
      </p:sp>
      <p:sp>
        <p:nvSpPr>
          <p:cNvPr id="14" name="TextBox 13">
            <a:extLst>
              <a:ext uri="{FF2B5EF4-FFF2-40B4-BE49-F238E27FC236}">
                <a16:creationId xmlns:a16="http://schemas.microsoft.com/office/drawing/2014/main" id="{9654FB0B-9B5C-4060-A861-0885B155666C}"/>
              </a:ext>
            </a:extLst>
          </p:cNvPr>
          <p:cNvSpPr txBox="1"/>
          <p:nvPr/>
        </p:nvSpPr>
        <p:spPr>
          <a:xfrm>
            <a:off x="660400" y="3073400"/>
            <a:ext cx="3708400" cy="523220"/>
          </a:xfrm>
          <a:prstGeom prst="rect">
            <a:avLst/>
          </a:prstGeom>
          <a:noFill/>
        </p:spPr>
        <p:txBody>
          <a:bodyPr vertOverflow="overflow" vert="horz" wrap="square" rtlCol="0" anchor="t">
            <a:spAutoFit/>
          </a:bodyPr>
          <a:lstStyle/>
          <a:p>
            <a:pPr algn="l"/>
            <a:r>
              <a:rPr lang="tr-TR" sz="1400" dirty="0">
                <a:solidFill>
                  <a:srgbClr val="333333"/>
                </a:solidFill>
              </a:rPr>
              <a:t>▸ Sağ panel: Ekspertiz Puanı,Genel Değerlendirme metni</a:t>
            </a:r>
          </a:p>
        </p:txBody>
      </p:sp>
      <p:sp>
        <p:nvSpPr>
          <p:cNvPr id="15" name="TextBox 14">
            <a:extLst>
              <a:ext uri="{FF2B5EF4-FFF2-40B4-BE49-F238E27FC236}">
                <a16:creationId xmlns:a16="http://schemas.microsoft.com/office/drawing/2014/main" id="{7CD01A74-883A-4BE1-A647-1809E09A7735}"/>
              </a:ext>
            </a:extLst>
          </p:cNvPr>
          <p:cNvSpPr txBox="1"/>
          <p:nvPr/>
        </p:nvSpPr>
        <p:spPr>
          <a:xfrm>
            <a:off x="660400" y="3657600"/>
            <a:ext cx="3708400" cy="508000"/>
          </a:xfrm>
          <a:prstGeom prst="rect">
            <a:avLst/>
          </a:prstGeom>
          <a:noFill/>
        </p:spPr>
        <p:txBody>
          <a:bodyPr vertOverflow="overflow" vert="horz" wrap="square" rtlCol="0" anchor="t">
            <a:spAutoFit/>
          </a:bodyPr>
          <a:lstStyle/>
          <a:p>
            <a:pPr algn="l"/>
            <a:r>
              <a:rPr lang="tr-TR" sz="1400">
                <a:solidFill>
                  <a:srgbClr val="333333"/>
                </a:solidFill>
              </a:rPr>
              <a:t>▸ Onayla / Reddet butonları</a:t>
            </a:r>
          </a:p>
        </p:txBody>
      </p:sp>
      <p:sp>
        <p:nvSpPr>
          <p:cNvPr id="16" name="Rectangle 15">
            <a:extLst>
              <a:ext uri="{FF2B5EF4-FFF2-40B4-BE49-F238E27FC236}">
                <a16:creationId xmlns:a16="http://schemas.microsoft.com/office/drawing/2014/main" id="{CED18954-F879-4F68-90DE-89F9F1C51956}"/>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7BE9459A-9004-4E2A-B657-891839C19465}"/>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F45CE5FF-78AF-4C72-ADFA-0CB55285404E}"/>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dirty="0">
                <a:solidFill>
                  <a:srgbClr val="FFFFFF"/>
                </a:solidFill>
              </a:rPr>
              <a:t>Arka Plan Mantığı</a:t>
            </a:r>
          </a:p>
        </p:txBody>
      </p:sp>
      <p:sp>
        <p:nvSpPr>
          <p:cNvPr id="19" name="Rectangle 18">
            <a:extLst>
              <a:ext uri="{FF2B5EF4-FFF2-40B4-BE49-F238E27FC236}">
                <a16:creationId xmlns:a16="http://schemas.microsoft.com/office/drawing/2014/main" id="{B6070020-340D-468E-913E-DC363B4C447B}"/>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21AD0E6B-1266-4591-B9EE-84A11FEB2A78}"/>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EkspertizYigini Stack'te saklı geçmiş raporlar. HasarSeviyesi enum puan ağırlığını belirler. EkspertizYonetimi Singleton onaylanan raporu stoka bağlar.</a:t>
            </a:r>
          </a:p>
        </p:txBody>
      </p:sp>
      <p:sp>
        <p:nvSpPr>
          <p:cNvPr id="23" name="Rectangle 22">
            <a:extLst>
              <a:ext uri="{FF2B5EF4-FFF2-40B4-BE49-F238E27FC236}">
                <a16:creationId xmlns:a16="http://schemas.microsoft.com/office/drawing/2014/main" id="{CFFF4FF3-0C5F-4385-A11B-427D1CA0C86A}"/>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8FF29677-08AD-43B8-9C97-43C574D8B2F0}"/>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26" name="Picture 25">
            <a:extLst>
              <a:ext uri="{FF2B5EF4-FFF2-40B4-BE49-F238E27FC236}">
                <a16:creationId xmlns:a16="http://schemas.microsoft.com/office/drawing/2014/main" id="{08B95BE9-0720-386B-967F-F45A723CA85E}"/>
              </a:ext>
            </a:extLst>
          </p:cNvPr>
          <p:cNvPicPr>
            <a:picLocks noChangeAspect="1"/>
          </p:cNvPicPr>
          <p:nvPr/>
        </p:nvPicPr>
        <p:blipFill>
          <a:blip r:embed="rId2"/>
          <a:stretch>
            <a:fillRect/>
          </a:stretch>
        </p:blipFill>
        <p:spPr>
          <a:xfrm>
            <a:off x="4775202" y="2260146"/>
            <a:ext cx="3911598" cy="2413454"/>
          </a:xfrm>
          <a:prstGeom prst="rect">
            <a:avLst/>
          </a:prstGeom>
        </p:spPr>
      </p:pic>
    </p:spTree>
    <p:extLst>
      <p:ext uri="{BB962C8B-B14F-4D97-AF65-F5344CB8AC3E}">
        <p14:creationId xmlns:p14="http://schemas.microsoft.com/office/powerpoint/2010/main" val="2520624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30A11-7E99-4BEB-B57F-32D2220B2584}"/>
              </a:ext>
            </a:extLst>
          </p:cNvPr>
          <p:cNvSpPr/>
          <p:nvPr/>
        </p:nvSpPr>
        <p:spPr>
          <a:xfrm>
            <a:off x="0" y="0"/>
            <a:ext cx="9144000" cy="508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3" name="Rectangle 2">
            <a:extLst>
              <a:ext uri="{FF2B5EF4-FFF2-40B4-BE49-F238E27FC236}">
                <a16:creationId xmlns:a16="http://schemas.microsoft.com/office/drawing/2014/main" id="{34692357-751D-4C96-A7A1-FB6E329012E4}"/>
              </a:ext>
            </a:extLst>
          </p:cNvPr>
          <p:cNvSpPr/>
          <p:nvPr/>
        </p:nvSpPr>
        <p:spPr>
          <a:xfrm>
            <a:off x="0" y="50800"/>
            <a:ext cx="9144000" cy="685800"/>
          </a:xfrm>
          <a:prstGeom prst="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4" name="TextBox 3">
            <a:extLst>
              <a:ext uri="{FF2B5EF4-FFF2-40B4-BE49-F238E27FC236}">
                <a16:creationId xmlns:a16="http://schemas.microsoft.com/office/drawing/2014/main" id="{A0255506-581B-43AC-B464-B338EC7D2133}"/>
              </a:ext>
            </a:extLst>
          </p:cNvPr>
          <p:cNvSpPr txBox="1"/>
          <p:nvPr/>
        </p:nvSpPr>
        <p:spPr>
          <a:xfrm>
            <a:off x="457200" y="127000"/>
            <a:ext cx="7620000" cy="430887"/>
          </a:xfrm>
          <a:prstGeom prst="rect">
            <a:avLst/>
          </a:prstGeom>
          <a:noFill/>
        </p:spPr>
        <p:txBody>
          <a:bodyPr vertOverflow="overflow" vert="horz" wrap="square" rtlCol="0" anchor="t">
            <a:spAutoFit/>
          </a:bodyPr>
          <a:lstStyle/>
          <a:p>
            <a:pPr algn="l"/>
            <a:r>
              <a:rPr lang="tr-TR" sz="2200" b="1" dirty="0">
                <a:solidFill>
                  <a:schemeClr val="accent2"/>
                </a:solidFill>
              </a:rPr>
              <a:t>Müşteri Yönetimi — BST Listesi</a:t>
            </a:r>
          </a:p>
        </p:txBody>
      </p:sp>
      <p:sp>
        <p:nvSpPr>
          <p:cNvPr id="5" name="TextBox 4">
            <a:extLst>
              <a:ext uri="{FF2B5EF4-FFF2-40B4-BE49-F238E27FC236}">
                <a16:creationId xmlns:a16="http://schemas.microsoft.com/office/drawing/2014/main" id="{EBF9B7B9-EEEE-4967-9240-4A92CCC566D9}"/>
              </a:ext>
            </a:extLst>
          </p:cNvPr>
          <p:cNvSpPr txBox="1"/>
          <p:nvPr/>
        </p:nvSpPr>
        <p:spPr>
          <a:xfrm>
            <a:off x="457200" y="457200"/>
            <a:ext cx="7620000" cy="307777"/>
          </a:xfrm>
          <a:prstGeom prst="rect">
            <a:avLst/>
          </a:prstGeom>
          <a:noFill/>
        </p:spPr>
        <p:txBody>
          <a:bodyPr vertOverflow="overflow" vert="horz" wrap="square" rtlCol="0" anchor="t">
            <a:spAutoFit/>
          </a:bodyPr>
          <a:lstStyle/>
          <a:p>
            <a:pPr algn="l"/>
            <a:r>
              <a:rPr lang="tr-TR" sz="1400" dirty="0">
                <a:solidFill>
                  <a:schemeClr val="accent2"/>
                </a:solidFill>
              </a:rPr>
              <a:t>İkili arama ağacı ile müşteri kayıt ve arama sistemi</a:t>
            </a:r>
          </a:p>
        </p:txBody>
      </p:sp>
      <p:sp>
        <p:nvSpPr>
          <p:cNvPr id="6" name="Rectangle 5">
            <a:extLst>
              <a:ext uri="{FF2B5EF4-FFF2-40B4-BE49-F238E27FC236}">
                <a16:creationId xmlns:a16="http://schemas.microsoft.com/office/drawing/2014/main" id="{E6DF4E98-3511-4121-8108-EF9B41C7FE09}"/>
              </a:ext>
            </a:extLst>
          </p:cNvPr>
          <p:cNvSpPr/>
          <p:nvPr/>
        </p:nvSpPr>
        <p:spPr>
          <a:xfrm>
            <a:off x="457200" y="762000"/>
            <a:ext cx="8229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7" name="Rectangle 6">
            <a:extLst>
              <a:ext uri="{FF2B5EF4-FFF2-40B4-BE49-F238E27FC236}">
                <a16:creationId xmlns:a16="http://schemas.microsoft.com/office/drawing/2014/main" id="{CEB32470-B1D1-472B-82C6-B7BFF3709DD2}"/>
              </a:ext>
            </a:extLst>
          </p:cNvPr>
          <p:cNvSpPr/>
          <p:nvPr/>
        </p:nvSpPr>
        <p:spPr>
          <a:xfrm>
            <a:off x="457200" y="863600"/>
            <a:ext cx="4038600" cy="3810000"/>
          </a:xfrm>
          <a:prstGeom prst="rect">
            <a:avLst/>
          </a:prstGeom>
          <a:solidFill>
            <a:srgbClr val="F8F9F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8" name="Rectangle 7">
            <a:extLst>
              <a:ext uri="{FF2B5EF4-FFF2-40B4-BE49-F238E27FC236}">
                <a16:creationId xmlns:a16="http://schemas.microsoft.com/office/drawing/2014/main" id="{81400CDC-6631-49AA-BC2D-12F69BD7214A}"/>
              </a:ext>
            </a:extLst>
          </p:cNvPr>
          <p:cNvSpPr/>
          <p:nvPr/>
        </p:nvSpPr>
        <p:spPr>
          <a:xfrm>
            <a:off x="457200" y="863600"/>
            <a:ext cx="50800" cy="3810000"/>
          </a:xfrm>
          <a:prstGeom prst="rect">
            <a:avLst/>
          </a:prstGeom>
          <a:solidFill>
            <a:schemeClr val="accent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9" name="TextBox 8">
            <a:extLst>
              <a:ext uri="{FF2B5EF4-FFF2-40B4-BE49-F238E27FC236}">
                <a16:creationId xmlns:a16="http://schemas.microsoft.com/office/drawing/2014/main" id="{545A9529-80BE-463B-90A4-5E38B025CA25}"/>
              </a:ext>
            </a:extLst>
          </p:cNvPr>
          <p:cNvSpPr txBox="1"/>
          <p:nvPr/>
        </p:nvSpPr>
        <p:spPr>
          <a:xfrm>
            <a:off x="609600" y="939800"/>
            <a:ext cx="3810000" cy="279400"/>
          </a:xfrm>
          <a:prstGeom prst="rect">
            <a:avLst/>
          </a:prstGeom>
          <a:noFill/>
        </p:spPr>
        <p:txBody>
          <a:bodyPr vertOverflow="overflow" vert="horz" wrap="square" rtlCol="0" anchor="t">
            <a:spAutoFit/>
          </a:bodyPr>
          <a:lstStyle/>
          <a:p>
            <a:pPr algn="l"/>
            <a:r>
              <a:rPr lang="tr-TR" sz="1600" b="1">
                <a:solidFill>
                  <a:srgbClr val="2D2D2D"/>
                </a:solidFill>
              </a:rPr>
              <a:t>Ekran Özellikleri</a:t>
            </a:r>
          </a:p>
        </p:txBody>
      </p:sp>
      <p:sp>
        <p:nvSpPr>
          <p:cNvPr id="10" name="Rectangle 9">
            <a:extLst>
              <a:ext uri="{FF2B5EF4-FFF2-40B4-BE49-F238E27FC236}">
                <a16:creationId xmlns:a16="http://schemas.microsoft.com/office/drawing/2014/main" id="{BE406238-A275-4E75-8050-4A8E04086234}"/>
              </a:ext>
            </a:extLst>
          </p:cNvPr>
          <p:cNvSpPr/>
          <p:nvPr/>
        </p:nvSpPr>
        <p:spPr>
          <a:xfrm>
            <a:off x="609600" y="1244600"/>
            <a:ext cx="3683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1" name="TextBox 10">
            <a:extLst>
              <a:ext uri="{FF2B5EF4-FFF2-40B4-BE49-F238E27FC236}">
                <a16:creationId xmlns:a16="http://schemas.microsoft.com/office/drawing/2014/main" id="{9CECBE8D-E5FB-4F15-8752-AF4727DF9786}"/>
              </a:ext>
            </a:extLst>
          </p:cNvPr>
          <p:cNvSpPr txBox="1"/>
          <p:nvPr/>
        </p:nvSpPr>
        <p:spPr>
          <a:xfrm>
            <a:off x="660400" y="1320800"/>
            <a:ext cx="3708400" cy="508000"/>
          </a:xfrm>
          <a:prstGeom prst="rect">
            <a:avLst/>
          </a:prstGeom>
          <a:noFill/>
        </p:spPr>
        <p:txBody>
          <a:bodyPr vertOverflow="overflow" vert="horz" wrap="square" rtlCol="0" anchor="t">
            <a:spAutoFit/>
          </a:bodyPr>
          <a:lstStyle/>
          <a:p>
            <a:pPr algn="l"/>
            <a:r>
              <a:rPr lang="tr-TR" sz="1400">
                <a:solidFill>
                  <a:srgbClr val="333333"/>
                </a:solidFill>
              </a:rPr>
              <a:t>▸ TC Kimlik ile BST araması — O(log n) hızlı arama</a:t>
            </a:r>
          </a:p>
        </p:txBody>
      </p:sp>
      <p:sp>
        <p:nvSpPr>
          <p:cNvPr id="12" name="TextBox 11">
            <a:extLst>
              <a:ext uri="{FF2B5EF4-FFF2-40B4-BE49-F238E27FC236}">
                <a16:creationId xmlns:a16="http://schemas.microsoft.com/office/drawing/2014/main" id="{9E41C1B5-AB85-41D1-888C-0C91BC7BBAA9}"/>
              </a:ext>
            </a:extLst>
          </p:cNvPr>
          <p:cNvSpPr txBox="1"/>
          <p:nvPr/>
        </p:nvSpPr>
        <p:spPr>
          <a:xfrm>
            <a:off x="660400" y="1905000"/>
            <a:ext cx="3708400" cy="508000"/>
          </a:xfrm>
          <a:prstGeom prst="rect">
            <a:avLst/>
          </a:prstGeom>
          <a:noFill/>
        </p:spPr>
        <p:txBody>
          <a:bodyPr vertOverflow="overflow" vert="horz" wrap="square" rtlCol="0" anchor="t">
            <a:spAutoFit/>
          </a:bodyPr>
          <a:lstStyle/>
          <a:p>
            <a:pPr algn="l"/>
            <a:r>
              <a:rPr lang="tr-TR" sz="1400">
                <a:solidFill>
                  <a:srgbClr val="333333"/>
                </a:solidFill>
              </a:rPr>
              <a:t>▸ Sol panel: seçili müşteri detayı (ad, TC, telefon, adres, araç ilgi listesi)</a:t>
            </a:r>
          </a:p>
        </p:txBody>
      </p:sp>
      <p:sp>
        <p:nvSpPr>
          <p:cNvPr id="13" name="TextBox 12">
            <a:extLst>
              <a:ext uri="{FF2B5EF4-FFF2-40B4-BE49-F238E27FC236}">
                <a16:creationId xmlns:a16="http://schemas.microsoft.com/office/drawing/2014/main" id="{AF14882C-BBC4-4C65-AE7A-CF7CBA2E0066}"/>
              </a:ext>
            </a:extLst>
          </p:cNvPr>
          <p:cNvSpPr txBox="1"/>
          <p:nvPr/>
        </p:nvSpPr>
        <p:spPr>
          <a:xfrm>
            <a:off x="660400" y="2489200"/>
            <a:ext cx="3708400" cy="508000"/>
          </a:xfrm>
          <a:prstGeom prst="rect">
            <a:avLst/>
          </a:prstGeom>
          <a:noFill/>
        </p:spPr>
        <p:txBody>
          <a:bodyPr vertOverflow="overflow" vert="horz" wrap="square" rtlCol="0" anchor="t">
            <a:spAutoFit/>
          </a:bodyPr>
          <a:lstStyle/>
          <a:p>
            <a:pPr algn="l"/>
            <a:r>
              <a:rPr lang="tr-TR" sz="1400">
                <a:solidFill>
                  <a:srgbClr val="333333"/>
                </a:solidFill>
              </a:rPr>
              <a:t>▸ Sağ panel: Tüm Müşteriler BST sıralı tablo (Ad Soyad, TC, Telefon)</a:t>
            </a:r>
          </a:p>
        </p:txBody>
      </p:sp>
      <p:sp>
        <p:nvSpPr>
          <p:cNvPr id="14" name="TextBox 13">
            <a:extLst>
              <a:ext uri="{FF2B5EF4-FFF2-40B4-BE49-F238E27FC236}">
                <a16:creationId xmlns:a16="http://schemas.microsoft.com/office/drawing/2014/main" id="{8A02FC29-061E-432A-8338-66F9A21C124C}"/>
              </a:ext>
            </a:extLst>
          </p:cNvPr>
          <p:cNvSpPr txBox="1"/>
          <p:nvPr/>
        </p:nvSpPr>
        <p:spPr>
          <a:xfrm>
            <a:off x="660400" y="3073400"/>
            <a:ext cx="3708400" cy="508000"/>
          </a:xfrm>
          <a:prstGeom prst="rect">
            <a:avLst/>
          </a:prstGeom>
          <a:noFill/>
        </p:spPr>
        <p:txBody>
          <a:bodyPr vertOverflow="overflow" vert="horz" wrap="square" rtlCol="0" anchor="t">
            <a:spAutoFit/>
          </a:bodyPr>
          <a:lstStyle/>
          <a:p>
            <a:pPr algn="l"/>
            <a:r>
              <a:rPr lang="tr-TR" sz="1400">
                <a:solidFill>
                  <a:srgbClr val="333333"/>
                </a:solidFill>
              </a:rPr>
              <a:t>▸ Araç ilgi listesi: Toyota Corolla 2022, BMW 320i 2021, VW Golf 2019 chip'leri</a:t>
            </a:r>
          </a:p>
        </p:txBody>
      </p:sp>
      <p:sp>
        <p:nvSpPr>
          <p:cNvPr id="15" name="TextBox 14">
            <a:extLst>
              <a:ext uri="{FF2B5EF4-FFF2-40B4-BE49-F238E27FC236}">
                <a16:creationId xmlns:a16="http://schemas.microsoft.com/office/drawing/2014/main" id="{DF050241-5BE5-4541-8DD3-D4D9A372A23C}"/>
              </a:ext>
            </a:extLst>
          </p:cNvPr>
          <p:cNvSpPr txBox="1"/>
          <p:nvPr/>
        </p:nvSpPr>
        <p:spPr>
          <a:xfrm>
            <a:off x="660400" y="3657600"/>
            <a:ext cx="3708400" cy="508000"/>
          </a:xfrm>
          <a:prstGeom prst="rect">
            <a:avLst/>
          </a:prstGeom>
          <a:noFill/>
        </p:spPr>
        <p:txBody>
          <a:bodyPr vertOverflow="overflow" vert="horz" wrap="square" rtlCol="0" anchor="t">
            <a:spAutoFit/>
          </a:bodyPr>
          <a:lstStyle/>
          <a:p>
            <a:pPr algn="l"/>
            <a:r>
              <a:rPr lang="tr-TR" sz="1400">
                <a:solidFill>
                  <a:srgbClr val="333333"/>
                </a:solidFill>
              </a:rPr>
              <a:t>▸ Yeni Müşteri Ekle butonu</a:t>
            </a:r>
          </a:p>
        </p:txBody>
      </p:sp>
      <p:sp>
        <p:nvSpPr>
          <p:cNvPr id="16" name="Rectangle 15">
            <a:extLst>
              <a:ext uri="{FF2B5EF4-FFF2-40B4-BE49-F238E27FC236}">
                <a16:creationId xmlns:a16="http://schemas.microsoft.com/office/drawing/2014/main" id="{CB472C83-67BA-4042-8A97-C692CEF44CA1}"/>
              </a:ext>
            </a:extLst>
          </p:cNvPr>
          <p:cNvSpPr/>
          <p:nvPr/>
        </p:nvSpPr>
        <p:spPr>
          <a:xfrm>
            <a:off x="4648200" y="863600"/>
            <a:ext cx="4038600" cy="3810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7" name="Rectangle 16">
            <a:extLst>
              <a:ext uri="{FF2B5EF4-FFF2-40B4-BE49-F238E27FC236}">
                <a16:creationId xmlns:a16="http://schemas.microsoft.com/office/drawing/2014/main" id="{359EAA43-3657-4ADA-99DD-FABBC99934C3}"/>
              </a:ext>
            </a:extLst>
          </p:cNvPr>
          <p:cNvSpPr/>
          <p:nvPr/>
        </p:nvSpPr>
        <p:spPr>
          <a:xfrm>
            <a:off x="4648200" y="863600"/>
            <a:ext cx="4038600" cy="355600"/>
          </a:xfrm>
          <a:prstGeom prst="rect">
            <a:avLst/>
          </a:prstGeom>
          <a:solidFill>
            <a:schemeClr val="accent2"/>
          </a:solidFill>
          <a:ln w="12700" cap="flat" cmpd="sng" algn="ctr">
            <a:solidFill>
              <a:schemeClr val="accent2"/>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18" name="TextBox 17">
            <a:extLst>
              <a:ext uri="{FF2B5EF4-FFF2-40B4-BE49-F238E27FC236}">
                <a16:creationId xmlns:a16="http://schemas.microsoft.com/office/drawing/2014/main" id="{5BBD36FB-19D9-448D-9C8E-0081E3D0A1F7}"/>
              </a:ext>
            </a:extLst>
          </p:cNvPr>
          <p:cNvSpPr txBox="1"/>
          <p:nvPr/>
        </p:nvSpPr>
        <p:spPr>
          <a:xfrm>
            <a:off x="4749800" y="914400"/>
            <a:ext cx="3835400" cy="279400"/>
          </a:xfrm>
          <a:prstGeom prst="rect">
            <a:avLst/>
          </a:prstGeom>
          <a:noFill/>
        </p:spPr>
        <p:txBody>
          <a:bodyPr vertOverflow="overflow" vert="horz" wrap="square" rtlCol="0" anchor="t">
            <a:spAutoFit/>
          </a:bodyPr>
          <a:lstStyle/>
          <a:p>
            <a:pPr algn="l"/>
            <a:r>
              <a:rPr lang="tr-TR" sz="1600" b="1">
                <a:solidFill>
                  <a:srgbClr val="FFFFFF"/>
                </a:solidFill>
              </a:rPr>
              <a:t>Arka Plan Mantığı</a:t>
            </a:r>
          </a:p>
        </p:txBody>
      </p:sp>
      <p:sp>
        <p:nvSpPr>
          <p:cNvPr id="19" name="Rectangle 18">
            <a:extLst>
              <a:ext uri="{FF2B5EF4-FFF2-40B4-BE49-F238E27FC236}">
                <a16:creationId xmlns:a16="http://schemas.microsoft.com/office/drawing/2014/main" id="{114E6AF7-6DBA-4BED-993B-69740F0CBE83}"/>
              </a:ext>
            </a:extLst>
          </p:cNvPr>
          <p:cNvSpPr/>
          <p:nvPr/>
        </p:nvSpPr>
        <p:spPr>
          <a:xfrm>
            <a:off x="4648200" y="1244600"/>
            <a:ext cx="40386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0" name="TextBox 19">
            <a:extLst>
              <a:ext uri="{FF2B5EF4-FFF2-40B4-BE49-F238E27FC236}">
                <a16:creationId xmlns:a16="http://schemas.microsoft.com/office/drawing/2014/main" id="{4C0B0D17-ACD4-4DBF-8EEF-3041368723DC}"/>
              </a:ext>
            </a:extLst>
          </p:cNvPr>
          <p:cNvSpPr txBox="1"/>
          <p:nvPr/>
        </p:nvSpPr>
        <p:spPr>
          <a:xfrm>
            <a:off x="4749800" y="1320800"/>
            <a:ext cx="3835400" cy="1016000"/>
          </a:xfrm>
          <a:prstGeom prst="rect">
            <a:avLst/>
          </a:prstGeom>
          <a:noFill/>
        </p:spPr>
        <p:txBody>
          <a:bodyPr vertOverflow="overflow" vert="horz" wrap="square" rtlCol="0" anchor="t">
            <a:spAutoFit/>
          </a:bodyPr>
          <a:lstStyle/>
          <a:p>
            <a:pPr algn="l"/>
            <a:r>
              <a:rPr lang="tr-TR" sz="1400">
                <a:solidFill>
                  <a:srgbClr val="333333"/>
                </a:solidFill>
              </a:rPr>
              <a:t>MusteriAgaci BST TC Kimlik'e göre sıralı tutar. Aranabilir interface binary search ile O(log n) arama sağlar. MusteriYonetimi Singleton tüm CRUD işlemlerini yönetir.</a:t>
            </a:r>
          </a:p>
        </p:txBody>
      </p:sp>
      <p:sp>
        <p:nvSpPr>
          <p:cNvPr id="23" name="Rectangle 22">
            <a:extLst>
              <a:ext uri="{FF2B5EF4-FFF2-40B4-BE49-F238E27FC236}">
                <a16:creationId xmlns:a16="http://schemas.microsoft.com/office/drawing/2014/main" id="{E7B19B1E-EBBC-4A03-ACAE-946C9E7A2047}"/>
              </a:ext>
            </a:extLst>
          </p:cNvPr>
          <p:cNvSpPr/>
          <p:nvPr/>
        </p:nvSpPr>
        <p:spPr>
          <a:xfrm>
            <a:off x="0" y="4711700"/>
            <a:ext cx="9144000" cy="12700"/>
          </a:xfrm>
          <a:prstGeom prst="rect">
            <a:avLst/>
          </a:prstGeom>
          <a:solidFill>
            <a:srgbClr val="DDDDDD"/>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tr-TR"/>
          </a:p>
        </p:txBody>
      </p:sp>
      <p:sp>
        <p:nvSpPr>
          <p:cNvPr id="24" name="TextBox 23">
            <a:extLst>
              <a:ext uri="{FF2B5EF4-FFF2-40B4-BE49-F238E27FC236}">
                <a16:creationId xmlns:a16="http://schemas.microsoft.com/office/drawing/2014/main" id="{09619CC5-51B5-4F5C-8734-DAC8404EDCB0}"/>
              </a:ext>
            </a:extLst>
          </p:cNvPr>
          <p:cNvSpPr txBox="1"/>
          <p:nvPr/>
        </p:nvSpPr>
        <p:spPr>
          <a:xfrm>
            <a:off x="457200" y="4762500"/>
            <a:ext cx="5080000" cy="228600"/>
          </a:xfrm>
          <a:prstGeom prst="rect">
            <a:avLst/>
          </a:prstGeom>
          <a:noFill/>
        </p:spPr>
        <p:txBody>
          <a:bodyPr vertOverflow="overflow" vert="horz" wrap="square" rtlCol="0" anchor="t">
            <a:spAutoFit/>
          </a:bodyPr>
          <a:lstStyle/>
          <a:p>
            <a:pPr algn="l"/>
            <a:r>
              <a:rPr lang="it-IT" sz="900">
                <a:solidFill>
                  <a:srgbClr val="AAAAAA"/>
                </a:solidFill>
              </a:rPr>
              <a:t>AKILLI OTO GALERi — Ara Sunum</a:t>
            </a:r>
            <a:endParaRPr lang="tr-TR" sz="900">
              <a:solidFill>
                <a:srgbClr val="AAAAAA"/>
              </a:solidFill>
            </a:endParaRPr>
          </a:p>
        </p:txBody>
      </p:sp>
      <p:pic>
        <p:nvPicPr>
          <p:cNvPr id="33" name="Picture 32">
            <a:extLst>
              <a:ext uri="{FF2B5EF4-FFF2-40B4-BE49-F238E27FC236}">
                <a16:creationId xmlns:a16="http://schemas.microsoft.com/office/drawing/2014/main" id="{0C8DC9A2-D4BF-A313-0F2A-54D724A764F6}"/>
              </a:ext>
            </a:extLst>
          </p:cNvPr>
          <p:cNvPicPr>
            <a:picLocks noChangeAspect="1"/>
          </p:cNvPicPr>
          <p:nvPr/>
        </p:nvPicPr>
        <p:blipFill>
          <a:blip r:embed="rId2"/>
          <a:stretch>
            <a:fillRect/>
          </a:stretch>
        </p:blipFill>
        <p:spPr>
          <a:xfrm>
            <a:off x="4572000" y="2291604"/>
            <a:ext cx="4290646" cy="2343896"/>
          </a:xfrm>
          <a:prstGeom prst="rect">
            <a:avLst/>
          </a:prstGeom>
        </p:spPr>
      </p:pic>
    </p:spTree>
    <p:extLst>
      <p:ext uri="{BB962C8B-B14F-4D97-AF65-F5344CB8AC3E}">
        <p14:creationId xmlns:p14="http://schemas.microsoft.com/office/powerpoint/2010/main" val="30294186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Tamamlanan Çalışmalar — Kullanım Kılavuzu</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1371600" y="1280160"/>
            <a:ext cx="6400800" cy="2743200"/>
          </a:xfrm>
          <a:prstGeom prst="rect">
            <a:avLst/>
          </a:prstGeom>
          <a:solidFill>
            <a:srgbClr val="FFF3E8"/>
          </a:solidFill>
          <a:ln/>
          <a:effectLst>
            <a:outerShdw blurRad="50800" dist="25400" dir="8100000" algn="bl" rotWithShape="0">
              <a:srgbClr val="000000">
                <a:alpha val="10000"/>
              </a:srgbClr>
            </a:outerShdw>
          </a:effectLst>
        </p:spPr>
        <p:txBody>
          <a:bodyPr/>
          <a:lstStyle/>
          <a:p>
            <a:endParaRPr lang="tr-TR"/>
          </a:p>
        </p:txBody>
      </p:sp>
      <p:pic>
        <p:nvPicPr>
          <p:cNvPr id="8" name="Image 1" descr="preencoded.png"/>
          <p:cNvPicPr>
            <a:picLocks noChangeAspect="1"/>
          </p:cNvPicPr>
          <p:nvPr/>
        </p:nvPicPr>
        <p:blipFill>
          <a:blip r:embed="rId3"/>
          <a:stretch>
            <a:fillRect/>
          </a:stretch>
        </p:blipFill>
        <p:spPr>
          <a:xfrm>
            <a:off x="4114800" y="1554480"/>
            <a:ext cx="914400" cy="914400"/>
          </a:xfrm>
          <a:prstGeom prst="rect">
            <a:avLst/>
          </a:prstGeom>
        </p:spPr>
      </p:pic>
      <p:sp>
        <p:nvSpPr>
          <p:cNvPr id="9" name="Text 5"/>
          <p:cNvSpPr/>
          <p:nvPr/>
        </p:nvSpPr>
        <p:spPr>
          <a:xfrm>
            <a:off x="1371600" y="2560320"/>
            <a:ext cx="6400800" cy="411480"/>
          </a:xfrm>
          <a:prstGeom prst="rect">
            <a:avLst/>
          </a:prstGeom>
          <a:noFill/>
          <a:ln/>
        </p:spPr>
        <p:txBody>
          <a:bodyPr wrap="square" lIns="0" tIns="0" rIns="0" bIns="0" rtlCol="0" anchor="ctr"/>
          <a:lstStyle/>
          <a:p>
            <a:pPr marL="0" indent="0" algn="ctr">
              <a:buNone/>
            </a:pPr>
            <a:r>
              <a:rPr lang="en-US" sz="2200" b="1" dirty="0">
                <a:solidFill>
                  <a:srgbClr val="2D2D2D"/>
                </a:solidFill>
                <a:latin typeface="Trebuchet MS" pitchFamily="34" charset="0"/>
                <a:ea typeface="Trebuchet MS" pitchFamily="34" charset="-122"/>
                <a:cs typeface="Trebuchet MS" pitchFamily="34" charset="-120"/>
              </a:rPr>
              <a:t>Kullanım Kılavuzu</a:t>
            </a:r>
            <a:endParaRPr lang="en-US" sz="2200" dirty="0"/>
          </a:p>
        </p:txBody>
      </p:sp>
      <p:sp>
        <p:nvSpPr>
          <p:cNvPr id="10" name="Text 6"/>
          <p:cNvSpPr/>
          <p:nvPr/>
        </p:nvSpPr>
        <p:spPr>
          <a:xfrm>
            <a:off x="1371600" y="3017520"/>
            <a:ext cx="6400800" cy="457200"/>
          </a:xfrm>
          <a:prstGeom prst="rect">
            <a:avLst/>
          </a:prstGeom>
          <a:noFill/>
          <a:ln/>
        </p:spPr>
        <p:txBody>
          <a:bodyPr wrap="square" lIns="0" tIns="0" rIns="0" bIns="0" rtlCol="0" anchor="ctr"/>
          <a:lstStyle/>
          <a:p>
            <a:pPr marL="0" indent="0" algn="ctr">
              <a:buNone/>
            </a:pPr>
            <a:r>
              <a:rPr lang="en-US" sz="3600" b="1" dirty="0">
                <a:solidFill>
                  <a:srgbClr val="E87722"/>
                </a:solidFill>
                <a:latin typeface="Trebuchet MS" pitchFamily="34" charset="0"/>
                <a:ea typeface="Trebuchet MS" pitchFamily="34" charset="-122"/>
                <a:cs typeface="Trebuchet MS" pitchFamily="34" charset="-120"/>
              </a:rPr>
              <a:t>12 sayfa</a:t>
            </a:r>
            <a:endParaRPr lang="en-US" sz="3600" dirty="0"/>
          </a:p>
        </p:txBody>
      </p:sp>
      <p:sp>
        <p:nvSpPr>
          <p:cNvPr id="11" name="Text 7"/>
          <p:cNvSpPr/>
          <p:nvPr/>
        </p:nvSpPr>
        <p:spPr>
          <a:xfrm>
            <a:off x="1828800" y="3520440"/>
            <a:ext cx="5486400" cy="457200"/>
          </a:xfrm>
          <a:prstGeom prst="rect">
            <a:avLst/>
          </a:prstGeom>
          <a:noFill/>
          <a:ln/>
        </p:spPr>
        <p:txBody>
          <a:bodyPr wrap="square" lIns="0" tIns="0" rIns="0" bIns="0" rtlCol="0" anchor="ctr"/>
          <a:lstStyle/>
          <a:p>
            <a:pPr marL="0" indent="0" algn="ctr">
              <a:buNone/>
            </a:pPr>
            <a:r>
              <a:rPr lang="en-US" sz="1300" dirty="0">
                <a:solidFill>
                  <a:srgbClr val="666666"/>
                </a:solidFill>
                <a:latin typeface="Calibri" pitchFamily="34" charset="0"/>
                <a:ea typeface="Calibri" pitchFamily="34" charset="-122"/>
                <a:cs typeface="Calibri" pitchFamily="34" charset="-120"/>
              </a:rPr>
              <a:t>Kullanıcıların sistemi etkin şekilde kullanabilmesi için</a:t>
            </a:r>
            <a:endParaRPr lang="en-US" sz="1300" dirty="0"/>
          </a:p>
          <a:p>
            <a:pPr marL="0" indent="0" algn="ctr">
              <a:buNone/>
            </a:pPr>
            <a:r>
              <a:rPr lang="en-US" sz="1300" dirty="0">
                <a:solidFill>
                  <a:srgbClr val="666666"/>
                </a:solidFill>
                <a:latin typeface="Calibri" pitchFamily="34" charset="0"/>
                <a:ea typeface="Calibri" pitchFamily="34" charset="-122"/>
                <a:cs typeface="Calibri" pitchFamily="34" charset="-120"/>
              </a:rPr>
              <a:t>adım adım rehber hazırlanmıştır.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Karşılaştığımız Zorluklar</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548640" y="1051560"/>
            <a:ext cx="411480" cy="411480"/>
          </a:xfrm>
          <a:prstGeom prst="ellipse">
            <a:avLst/>
          </a:prstGeom>
          <a:solidFill>
            <a:srgbClr val="E87722"/>
          </a:solidFill>
          <a:ln/>
        </p:spPr>
        <p:txBody>
          <a:bodyPr/>
          <a:lstStyle/>
          <a:p>
            <a:endParaRPr lang="tr-TR"/>
          </a:p>
        </p:txBody>
      </p:sp>
      <p:sp>
        <p:nvSpPr>
          <p:cNvPr id="8" name="Text 5"/>
          <p:cNvSpPr/>
          <p:nvPr/>
        </p:nvSpPr>
        <p:spPr>
          <a:xfrm>
            <a:off x="548640" y="1051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9" name="Text 6"/>
          <p:cNvSpPr/>
          <p:nvPr/>
        </p:nvSpPr>
        <p:spPr>
          <a:xfrm>
            <a:off x="1143000" y="100584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Kendi Veri Yapılarını Yazmak</a:t>
            </a:r>
            <a:endParaRPr lang="en-US" sz="1400" dirty="0"/>
          </a:p>
        </p:txBody>
      </p:sp>
      <p:sp>
        <p:nvSpPr>
          <p:cNvPr id="10" name="Text 7"/>
          <p:cNvSpPr/>
          <p:nvPr/>
        </p:nvSpPr>
        <p:spPr>
          <a:xfrm>
            <a:off x="1143000" y="129844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Java Collections kullanmadan LinkedList, BST, Queue ve Stack'i sıfırdan geliştirmek ciddi zaman ve test </a:t>
            </a:r>
            <a:r>
              <a:rPr lang="en-US" sz="1100" dirty="0" err="1">
                <a:solidFill>
                  <a:srgbClr val="666666"/>
                </a:solidFill>
                <a:latin typeface="Calibri" pitchFamily="34" charset="0"/>
                <a:ea typeface="Calibri" pitchFamily="34" charset="-122"/>
                <a:cs typeface="Calibri" pitchFamily="34" charset="-120"/>
              </a:rPr>
              <a:t>gerekti</a:t>
            </a:r>
            <a:r>
              <a:rPr lang="tr-TR" sz="1100" dirty="0">
                <a:solidFill>
                  <a:srgbClr val="666666"/>
                </a:solidFill>
                <a:latin typeface="Calibri" pitchFamily="34" charset="0"/>
                <a:ea typeface="Calibri" pitchFamily="34" charset="-122"/>
                <a:cs typeface="Calibri" pitchFamily="34" charset="-120"/>
              </a:rPr>
              <a:t>recek</a:t>
            </a:r>
            <a:r>
              <a:rPr lang="en-US" sz="1100" dirty="0">
                <a:solidFill>
                  <a:srgbClr val="666666"/>
                </a:solidFill>
                <a:latin typeface="Calibri" pitchFamily="34" charset="0"/>
                <a:ea typeface="Calibri" pitchFamily="34" charset="-122"/>
                <a:cs typeface="Calibri" pitchFamily="34" charset="-120"/>
              </a:rPr>
              <a:t>.</a:t>
            </a:r>
            <a:endParaRPr lang="en-US" sz="1100" dirty="0"/>
          </a:p>
        </p:txBody>
      </p:sp>
      <p:sp>
        <p:nvSpPr>
          <p:cNvPr id="11" name="Shape 8"/>
          <p:cNvSpPr/>
          <p:nvPr/>
        </p:nvSpPr>
        <p:spPr>
          <a:xfrm>
            <a:off x="548640" y="2011680"/>
            <a:ext cx="411480" cy="411480"/>
          </a:xfrm>
          <a:prstGeom prst="ellipse">
            <a:avLst/>
          </a:prstGeom>
          <a:solidFill>
            <a:srgbClr val="E87722"/>
          </a:solidFill>
          <a:ln/>
        </p:spPr>
        <p:txBody>
          <a:bodyPr/>
          <a:lstStyle/>
          <a:p>
            <a:endParaRPr lang="tr-TR"/>
          </a:p>
        </p:txBody>
      </p:sp>
      <p:sp>
        <p:nvSpPr>
          <p:cNvPr id="12" name="Text 9"/>
          <p:cNvSpPr/>
          <p:nvPr/>
        </p:nvSpPr>
        <p:spPr>
          <a:xfrm>
            <a:off x="548640" y="20116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3" name="Text 10"/>
          <p:cNvSpPr/>
          <p:nvPr/>
        </p:nvSpPr>
        <p:spPr>
          <a:xfrm>
            <a:off x="1143000" y="196596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Detaylı Use Case Akışları</a:t>
            </a:r>
            <a:endParaRPr lang="en-US" sz="1400" dirty="0"/>
          </a:p>
        </p:txBody>
      </p:sp>
      <p:sp>
        <p:nvSpPr>
          <p:cNvPr id="14" name="Text 11"/>
          <p:cNvSpPr/>
          <p:nvPr/>
        </p:nvSpPr>
        <p:spPr>
          <a:xfrm>
            <a:off x="1143000" y="225856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22 kullanım durumu için alternatif akışlar ve istisnai durumları tek tek detaylandırmak büyük </a:t>
            </a:r>
            <a:r>
              <a:rPr lang="en-US" sz="1100" dirty="0" err="1">
                <a:solidFill>
                  <a:srgbClr val="666666"/>
                </a:solidFill>
                <a:latin typeface="Calibri" pitchFamily="34" charset="0"/>
                <a:ea typeface="Calibri" pitchFamily="34" charset="-122"/>
                <a:cs typeface="Calibri" pitchFamily="34" charset="-120"/>
              </a:rPr>
              <a:t>dikkat</a:t>
            </a:r>
            <a:r>
              <a:rPr lang="en-US" sz="1100" dirty="0">
                <a:solidFill>
                  <a:srgbClr val="666666"/>
                </a:solidFill>
                <a:latin typeface="Calibri" pitchFamily="34" charset="0"/>
                <a:ea typeface="Calibri" pitchFamily="34" charset="-122"/>
                <a:cs typeface="Calibri" pitchFamily="34" charset="-120"/>
              </a:rPr>
              <a:t> </a:t>
            </a:r>
            <a:r>
              <a:rPr lang="en-US" sz="1100" dirty="0" err="1">
                <a:solidFill>
                  <a:srgbClr val="666666"/>
                </a:solidFill>
                <a:latin typeface="Calibri" pitchFamily="34" charset="0"/>
                <a:ea typeface="Calibri" pitchFamily="34" charset="-122"/>
                <a:cs typeface="Calibri" pitchFamily="34" charset="-120"/>
              </a:rPr>
              <a:t>gerektir</a:t>
            </a:r>
            <a:r>
              <a:rPr lang="tr-TR" sz="1100" dirty="0">
                <a:solidFill>
                  <a:srgbClr val="666666"/>
                </a:solidFill>
                <a:latin typeface="Calibri" pitchFamily="34" charset="0"/>
                <a:ea typeface="Calibri" pitchFamily="34" charset="-122"/>
                <a:cs typeface="Calibri" pitchFamily="34" charset="-120"/>
              </a:rPr>
              <a:t>di</a:t>
            </a:r>
            <a:r>
              <a:rPr lang="en-US" sz="1100" dirty="0">
                <a:solidFill>
                  <a:srgbClr val="666666"/>
                </a:solidFill>
                <a:latin typeface="Calibri" pitchFamily="34" charset="0"/>
                <a:ea typeface="Calibri" pitchFamily="34" charset="-122"/>
                <a:cs typeface="Calibri" pitchFamily="34" charset="-120"/>
              </a:rPr>
              <a:t>.</a:t>
            </a:r>
            <a:endParaRPr lang="en-US" sz="1100" dirty="0"/>
          </a:p>
        </p:txBody>
      </p:sp>
      <p:sp>
        <p:nvSpPr>
          <p:cNvPr id="15" name="Shape 12"/>
          <p:cNvSpPr/>
          <p:nvPr/>
        </p:nvSpPr>
        <p:spPr>
          <a:xfrm>
            <a:off x="548640" y="2971800"/>
            <a:ext cx="411480" cy="411480"/>
          </a:xfrm>
          <a:prstGeom prst="ellipse">
            <a:avLst/>
          </a:prstGeom>
          <a:solidFill>
            <a:srgbClr val="E87722"/>
          </a:solidFill>
          <a:ln/>
        </p:spPr>
        <p:txBody>
          <a:bodyPr/>
          <a:lstStyle/>
          <a:p>
            <a:endParaRPr lang="tr-TR"/>
          </a:p>
        </p:txBody>
      </p:sp>
      <p:sp>
        <p:nvSpPr>
          <p:cNvPr id="16" name="Text 13"/>
          <p:cNvSpPr/>
          <p:nvPr/>
        </p:nvSpPr>
        <p:spPr>
          <a:xfrm>
            <a:off x="548640" y="29718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7" name="Text 14"/>
          <p:cNvSpPr/>
          <p:nvPr/>
        </p:nvSpPr>
        <p:spPr>
          <a:xfrm>
            <a:off x="1143000" y="292608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IEEE 830 Uyumlu Belgeleme</a:t>
            </a:r>
            <a:endParaRPr lang="en-US" sz="1400" dirty="0"/>
          </a:p>
        </p:txBody>
      </p:sp>
      <p:sp>
        <p:nvSpPr>
          <p:cNvPr id="18" name="Text 15"/>
          <p:cNvSpPr/>
          <p:nvPr/>
        </p:nvSpPr>
        <p:spPr>
          <a:xfrm>
            <a:off x="1143000" y="321868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UML diyagramlarını IEEE 830 standardına uygun biçimde belgelendirmek titiz çalışma gerektirdi.</a:t>
            </a:r>
            <a:endParaRPr lang="en-US" sz="1100" dirty="0"/>
          </a:p>
        </p:txBody>
      </p:sp>
      <p:sp>
        <p:nvSpPr>
          <p:cNvPr id="19" name="Shape 16"/>
          <p:cNvSpPr/>
          <p:nvPr/>
        </p:nvSpPr>
        <p:spPr>
          <a:xfrm>
            <a:off x="548640" y="3931920"/>
            <a:ext cx="411480" cy="411480"/>
          </a:xfrm>
          <a:prstGeom prst="ellipse">
            <a:avLst/>
          </a:prstGeom>
          <a:solidFill>
            <a:srgbClr val="E87722"/>
          </a:solidFill>
          <a:ln/>
        </p:spPr>
        <p:txBody>
          <a:bodyPr/>
          <a:lstStyle/>
          <a:p>
            <a:endParaRPr lang="tr-TR"/>
          </a:p>
        </p:txBody>
      </p:sp>
      <p:sp>
        <p:nvSpPr>
          <p:cNvPr id="20" name="Text 17"/>
          <p:cNvSpPr/>
          <p:nvPr/>
        </p:nvSpPr>
        <p:spPr>
          <a:xfrm>
            <a:off x="548640" y="393192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1" name="Text 18"/>
          <p:cNvSpPr/>
          <p:nvPr/>
        </p:nvSpPr>
        <p:spPr>
          <a:xfrm>
            <a:off x="1143000" y="3886200"/>
            <a:ext cx="7315200" cy="274320"/>
          </a:xfrm>
          <a:prstGeom prst="rect">
            <a:avLst/>
          </a:prstGeom>
          <a:noFill/>
          <a:ln/>
        </p:spPr>
        <p:txBody>
          <a:bodyPr wrap="square" lIns="0" tIns="0" rIns="0" bIns="0" rtlCol="0" anchor="ctr"/>
          <a:lstStyle/>
          <a:p>
            <a:pPr marL="0" indent="0">
              <a:buNone/>
            </a:pPr>
            <a:r>
              <a:rPr lang="en-US" sz="1400" b="1" dirty="0">
                <a:solidFill>
                  <a:srgbClr val="2D2D2D"/>
                </a:solidFill>
                <a:latin typeface="Calibri" pitchFamily="34" charset="0"/>
                <a:ea typeface="Calibri" pitchFamily="34" charset="-122"/>
                <a:cs typeface="Calibri" pitchFamily="34" charset="-120"/>
              </a:rPr>
              <a:t>Ekip Koordinasyonu &amp; Git</a:t>
            </a:r>
            <a:endParaRPr lang="en-US" sz="1400" dirty="0"/>
          </a:p>
        </p:txBody>
      </p:sp>
      <p:sp>
        <p:nvSpPr>
          <p:cNvPr id="22" name="Text 19"/>
          <p:cNvSpPr/>
          <p:nvPr/>
        </p:nvSpPr>
        <p:spPr>
          <a:xfrm>
            <a:off x="1143000" y="4178808"/>
            <a:ext cx="7315200" cy="50292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6 kişilik ekibin koordinasyonu ve Git branch stratejisi yönetimi sürekli iletişim gerektirdi.</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457200" y="228600"/>
            <a:ext cx="365760" cy="365760"/>
          </a:xfrm>
          <a:prstGeom prst="rect">
            <a:avLst/>
          </a:prstGeom>
        </p:spPr>
      </p:pic>
      <p:sp>
        <p:nvSpPr>
          <p:cNvPr id="4" name="Text 1"/>
          <p:cNvSpPr/>
          <p:nvPr/>
        </p:nvSpPr>
        <p:spPr>
          <a:xfrm>
            <a:off x="914400" y="182880"/>
            <a:ext cx="7772400" cy="457200"/>
          </a:xfrm>
          <a:prstGeom prst="rect">
            <a:avLst/>
          </a:prstGeom>
          <a:noFill/>
          <a:ln/>
        </p:spPr>
        <p:txBody>
          <a:bodyPr wrap="square" lIns="0" tIns="0" rIns="0" bIns="0" rtlCol="0" anchor="ctr"/>
          <a:lstStyle/>
          <a:p>
            <a:pPr marL="0" indent="0" algn="l">
              <a:buNone/>
            </a:pPr>
            <a:r>
              <a:rPr lang="en-US" sz="2600" b="1" dirty="0">
                <a:solidFill>
                  <a:srgbClr val="2D2D2D"/>
                </a:solidFill>
                <a:latin typeface="Trebuchet MS" pitchFamily="34" charset="0"/>
                <a:ea typeface="Trebuchet MS" pitchFamily="34" charset="-122"/>
                <a:cs typeface="Trebuchet MS" pitchFamily="34" charset="-120"/>
              </a:rPr>
              <a:t>Bundan Sonraki Plan</a:t>
            </a:r>
            <a:endParaRPr lang="en-US" sz="2600" dirty="0"/>
          </a:p>
        </p:txBody>
      </p:sp>
      <p:sp>
        <p:nvSpPr>
          <p:cNvPr id="5" name="Shape 2"/>
          <p:cNvSpPr/>
          <p:nvPr/>
        </p:nvSpPr>
        <p:spPr>
          <a:xfrm>
            <a:off x="457200" y="731520"/>
            <a:ext cx="8229600" cy="18288"/>
          </a:xfrm>
          <a:prstGeom prst="rect">
            <a:avLst/>
          </a:prstGeom>
          <a:solidFill>
            <a:srgbClr val="E87722"/>
          </a:solidFill>
          <a:ln/>
        </p:spPr>
        <p:txBody>
          <a:bodyPr/>
          <a:lstStyle/>
          <a:p>
            <a:endParaRPr lang="tr-TR"/>
          </a:p>
        </p:txBody>
      </p:sp>
      <p:sp>
        <p:nvSpPr>
          <p:cNvPr id="6" name="Text 3"/>
          <p:cNvSpPr/>
          <p:nvPr/>
        </p:nvSpPr>
        <p:spPr>
          <a:xfrm>
            <a:off x="457200" y="4800600"/>
            <a:ext cx="4572000" cy="228600"/>
          </a:xfrm>
          <a:prstGeom prst="rect">
            <a:avLst/>
          </a:prstGeom>
          <a:noFill/>
          <a:ln/>
        </p:spPr>
        <p:txBody>
          <a:bodyPr wrap="square" lIns="0" tIns="0" rIns="0" bIns="0" rtlCol="0" anchor="ctr"/>
          <a:lstStyle/>
          <a:p>
            <a:pPr marL="0" indent="0" algn="l">
              <a:buNone/>
            </a:pPr>
            <a:r>
              <a:rPr lang="en-US" sz="900" dirty="0">
                <a:solidFill>
                  <a:srgbClr val="999999"/>
                </a:solidFill>
                <a:latin typeface="Calibri" pitchFamily="34" charset="0"/>
                <a:ea typeface="Calibri" pitchFamily="34" charset="-122"/>
                <a:cs typeface="Calibri" pitchFamily="34" charset="-120"/>
              </a:rPr>
              <a:t>AOGS — Ara Sunum</a:t>
            </a:r>
            <a:endParaRPr lang="en-US" sz="900" dirty="0"/>
          </a:p>
        </p:txBody>
      </p:sp>
      <p:sp>
        <p:nvSpPr>
          <p:cNvPr id="7" name="Shape 4"/>
          <p:cNvSpPr/>
          <p:nvPr/>
        </p:nvSpPr>
        <p:spPr>
          <a:xfrm>
            <a:off x="1088136" y="1463040"/>
            <a:ext cx="36576" cy="384048"/>
          </a:xfrm>
          <a:prstGeom prst="rect">
            <a:avLst/>
          </a:prstGeom>
          <a:solidFill>
            <a:srgbClr val="E87722"/>
          </a:solidFill>
          <a:ln/>
        </p:spPr>
        <p:txBody>
          <a:bodyPr/>
          <a:lstStyle/>
          <a:p>
            <a:endParaRPr lang="tr-TR"/>
          </a:p>
        </p:txBody>
      </p:sp>
      <p:sp>
        <p:nvSpPr>
          <p:cNvPr id="8" name="Shape 5"/>
          <p:cNvSpPr/>
          <p:nvPr/>
        </p:nvSpPr>
        <p:spPr>
          <a:xfrm>
            <a:off x="868680" y="1097280"/>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9" name="Text 6"/>
          <p:cNvSpPr/>
          <p:nvPr/>
        </p:nvSpPr>
        <p:spPr>
          <a:xfrm>
            <a:off x="868680" y="10972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10" name="Shape 7"/>
          <p:cNvSpPr/>
          <p:nvPr/>
        </p:nvSpPr>
        <p:spPr>
          <a:xfrm>
            <a:off x="1554480" y="1051560"/>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1" name="Text 8"/>
          <p:cNvSpPr/>
          <p:nvPr/>
        </p:nvSpPr>
        <p:spPr>
          <a:xfrm>
            <a:off x="1737360" y="1051560"/>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Kodun yazılması, derlenmesi ve birim testleri</a:t>
            </a:r>
            <a:endParaRPr lang="en-US" sz="1400" dirty="0"/>
          </a:p>
        </p:txBody>
      </p:sp>
      <p:sp>
        <p:nvSpPr>
          <p:cNvPr id="12" name="Shape 9"/>
          <p:cNvSpPr/>
          <p:nvPr/>
        </p:nvSpPr>
        <p:spPr>
          <a:xfrm>
            <a:off x="1088136" y="2212848"/>
            <a:ext cx="36576" cy="384048"/>
          </a:xfrm>
          <a:prstGeom prst="rect">
            <a:avLst/>
          </a:prstGeom>
          <a:solidFill>
            <a:srgbClr val="E87722"/>
          </a:solidFill>
          <a:ln/>
        </p:spPr>
        <p:txBody>
          <a:bodyPr/>
          <a:lstStyle/>
          <a:p>
            <a:endParaRPr lang="tr-TR"/>
          </a:p>
        </p:txBody>
      </p:sp>
      <p:sp>
        <p:nvSpPr>
          <p:cNvPr id="13" name="Shape 10"/>
          <p:cNvSpPr/>
          <p:nvPr/>
        </p:nvSpPr>
        <p:spPr>
          <a:xfrm>
            <a:off x="868680" y="1847088"/>
            <a:ext cx="457200" cy="457200"/>
          </a:xfrm>
          <a:prstGeom prst="ellipse">
            <a:avLst/>
          </a:prstGeom>
          <a:solidFill>
            <a:schemeClr val="accent2"/>
          </a:solidFill>
          <a:ln w="25400">
            <a:solidFill>
              <a:srgbClr val="E87722"/>
            </a:solidFill>
            <a:prstDash val="solid"/>
          </a:ln>
        </p:spPr>
        <p:txBody>
          <a:bodyPr/>
          <a:lstStyle/>
          <a:p>
            <a:endParaRPr lang="tr-TR" dirty="0"/>
          </a:p>
        </p:txBody>
      </p:sp>
      <p:sp>
        <p:nvSpPr>
          <p:cNvPr id="14" name="Text 11"/>
          <p:cNvSpPr/>
          <p:nvPr/>
        </p:nvSpPr>
        <p:spPr>
          <a:xfrm>
            <a:off x="868680" y="184708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2</a:t>
            </a:r>
            <a:endParaRPr lang="en-US" sz="1400" dirty="0">
              <a:solidFill>
                <a:schemeClr val="bg1"/>
              </a:solidFill>
            </a:endParaRPr>
          </a:p>
        </p:txBody>
      </p:sp>
      <p:sp>
        <p:nvSpPr>
          <p:cNvPr id="15" name="Shape 12"/>
          <p:cNvSpPr/>
          <p:nvPr/>
        </p:nvSpPr>
        <p:spPr>
          <a:xfrm>
            <a:off x="1554480" y="1801368"/>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16" name="Text 13"/>
          <p:cNvSpPr/>
          <p:nvPr/>
        </p:nvSpPr>
        <p:spPr>
          <a:xfrm>
            <a:off x="1737360" y="1801368"/>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Modüller arası entegrasyon testleri</a:t>
            </a:r>
            <a:endParaRPr lang="en-US" sz="1400" dirty="0"/>
          </a:p>
        </p:txBody>
      </p:sp>
      <p:sp>
        <p:nvSpPr>
          <p:cNvPr id="17" name="Shape 14"/>
          <p:cNvSpPr/>
          <p:nvPr/>
        </p:nvSpPr>
        <p:spPr>
          <a:xfrm>
            <a:off x="1088136" y="2962656"/>
            <a:ext cx="36576" cy="384048"/>
          </a:xfrm>
          <a:prstGeom prst="rect">
            <a:avLst/>
          </a:prstGeom>
          <a:solidFill>
            <a:srgbClr val="E87722"/>
          </a:solidFill>
          <a:ln/>
        </p:spPr>
        <p:txBody>
          <a:bodyPr/>
          <a:lstStyle/>
          <a:p>
            <a:endParaRPr lang="tr-TR"/>
          </a:p>
        </p:txBody>
      </p:sp>
      <p:sp>
        <p:nvSpPr>
          <p:cNvPr id="18" name="Shape 15"/>
          <p:cNvSpPr/>
          <p:nvPr/>
        </p:nvSpPr>
        <p:spPr>
          <a:xfrm>
            <a:off x="868680" y="2596896"/>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19" name="Text 16"/>
          <p:cNvSpPr/>
          <p:nvPr/>
        </p:nvSpPr>
        <p:spPr>
          <a:xfrm>
            <a:off x="868680" y="259689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3</a:t>
            </a:r>
            <a:endParaRPr lang="en-US" sz="1400" dirty="0">
              <a:solidFill>
                <a:schemeClr val="bg1"/>
              </a:solidFill>
            </a:endParaRPr>
          </a:p>
        </p:txBody>
      </p:sp>
      <p:sp>
        <p:nvSpPr>
          <p:cNvPr id="20" name="Shape 17"/>
          <p:cNvSpPr/>
          <p:nvPr/>
        </p:nvSpPr>
        <p:spPr>
          <a:xfrm>
            <a:off x="1554480" y="2551176"/>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1" name="Text 18"/>
          <p:cNvSpPr/>
          <p:nvPr/>
        </p:nvSpPr>
        <p:spPr>
          <a:xfrm>
            <a:off x="1737360" y="2551176"/>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Arayüz menü sisteminin yazılması, derlenmesi ve test edilmesi</a:t>
            </a:r>
            <a:endParaRPr lang="en-US" sz="1400" dirty="0"/>
          </a:p>
        </p:txBody>
      </p:sp>
      <p:sp>
        <p:nvSpPr>
          <p:cNvPr id="22" name="Shape 19"/>
          <p:cNvSpPr/>
          <p:nvPr/>
        </p:nvSpPr>
        <p:spPr>
          <a:xfrm>
            <a:off x="1088136" y="3712464"/>
            <a:ext cx="36576" cy="384048"/>
          </a:xfrm>
          <a:prstGeom prst="rect">
            <a:avLst/>
          </a:prstGeom>
          <a:solidFill>
            <a:srgbClr val="E87722"/>
          </a:solidFill>
          <a:ln/>
        </p:spPr>
        <p:txBody>
          <a:bodyPr/>
          <a:lstStyle/>
          <a:p>
            <a:endParaRPr lang="tr-TR"/>
          </a:p>
        </p:txBody>
      </p:sp>
      <p:sp>
        <p:nvSpPr>
          <p:cNvPr id="23" name="Shape 20"/>
          <p:cNvSpPr/>
          <p:nvPr/>
        </p:nvSpPr>
        <p:spPr>
          <a:xfrm>
            <a:off x="868680" y="3346704"/>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24" name="Text 21"/>
          <p:cNvSpPr/>
          <p:nvPr/>
        </p:nvSpPr>
        <p:spPr>
          <a:xfrm>
            <a:off x="868680" y="3346704"/>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4</a:t>
            </a:r>
            <a:endParaRPr lang="en-US" sz="1400" dirty="0">
              <a:solidFill>
                <a:schemeClr val="bg1"/>
              </a:solidFill>
            </a:endParaRPr>
          </a:p>
        </p:txBody>
      </p:sp>
      <p:sp>
        <p:nvSpPr>
          <p:cNvPr id="25" name="Shape 22"/>
          <p:cNvSpPr/>
          <p:nvPr/>
        </p:nvSpPr>
        <p:spPr>
          <a:xfrm>
            <a:off x="1554480" y="3300984"/>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26" name="Text 23"/>
          <p:cNvSpPr/>
          <p:nvPr/>
        </p:nvSpPr>
        <p:spPr>
          <a:xfrm>
            <a:off x="1737360" y="3300984"/>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Demo senaryoları hazırlama</a:t>
            </a:r>
            <a:endParaRPr lang="en-US" sz="1400" dirty="0"/>
          </a:p>
        </p:txBody>
      </p:sp>
      <p:sp>
        <p:nvSpPr>
          <p:cNvPr id="27" name="Shape 24"/>
          <p:cNvSpPr/>
          <p:nvPr/>
        </p:nvSpPr>
        <p:spPr>
          <a:xfrm>
            <a:off x="868680" y="4096512"/>
            <a:ext cx="457200" cy="457200"/>
          </a:xfrm>
          <a:prstGeom prst="ellipse">
            <a:avLst/>
          </a:prstGeom>
          <a:solidFill>
            <a:schemeClr val="accent2"/>
          </a:solidFill>
          <a:ln w="25400">
            <a:solidFill>
              <a:srgbClr val="E87722"/>
            </a:solidFill>
            <a:prstDash val="solid"/>
          </a:ln>
        </p:spPr>
        <p:txBody>
          <a:bodyPr/>
          <a:lstStyle/>
          <a:p>
            <a:endParaRPr lang="tr-TR"/>
          </a:p>
        </p:txBody>
      </p:sp>
      <p:sp>
        <p:nvSpPr>
          <p:cNvPr id="28" name="Text 25"/>
          <p:cNvSpPr/>
          <p:nvPr/>
        </p:nvSpPr>
        <p:spPr>
          <a:xfrm>
            <a:off x="868680" y="4096512"/>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latin typeface="Trebuchet MS" pitchFamily="34" charset="0"/>
                <a:ea typeface="Trebuchet MS" pitchFamily="34" charset="-122"/>
                <a:cs typeface="Trebuchet MS" pitchFamily="34" charset="-120"/>
              </a:rPr>
              <a:t>5</a:t>
            </a:r>
            <a:endParaRPr lang="en-US" sz="1400" dirty="0">
              <a:solidFill>
                <a:schemeClr val="bg1"/>
              </a:solidFill>
            </a:endParaRPr>
          </a:p>
        </p:txBody>
      </p:sp>
      <p:sp>
        <p:nvSpPr>
          <p:cNvPr id="29" name="Shape 26"/>
          <p:cNvSpPr/>
          <p:nvPr/>
        </p:nvSpPr>
        <p:spPr>
          <a:xfrm>
            <a:off x="1554480" y="4050792"/>
            <a:ext cx="6949440" cy="54864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tr-TR"/>
          </a:p>
        </p:txBody>
      </p:sp>
      <p:sp>
        <p:nvSpPr>
          <p:cNvPr id="30" name="Text 27"/>
          <p:cNvSpPr/>
          <p:nvPr/>
        </p:nvSpPr>
        <p:spPr>
          <a:xfrm>
            <a:off x="1737360" y="4050792"/>
            <a:ext cx="6583680" cy="548640"/>
          </a:xfrm>
          <a:prstGeom prst="rect">
            <a:avLst/>
          </a:prstGeom>
          <a:noFill/>
          <a:ln/>
        </p:spPr>
        <p:txBody>
          <a:bodyPr wrap="square" lIns="0" tIns="0" rIns="0" bIns="0" rtlCol="0" anchor="ctr"/>
          <a:lstStyle/>
          <a:p>
            <a:pPr marL="0" indent="0">
              <a:buNone/>
            </a:pPr>
            <a:r>
              <a:rPr lang="en-US" sz="1400" dirty="0">
                <a:solidFill>
                  <a:srgbClr val="2D2D2D"/>
                </a:solidFill>
                <a:latin typeface="Calibri" pitchFamily="34" charset="0"/>
                <a:ea typeface="Calibri" pitchFamily="34" charset="-122"/>
                <a:cs typeface="Calibri" pitchFamily="34" charset="-120"/>
              </a:rPr>
              <a:t>Final raporu ve sunum</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1">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7722"/>
          </a:solidFill>
          <a:ln/>
        </p:spPr>
        <p:txBody>
          <a:bodyPr/>
          <a:lstStyle/>
          <a:p>
            <a:endParaRPr lang="tr-TR"/>
          </a:p>
        </p:txBody>
      </p:sp>
      <p:pic>
        <p:nvPicPr>
          <p:cNvPr id="3" name="Image 0" descr="preencoded.png"/>
          <p:cNvPicPr>
            <a:picLocks noChangeAspect="1"/>
          </p:cNvPicPr>
          <p:nvPr/>
        </p:nvPicPr>
        <p:blipFill>
          <a:blip r:embed="rId3"/>
          <a:stretch>
            <a:fillRect/>
          </a:stretch>
        </p:blipFill>
        <p:spPr>
          <a:xfrm>
            <a:off x="3886200" y="548640"/>
            <a:ext cx="1371600" cy="1371600"/>
          </a:xfrm>
          <a:prstGeom prst="rect">
            <a:avLst/>
          </a:prstGeom>
        </p:spPr>
      </p:pic>
      <p:sp>
        <p:nvSpPr>
          <p:cNvPr id="4" name="Text 1"/>
          <p:cNvSpPr/>
          <p:nvPr/>
        </p:nvSpPr>
        <p:spPr>
          <a:xfrm>
            <a:off x="457200" y="2011680"/>
            <a:ext cx="8229600" cy="640080"/>
          </a:xfrm>
          <a:prstGeom prst="rect">
            <a:avLst/>
          </a:prstGeom>
          <a:noFill/>
          <a:ln/>
        </p:spPr>
        <p:txBody>
          <a:bodyPr wrap="square" lIns="0" tIns="0" rIns="0" bIns="0" rtlCol="0" anchor="ctr"/>
          <a:lstStyle/>
          <a:p>
            <a:pPr marL="0" indent="0" algn="ctr">
              <a:buNone/>
            </a:pPr>
            <a:r>
              <a:rPr lang="en-US" sz="4000" b="1" dirty="0">
                <a:solidFill>
                  <a:srgbClr val="E87722"/>
                </a:solidFill>
                <a:latin typeface="Trebuchet MS" pitchFamily="34" charset="0"/>
                <a:ea typeface="Trebuchet MS" pitchFamily="34" charset="-122"/>
                <a:cs typeface="Trebuchet MS" pitchFamily="34" charset="-120"/>
              </a:rPr>
              <a:t>Teşekkürler</a:t>
            </a:r>
            <a:endParaRPr lang="en-US" sz="4000" dirty="0"/>
          </a:p>
        </p:txBody>
      </p:sp>
      <p:sp>
        <p:nvSpPr>
          <p:cNvPr id="5" name="Text 2"/>
          <p:cNvSpPr/>
          <p:nvPr/>
        </p:nvSpPr>
        <p:spPr>
          <a:xfrm>
            <a:off x="457200" y="2651760"/>
            <a:ext cx="8229600" cy="457200"/>
          </a:xfrm>
          <a:prstGeom prst="rect">
            <a:avLst/>
          </a:prstGeom>
          <a:noFill/>
          <a:ln/>
        </p:spPr>
        <p:txBody>
          <a:bodyPr wrap="square" lIns="0" tIns="0" rIns="0" bIns="0" rtlCol="0" anchor="ctr"/>
          <a:lstStyle/>
          <a:p>
            <a:pPr marL="0" indent="0" algn="ctr">
              <a:buNone/>
            </a:pPr>
            <a:endParaRPr lang="en-US" sz="2200" dirty="0"/>
          </a:p>
        </p:txBody>
      </p:sp>
      <p:pic>
        <p:nvPicPr>
          <p:cNvPr id="6" name="Image 1" descr="preencoded.png"/>
          <p:cNvPicPr>
            <a:picLocks noChangeAspect="1"/>
          </p:cNvPicPr>
          <p:nvPr/>
        </p:nvPicPr>
        <p:blipFill>
          <a:blip r:embed="rId4"/>
          <a:stretch>
            <a:fillRect/>
          </a:stretch>
        </p:blipFill>
        <p:spPr>
          <a:xfrm>
            <a:off x="3108960" y="3383280"/>
            <a:ext cx="274320" cy="274320"/>
          </a:xfrm>
          <a:prstGeom prst="rect">
            <a:avLst/>
          </a:prstGeom>
        </p:spPr>
      </p:pic>
      <p:sp>
        <p:nvSpPr>
          <p:cNvPr id="7" name="Text 3">
            <a:hlinkClick r:id="rId5"/>
          </p:cNvPr>
          <p:cNvSpPr/>
          <p:nvPr/>
        </p:nvSpPr>
        <p:spPr>
          <a:xfrm>
            <a:off x="3474720" y="3383280"/>
            <a:ext cx="3657600" cy="274320"/>
          </a:xfrm>
          <a:prstGeom prst="rect">
            <a:avLst/>
          </a:prstGeom>
          <a:noFill/>
          <a:ln/>
        </p:spPr>
        <p:txBody>
          <a:bodyPr wrap="square" lIns="0" tIns="0" rIns="0" bIns="0" rtlCol="0" anchor="ctr"/>
          <a:lstStyle/>
          <a:p>
            <a:pPr marL="0" indent="0" algn="l">
              <a:buNone/>
            </a:pPr>
            <a:r>
              <a:rPr lang="en-US" sz="1300" u="sng" dirty="0">
                <a:solidFill>
                  <a:srgbClr val="999999"/>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github.com/zekierman/akilli-galeri-sistemi</a:t>
            </a:r>
            <a:endParaRPr lang="en-US" sz="1300" dirty="0"/>
          </a:p>
        </p:txBody>
      </p:sp>
      <p:sp>
        <p:nvSpPr>
          <p:cNvPr id="8" name="Text 4"/>
          <p:cNvSpPr/>
          <p:nvPr/>
        </p:nvSpPr>
        <p:spPr>
          <a:xfrm>
            <a:off x="457200" y="393192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Zeki Erman  •  Orhan Akman  •  Emre Kuzal</a:t>
            </a:r>
            <a:endParaRPr lang="en-US" sz="1200" dirty="0"/>
          </a:p>
        </p:txBody>
      </p:sp>
      <p:sp>
        <p:nvSpPr>
          <p:cNvPr id="9" name="Text 5"/>
          <p:cNvSpPr/>
          <p:nvPr/>
        </p:nvSpPr>
        <p:spPr>
          <a:xfrm>
            <a:off x="457200" y="4206240"/>
            <a:ext cx="8229600" cy="274320"/>
          </a:xfrm>
          <a:prstGeom prst="rect">
            <a:avLst/>
          </a:prstGeom>
          <a:noFill/>
          <a:ln/>
        </p:spPr>
        <p:txBody>
          <a:bodyPr wrap="square" lIns="0" tIns="0" rIns="0" bIns="0" rtlCol="0" anchor="ctr"/>
          <a:lstStyle/>
          <a:p>
            <a:pPr marL="0" indent="0" algn="ctr">
              <a:buNone/>
            </a:pPr>
            <a:r>
              <a:rPr lang="en-US" sz="1200" dirty="0">
                <a:solidFill>
                  <a:srgbClr val="999999"/>
                </a:solidFill>
                <a:latin typeface="Calibri" pitchFamily="34" charset="0"/>
                <a:ea typeface="Calibri" pitchFamily="34" charset="-122"/>
                <a:cs typeface="Calibri" pitchFamily="34" charset="-120"/>
              </a:rPr>
              <a:t>Osman Berat Paşa  •  Halil İbrahim Dinç  •  Eray Gök</a:t>
            </a:r>
            <a:endParaRPr lang="en-US" sz="1200" dirty="0"/>
          </a:p>
        </p:txBody>
      </p:sp>
      <p:sp>
        <p:nvSpPr>
          <p:cNvPr id="10" name="Shape 6"/>
          <p:cNvSpPr/>
          <p:nvPr/>
        </p:nvSpPr>
        <p:spPr>
          <a:xfrm>
            <a:off x="0" y="5088636"/>
            <a:ext cx="9144000" cy="54864"/>
          </a:xfrm>
          <a:prstGeom prst="rect">
            <a:avLst/>
          </a:prstGeom>
          <a:solidFill>
            <a:srgbClr val="E87722"/>
          </a:solidFill>
          <a:ln/>
        </p:spPr>
        <p:txBody>
          <a:bodyPr/>
          <a:lstStyle/>
          <a:p>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50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DE73586-70E5-4D96-8A0B-27CA1EF24F9C}">
  <we:reference id="wa200010001" version="1.0.0.1" store="en-US" storeType="OMEX"/>
  <we:alternateReferences>
    <we:reference id="wa200010001" version="1.0.0.1" store="" storeType="OMEX"/>
  </we:alternateReferences>
  <we:properties>
    <we:property name="claude.fileId" value="&quot;269e3ed8-b67a-48fd-acc3-1010b330b81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84</TotalTime>
  <Words>3154</Words>
  <Application>Microsoft Office PowerPoint</Application>
  <PresentationFormat>Ekran Gösterisi (16:9)</PresentationFormat>
  <Paragraphs>392</Paragraphs>
  <Slides>25</Slides>
  <Notes>17</Notes>
  <HiddenSlides>0</HiddenSlides>
  <MMClips>0</MMClips>
  <ScaleCrop>false</ScaleCrop>
  <HeadingPairs>
    <vt:vector size="4" baseType="variant">
      <vt:variant>
        <vt:lpstr>Tema</vt:lpstr>
      </vt:variant>
      <vt:variant>
        <vt:i4>1</vt:i4>
      </vt:variant>
      <vt:variant>
        <vt:lpstr>Slayt Başlıkları</vt:lpstr>
      </vt:variant>
      <vt:variant>
        <vt:i4>25</vt:i4>
      </vt:variant>
    </vt:vector>
  </HeadingPairs>
  <TitlesOfParts>
    <vt:vector size="26" baseType="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Akıllı Oto Galeri Sistemi - Ara Sunum</dc:title>
  <dc:subject>PptxGenJS Presentation</dc:subject>
  <dc:creator>AOGS Ekibi</dc:creator>
  <cp:lastModifiedBy>Emre Kuzal</cp:lastModifiedBy>
  <cp:revision>4</cp:revision>
  <dcterms:created xsi:type="dcterms:W3CDTF">2026-04-05T15:49:55Z</dcterms:created>
  <dcterms:modified xsi:type="dcterms:W3CDTF">2026-04-05T22:48:26Z</dcterms:modified>
</cp:coreProperties>
</file>