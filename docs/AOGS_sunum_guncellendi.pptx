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officeDocument/2006/relationships/officeDocument" Target="ppt/presentation.xml" /><Relationship Id="rId1" Type="http://schemas.microsoft.com/office/2011/relationships/webextensiontaskpanes" Target="ppt/webextensions/taskpanes.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68" r:id="rId5"/>
    <p:sldId id="271" r:id="rId6"/>
    <p:sldId id="273" r:id="rId7"/>
    <p:sldId id="278" r:id="rId8"/>
    <p:sldId id="276" r:id="rId9"/>
    <p:sldId id="279" r:id="rId10"/>
    <p:sldId id="280" r:id="rId11"/>
    <p:sldId id="260" r:id="rId12"/>
    <p:sldId id="261" r:id="rId13"/>
    <p:sldId id="269" r:id="rId14"/>
    <p:sldId id="281" r:id="rId15"/>
    <p:sldId id="282" r:id="rId16"/>
    <p:sldId id="283" r:id="rId17"/>
    <p:sldId id="284" r:id="rId18"/>
    <p:sldId id="285" r:id="rId19"/>
    <p:sldId id="286" r:id="rId20"/>
    <p:sldId id="287" r:id="rId21"/>
    <p:sldId id="288" r:id="rId22"/>
    <p:sldId id="263" r:id="rId23"/>
    <p:sldId id="264" r:id="rId24"/>
    <p:sldId id="265" r:id="rId25"/>
    <p:sldId id="266"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C7C7"/>
    <a:srgbClr val="D798E4"/>
    <a:srgbClr val="62245F"/>
    <a:srgbClr val="D188E0"/>
    <a:srgbClr val="BD52D2"/>
    <a:srgbClr val="B043BB"/>
    <a:srgbClr val="E3BBE7"/>
    <a:srgbClr val="D79FDD"/>
    <a:srgbClr val="D59ADA"/>
    <a:srgbClr val="9237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notesMaster" Target="notesMasters/notesMaster1.xml" /><Relationship Id="rId3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9224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Herkese merhaba. Biz Yazılım Mühendisliği dersinin 6 kişilik ekibiyiz. Bugün Akıllı Oto Galeri Sistemi projemizin ara sunum sunumunu yapacağız. Projemizde şimdiye kadar neler yaptığımızı, teknik altyapımızı ve bundan sonraki planımızı sizlerle paylaşacağız.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ikinci el oto galerilerin günlük operasyonlarını dijitalleştirmek için geliştirilmektedir. Galeri sahipleri, satış danışmanları ve ekspertiz uzmanları olmak üzere üç ana kullanıcı kitlemiz var. Araç ekleme, müşteri yönetimi, satış, ekspertiz, sigorta ve muayene takibi gibi tüm süreçler tek bir sistem altında birleştirilmiştir.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Java JDK 17 ve üzeri sürümle geliştirilmektedir. Konsol tabanlı bir uygulama olup, OOP prensiplerini yoğun şekilde kullanıyoruz: Abstract sınıflar, Interface'ler, Kalıtım, Çok biçimlilik ve Singleton deseni. Önemli bir nokta olarak, Java Collections Framework kullanmıyoruz; bunun yerine LinkedList, BST, Queue ve Stack veri yapılarımızı kendimiz yazdık.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Gereksinim analizi aşamasında IEEE 830 standardına uygun 43 sayfayı aşan bir SRS belgesi hazırladık. Belgede 24 fonksiyonel gereksinim FR-101'den FR-604'e kadar numaralandırılmıştır. Ayrıca performans, güvenlik gibi 6 fonksiyonel olmayan gereksinim ve sözde gereksinimler de tanımlanmıştır.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UML modelleme aşamasında kapsamlı çalışma yaptık. 22 kullanım durumunun her biri için alternatif akışlar ve istisnai durumlar detaylı şekilde yazıldı. 25'ten fazla sınıf içeren sınıf diyagramında 15 ilişki detaylı tablo ile belgelendi. Ayrıca 4 durum diyagramı, 3 aktivite diyagramı ve 3 sıra diyagramı hazırladık.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Kullanıcı arayüzü için 8 adet modern masaüstü GUI mockup tasarladık. Dashboard, Araç Listesi, Araç Ekleme, Müşteri Yönetimi, Satış İşlemleri, Ekspertiz, Sigorta Takibi ve Raporlama ekranları planlanmıştır. Bu mockup'lar konsol uygulamasının ileride GUI'ye dönüştürülmesi halinde referans olacaktır.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Kullanıcı kılavuzumuz 12 sayfa olup, sistemin tüm modüllerinin nasıl kullanılacağını adım adım anlatmaktadır. Bu kılavuz hem son kullanıcılar hem de teknik ekip için referans niteliğindedir.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 sürecinde dört ana zorlukla karşılaştık. Birincisi, Java Collections kullanmadan kendi veri yapılarımızı yazmak. İkincisi, 22 use case için detaylı alternatif ve istisnai akışları belgelemek. Üçüncüsü, IEEE 830 standardına tam uyumlu UML belgelendirmesi. Dördüncüsü ise 6 kişilik ekibin Git branch stratejisi ile koordinasyonunu sağlamak oldu.</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Bundan sonraki süreçte sırasıyla şu adımları planlıyoruz: Öncelikle kodun yazılması ve birim testlerinin yapılması, ardından modüller arası entegrasyon testleri, arayüz menü sisteminin geliştirilmesi, demo senaryolarının hazırlanması ve son olarak final raporu ile final sunumu. Hedefimiz dersin sonuna kadar çalışan bir prototip teslim etmektir.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Sunumumuz burada sona eriyor. Projeyle ilgili sorularınızı yanıtlamaktan memnuniyet duyarız. GitHub linkimiz ekranda görünmektedir, projenin kaynak koduna ve dokümanlarına oradan erişebilirsiniz. Dinlediğiniz için teşekkür ederiz.</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5" Type="http://schemas.openxmlformats.org/officeDocument/2006/relationships/hyperlink" Target="https://github.com/zekierman/akilli-galeri-sistemi" TargetMode="External"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3.xml" /><Relationship Id="rId1" Type="http://schemas.openxmlformats.org/officeDocument/2006/relationships/slideLayout" Target="../slideLayouts/slideLayout1.xml" /><Relationship Id="rId5" Type="http://schemas.openxmlformats.org/officeDocument/2006/relationships/image" Target="../media/image8.png" /><Relationship Id="rId4" Type="http://schemas.openxmlformats.org/officeDocument/2006/relationships/image" Target="../media/image7.png" /></Relationships>
</file>

<file path=ppt/slides/_rels/slide4.xml.rels><?xml version="1.0" encoding="UTF-8" standalone="yes"?>
<Relationships xmlns="http://schemas.openxmlformats.org/package/2006/relationships"><Relationship Id="rId8" Type="http://schemas.openxmlformats.org/officeDocument/2006/relationships/image" Target="../media/image11.png" /><Relationship Id="rId3" Type="http://schemas.openxmlformats.org/officeDocument/2006/relationships/image" Target="../media/image9.png" /><Relationship Id="rId7" Type="http://schemas.openxmlformats.org/officeDocument/2006/relationships/image" Target="../media/image5.png" /><Relationship Id="rId2" Type="http://schemas.openxmlformats.org/officeDocument/2006/relationships/notesSlide" Target="../notesSlides/notesSlide4.xml" /><Relationship Id="rId1" Type="http://schemas.openxmlformats.org/officeDocument/2006/relationships/slideLayout" Target="../slideLayouts/slideLayout1.xml" /><Relationship Id="rId6" Type="http://schemas.openxmlformats.org/officeDocument/2006/relationships/image" Target="../media/image10.png" /><Relationship Id="rId5" Type="http://schemas.openxmlformats.org/officeDocument/2006/relationships/image" Target="../media/image4.png" /><Relationship Id="rId4" Type="http://schemas.openxmlformats.org/officeDocument/2006/relationships/image" Target="../media/image3.png" /><Relationship Id="rId9" Type="http://schemas.openxmlformats.org/officeDocument/2006/relationships/image" Target="../media/image12.png"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8" Type="http://schemas.openxmlformats.org/officeDocument/2006/relationships/image" Target="../media/image20.png" /><Relationship Id="rId3" Type="http://schemas.openxmlformats.org/officeDocument/2006/relationships/image" Target="../media/image15.png" /><Relationship Id="rId7" Type="http://schemas.openxmlformats.org/officeDocument/2006/relationships/image" Target="../media/image19.png" /><Relationship Id="rId2" Type="http://schemas.openxmlformats.org/officeDocument/2006/relationships/notesSlide" Target="../notesSlides/notesSlide13.xml" /><Relationship Id="rId1" Type="http://schemas.openxmlformats.org/officeDocument/2006/relationships/slideLayout" Target="../slideLayouts/slideLayout1.xml" /><Relationship Id="rId6" Type="http://schemas.openxmlformats.org/officeDocument/2006/relationships/image" Target="../media/image18.png" /><Relationship Id="rId11" Type="http://schemas.openxmlformats.org/officeDocument/2006/relationships/image" Target="../media/image23.png" /><Relationship Id="rId5" Type="http://schemas.openxmlformats.org/officeDocument/2006/relationships/image" Target="../media/image17.png" /><Relationship Id="rId10" Type="http://schemas.openxmlformats.org/officeDocument/2006/relationships/image" Target="../media/image22.png" /><Relationship Id="rId4" Type="http://schemas.openxmlformats.org/officeDocument/2006/relationships/image" Target="../media/image16.png" /><Relationship Id="rId9" Type="http://schemas.openxmlformats.org/officeDocument/2006/relationships/image" Target="../media/image21.png" /></Relationships>
</file>

<file path=ppt/slides/_rels/slide14.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image" Target="../media/image20.png"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image" Target="../media/image23.png"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2" Type="http://schemas.openxmlformats.org/officeDocument/2006/relationships/image" Target="../media/image21.png"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3" Type="http://schemas.openxmlformats.org/officeDocument/2006/relationships/image" Target="../media/image24.png"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notesSlide" Target="../notesSlides/notesSlide17.xml" /><Relationship Id="rId1" Type="http://schemas.openxmlformats.org/officeDocument/2006/relationships/slideLayout" Target="../slideLayouts/slideLayout1.xml" /><Relationship Id="rId5" Type="http://schemas.openxmlformats.org/officeDocument/2006/relationships/hyperlink" Target="https://github.com/zekierman/akilli-galeri-sistemi" TargetMode="External" /><Relationship Id="rId4" Type="http://schemas.openxmlformats.org/officeDocument/2006/relationships/image" Target="../media/image2.png"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2D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3886200" y="457200"/>
            <a:ext cx="1371600" cy="1371600"/>
          </a:xfrm>
          <a:prstGeom prst="rect">
            <a:avLst/>
          </a:prstGeom>
        </p:spPr>
      </p:pic>
      <p:sp>
        <p:nvSpPr>
          <p:cNvPr id="4" name="Text 1"/>
          <p:cNvSpPr/>
          <p:nvPr/>
        </p:nvSpPr>
        <p:spPr>
          <a:xfrm>
            <a:off x="457200" y="1920240"/>
            <a:ext cx="8229600" cy="640080"/>
          </a:xfrm>
          <a:prstGeom prst="rect">
            <a:avLst/>
          </a:prstGeom>
          <a:noFill/>
          <a:ln/>
        </p:spPr>
        <p:txBody>
          <a:bodyPr wrap="square" lIns="0" tIns="0" rIns="0" bIns="0" rtlCol="0" anchor="ctr"/>
          <a:lstStyle/>
          <a:p>
            <a:pPr marL="0" indent="0" algn="ctr">
              <a:buNone/>
            </a:pPr>
            <a:r>
              <a:rPr lang="en-US" sz="3600" b="1" dirty="0">
                <a:solidFill>
                  <a:srgbClr val="E87722"/>
                </a:solidFill>
                <a:latin typeface="Trebuchet MS" pitchFamily="34" charset="0"/>
                <a:ea typeface="Trebuchet MS" pitchFamily="34" charset="-122"/>
                <a:cs typeface="Trebuchet MS" pitchFamily="34" charset="-120"/>
              </a:rPr>
              <a:t>AKILLI OTO GALERİ SİSTEMİ</a:t>
            </a:r>
            <a:endParaRPr lang="en-US" sz="3600" dirty="0"/>
          </a:p>
        </p:txBody>
      </p:sp>
      <p:sp>
        <p:nvSpPr>
          <p:cNvPr id="5" name="Text 2"/>
          <p:cNvSpPr/>
          <p:nvPr/>
        </p:nvSpPr>
        <p:spPr>
          <a:xfrm>
            <a:off x="457200" y="2468880"/>
            <a:ext cx="8229600" cy="411480"/>
          </a:xfrm>
          <a:prstGeom prst="rect">
            <a:avLst/>
          </a:prstGeom>
          <a:noFill/>
          <a:ln/>
        </p:spPr>
        <p:txBody>
          <a:bodyPr wrap="square" lIns="0" tIns="0" rIns="0" bIns="0" rtlCol="0" anchor="ctr"/>
          <a:lstStyle/>
          <a:p>
            <a:pPr marL="0" indent="0" algn="ctr">
              <a:buNone/>
            </a:pPr>
            <a:r>
              <a:rPr lang="en-US" sz="2200" dirty="0">
                <a:solidFill>
                  <a:srgbClr val="999999"/>
                </a:solidFill>
                <a:latin typeface="Calibri" pitchFamily="34" charset="0"/>
                <a:ea typeface="Calibri" pitchFamily="34" charset="-122"/>
                <a:cs typeface="Calibri" pitchFamily="34" charset="-120"/>
              </a:rPr>
              <a:t>(AOGS)</a:t>
            </a:r>
            <a:endParaRPr lang="en-US" sz="2200" dirty="0"/>
          </a:p>
        </p:txBody>
      </p:sp>
      <p:sp>
        <p:nvSpPr>
          <p:cNvPr id="6" name="Text 3"/>
          <p:cNvSpPr/>
          <p:nvPr/>
        </p:nvSpPr>
        <p:spPr>
          <a:xfrm>
            <a:off x="457200" y="2926080"/>
            <a:ext cx="8229600" cy="32004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Yazılım Mühendisliği Dersi — Necmettin Erbakan Üniversitesi</a:t>
            </a:r>
            <a:endParaRPr lang="en-US" sz="1400" dirty="0"/>
          </a:p>
        </p:txBody>
      </p:sp>
      <p:sp>
        <p:nvSpPr>
          <p:cNvPr id="7" name="Text 4"/>
          <p:cNvSpPr/>
          <p:nvPr/>
        </p:nvSpPr>
        <p:spPr>
          <a:xfrm>
            <a:off x="457200" y="3246120"/>
            <a:ext cx="8229600" cy="274320"/>
          </a:xfrm>
          <a:prstGeom prst="rect">
            <a:avLst/>
          </a:prstGeom>
          <a:noFill/>
          <a:ln/>
        </p:spPr>
        <p:txBody>
          <a:bodyPr wrap="square" lIns="0" tIns="0" rIns="0" bIns="0" rtlCol="0" anchor="ctr"/>
          <a:lstStyle/>
          <a:p>
            <a:pPr marL="0" indent="0" algn="ctr">
              <a:buNone/>
            </a:pPr>
            <a:r>
              <a:rPr lang="en-US" sz="1200" i="1" dirty="0">
                <a:solidFill>
                  <a:srgbClr val="999999"/>
                </a:solidFill>
                <a:latin typeface="Calibri" pitchFamily="34" charset="0"/>
                <a:ea typeface="Calibri" pitchFamily="34" charset="-122"/>
                <a:cs typeface="Calibri" pitchFamily="34" charset="-120"/>
              </a:rPr>
              <a:t>Dr. Öğr. Üyesi Arda Söylev</a:t>
            </a:r>
            <a:endParaRPr lang="en-US" sz="1200" dirty="0"/>
          </a:p>
        </p:txBody>
      </p:sp>
      <p:sp>
        <p:nvSpPr>
          <p:cNvPr id="8" name="Text 5"/>
          <p:cNvSpPr/>
          <p:nvPr/>
        </p:nvSpPr>
        <p:spPr>
          <a:xfrm>
            <a:off x="457200" y="3749040"/>
            <a:ext cx="8229600" cy="274320"/>
          </a:xfrm>
          <a:prstGeom prst="rect">
            <a:avLst/>
          </a:prstGeom>
          <a:noFill/>
          <a:ln/>
        </p:spPr>
        <p:txBody>
          <a:bodyPr wrap="square" lIns="0" tIns="0" rIns="0" bIns="0" rtlCol="0" anchor="ctr"/>
          <a:lstStyle/>
          <a:p>
            <a:pPr marL="0" indent="0" algn="ctr">
              <a:buNone/>
            </a:pPr>
            <a:r>
              <a:rPr lang="en-US" sz="1200" dirty="0">
                <a:solidFill>
                  <a:srgbClr val="999999"/>
                </a:solidFill>
                <a:latin typeface="Calibri" pitchFamily="34" charset="0"/>
                <a:ea typeface="Calibri" pitchFamily="34" charset="-122"/>
                <a:cs typeface="Calibri" pitchFamily="34" charset="-120"/>
              </a:rPr>
              <a:t>Zeki Erman  •  Orhan Akman  •  Emre Kuzal</a:t>
            </a:r>
            <a:endParaRPr lang="en-US" sz="1200" dirty="0"/>
          </a:p>
        </p:txBody>
      </p:sp>
      <p:sp>
        <p:nvSpPr>
          <p:cNvPr id="9" name="Text 6"/>
          <p:cNvSpPr/>
          <p:nvPr/>
        </p:nvSpPr>
        <p:spPr>
          <a:xfrm>
            <a:off x="457200" y="4023360"/>
            <a:ext cx="8229600" cy="274320"/>
          </a:xfrm>
          <a:prstGeom prst="rect">
            <a:avLst/>
          </a:prstGeom>
          <a:noFill/>
          <a:ln/>
        </p:spPr>
        <p:txBody>
          <a:bodyPr wrap="square" lIns="0" tIns="0" rIns="0" bIns="0" rtlCol="0" anchor="ctr"/>
          <a:lstStyle/>
          <a:p>
            <a:pPr marL="0" indent="0" algn="ctr">
              <a:buNone/>
            </a:pPr>
            <a:r>
              <a:rPr lang="en-US" sz="1200" dirty="0">
                <a:solidFill>
                  <a:srgbClr val="999999"/>
                </a:solidFill>
                <a:latin typeface="Calibri" pitchFamily="34" charset="0"/>
                <a:ea typeface="Calibri" pitchFamily="34" charset="-122"/>
                <a:cs typeface="Calibri" pitchFamily="34" charset="-120"/>
              </a:rPr>
              <a:t>Osman Berat Paşa  •  Halil İbrahim Dinç  •  Eray Gök</a:t>
            </a:r>
            <a:endParaRPr lang="en-US" sz="1200" dirty="0"/>
          </a:p>
        </p:txBody>
      </p:sp>
      <p:sp>
        <p:nvSpPr>
          <p:cNvPr id="10" name="Text 7"/>
          <p:cNvSpPr/>
          <p:nvPr/>
        </p:nvSpPr>
        <p:spPr>
          <a:xfrm>
            <a:off x="457200" y="4389120"/>
            <a:ext cx="3657600" cy="274320"/>
          </a:xfrm>
          <a:prstGeom prst="rect">
            <a:avLst/>
          </a:prstGeom>
          <a:noFill/>
          <a:ln/>
        </p:spPr>
        <p:txBody>
          <a:bodyPr wrap="square" lIns="0" tIns="0" rIns="0" bIns="0" rtlCol="0" anchor="ctr"/>
          <a:lstStyle/>
          <a:p>
            <a:pPr marL="0" indent="0" algn="l">
              <a:buNone/>
            </a:pPr>
            <a:r>
              <a:rPr lang="en-US" sz="1100" dirty="0">
                <a:solidFill>
                  <a:srgbClr val="666666"/>
                </a:solidFill>
                <a:latin typeface="Calibri" pitchFamily="34" charset="0"/>
                <a:ea typeface="Calibri" pitchFamily="34" charset="-122"/>
                <a:cs typeface="Calibri" pitchFamily="34" charset="-120"/>
              </a:rPr>
              <a:t>Nisan 2026</a:t>
            </a:r>
            <a:endParaRPr lang="en-US" sz="1100" dirty="0"/>
          </a:p>
        </p:txBody>
      </p:sp>
      <p:pic>
        <p:nvPicPr>
          <p:cNvPr id="11" name="Image 1" descr="preencoded.png"/>
          <p:cNvPicPr>
            <a:picLocks noChangeAspect="1"/>
          </p:cNvPicPr>
          <p:nvPr/>
        </p:nvPicPr>
        <p:blipFill>
          <a:blip r:embed="rId4"/>
          <a:stretch>
            <a:fillRect/>
          </a:stretch>
        </p:blipFill>
        <p:spPr>
          <a:xfrm>
            <a:off x="7772400" y="4389120"/>
            <a:ext cx="201168" cy="201168"/>
          </a:xfrm>
          <a:prstGeom prst="rect">
            <a:avLst/>
          </a:prstGeom>
        </p:spPr>
      </p:pic>
      <p:sp>
        <p:nvSpPr>
          <p:cNvPr id="12" name="Text 8">
            <a:hlinkClick r:id="rId5"/>
          </p:cNvPr>
          <p:cNvSpPr/>
          <p:nvPr/>
        </p:nvSpPr>
        <p:spPr>
          <a:xfrm>
            <a:off x="5029200" y="4389120"/>
            <a:ext cx="2743200" cy="274320"/>
          </a:xfrm>
          <a:prstGeom prst="rect">
            <a:avLst/>
          </a:prstGeom>
          <a:noFill/>
          <a:ln/>
        </p:spPr>
        <p:txBody>
          <a:bodyPr wrap="square" lIns="0" tIns="0" rIns="0" bIns="0" rtlCol="0" anchor="ctr"/>
          <a:lstStyle/>
          <a:p>
            <a:pPr marL="0" indent="0" algn="r">
              <a:buNone/>
            </a:pPr>
            <a:r>
              <a:rPr lang="en-US" sz="1000" u="sng" dirty="0">
                <a:solidFill>
                  <a:srgbClr val="999999"/>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github.com/zekierman/akilli-galeri-sistemi</a:t>
            </a:r>
            <a:endParaRPr lang="en-US" sz="1000" dirty="0"/>
          </a:p>
        </p:txBody>
      </p:sp>
      <p:sp>
        <p:nvSpPr>
          <p:cNvPr id="13" name="Shape 9"/>
          <p:cNvSpPr/>
          <p:nvPr/>
        </p:nvSpPr>
        <p:spPr>
          <a:xfrm>
            <a:off x="0" y="5088636"/>
            <a:ext cx="9144000" cy="54864"/>
          </a:xfrm>
          <a:prstGeom prst="rect">
            <a:avLst/>
          </a:prstGeom>
          <a:solidFill>
            <a:srgbClr val="E87722"/>
          </a:solidFill>
          <a:ln/>
        </p:spPr>
        <p:txBody>
          <a:bodyPr/>
          <a:lstStyle/>
          <a:p>
            <a:endParaRPr lang="tr-T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Projenin Tanımı ve Kapsamı</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960120"/>
            <a:ext cx="3840480" cy="3566160"/>
          </a:xfrm>
          <a:prstGeom prst="rect">
            <a:avLst/>
          </a:prstGeom>
          <a:solidFill>
            <a:srgbClr val="FFF3E8"/>
          </a:solidFill>
          <a:ln/>
          <a:effectLst>
            <a:outerShdw blurRad="50800" dist="25400" dir="8100000" algn="bl" rotWithShape="0">
              <a:srgbClr val="000000">
                <a:alpha val="10000"/>
              </a:srgbClr>
            </a:outerShdw>
          </a:effectLst>
        </p:spPr>
        <p:txBody>
          <a:bodyPr/>
          <a:lstStyle/>
          <a:p>
            <a:endParaRPr lang="tr-TR"/>
          </a:p>
        </p:txBody>
      </p:sp>
      <p:sp>
        <p:nvSpPr>
          <p:cNvPr id="8" name="Shape 5"/>
          <p:cNvSpPr/>
          <p:nvPr/>
        </p:nvSpPr>
        <p:spPr>
          <a:xfrm>
            <a:off x="457200" y="960120"/>
            <a:ext cx="64008" cy="3566160"/>
          </a:xfrm>
          <a:prstGeom prst="rect">
            <a:avLst/>
          </a:prstGeom>
          <a:solidFill>
            <a:srgbClr val="E87722"/>
          </a:solidFill>
          <a:ln/>
        </p:spPr>
        <p:txBody>
          <a:bodyPr/>
          <a:lstStyle/>
          <a:p>
            <a:endParaRPr lang="tr-TR"/>
          </a:p>
        </p:txBody>
      </p:sp>
      <p:sp>
        <p:nvSpPr>
          <p:cNvPr id="9" name="Text 6"/>
          <p:cNvSpPr/>
          <p:nvPr/>
        </p:nvSpPr>
        <p:spPr>
          <a:xfrm>
            <a:off x="731520" y="1097280"/>
            <a:ext cx="3383280" cy="365760"/>
          </a:xfrm>
          <a:prstGeom prst="rect">
            <a:avLst/>
          </a:prstGeom>
          <a:noFill/>
          <a:ln/>
        </p:spPr>
        <p:txBody>
          <a:bodyPr wrap="square" lIns="0" tIns="0" rIns="0" bIns="0" rtlCol="0" anchor="ctr"/>
          <a:lstStyle/>
          <a:p>
            <a:pPr marL="0" indent="0">
              <a:buNone/>
            </a:pPr>
            <a:r>
              <a:rPr lang="en-US" sz="1800" b="1" dirty="0">
                <a:solidFill>
                  <a:srgbClr val="2D2D2D"/>
                </a:solidFill>
                <a:latin typeface="Trebuchet MS" pitchFamily="34" charset="0"/>
                <a:ea typeface="Trebuchet MS" pitchFamily="34" charset="-122"/>
                <a:cs typeface="Trebuchet MS" pitchFamily="34" charset="-120"/>
              </a:rPr>
              <a:t>AOGS Nedir?</a:t>
            </a:r>
            <a:endParaRPr lang="en-US" sz="1800" dirty="0"/>
          </a:p>
        </p:txBody>
      </p:sp>
      <p:sp>
        <p:nvSpPr>
          <p:cNvPr id="10" name="Text 7"/>
          <p:cNvSpPr/>
          <p:nvPr/>
        </p:nvSpPr>
        <p:spPr>
          <a:xfrm>
            <a:off x="731520" y="1554480"/>
            <a:ext cx="3383280" cy="1828800"/>
          </a:xfrm>
          <a:prstGeom prst="rect">
            <a:avLst/>
          </a:prstGeom>
          <a:noFill/>
          <a:ln/>
        </p:spPr>
        <p:txBody>
          <a:bodyPr wrap="square" lIns="0" tIns="0" rIns="0" bIns="0" rtlCol="0" anchor="t"/>
          <a:lstStyle/>
          <a:p>
            <a:pPr marL="0" indent="0">
              <a:buNone/>
            </a:pPr>
            <a:r>
              <a:rPr lang="en-US" sz="1300" dirty="0">
                <a:solidFill>
                  <a:srgbClr val="2D2D2D"/>
                </a:solidFill>
                <a:latin typeface="Calibri" pitchFamily="34" charset="0"/>
                <a:ea typeface="Calibri" pitchFamily="34" charset="-122"/>
                <a:cs typeface="Calibri" pitchFamily="34" charset="-120"/>
              </a:rPr>
              <a:t>İkinci el oto galerilerin tüm operasyonlarını dijitalleştiren, Java tabanlı </a:t>
            </a:r>
            <a:r>
              <a:rPr lang="en-US" sz="1300" dirty="0" err="1">
                <a:solidFill>
                  <a:srgbClr val="2D2D2D"/>
                </a:solidFill>
                <a:latin typeface="Calibri" pitchFamily="34" charset="0"/>
                <a:ea typeface="Calibri" pitchFamily="34" charset="-122"/>
                <a:cs typeface="Calibri" pitchFamily="34" charset="-120"/>
              </a:rPr>
              <a:t>bir</a:t>
            </a:r>
            <a:r>
              <a:rPr lang="en-US" sz="1300" dirty="0">
                <a:solidFill>
                  <a:srgbClr val="2D2D2D"/>
                </a:solidFill>
                <a:latin typeface="Calibri" pitchFamily="34" charset="0"/>
                <a:ea typeface="Calibri" pitchFamily="34" charset="-122"/>
                <a:cs typeface="Calibri" pitchFamily="34" charset="-120"/>
              </a:rPr>
              <a:t> </a:t>
            </a:r>
            <a:r>
              <a:rPr lang="tr-TR" sz="1300" dirty="0">
                <a:solidFill>
                  <a:srgbClr val="2D2D2D"/>
                </a:solidFill>
                <a:latin typeface="Calibri" pitchFamily="34" charset="0"/>
                <a:ea typeface="Calibri" pitchFamily="34" charset="-122"/>
                <a:cs typeface="Calibri" pitchFamily="34" charset="-120"/>
              </a:rPr>
              <a:t>arayüz</a:t>
            </a:r>
            <a:r>
              <a:rPr lang="en-US" sz="1300" dirty="0">
                <a:solidFill>
                  <a:srgbClr val="2D2D2D"/>
                </a:solidFill>
                <a:latin typeface="Calibri" pitchFamily="34" charset="0"/>
                <a:ea typeface="Calibri" pitchFamily="34" charset="-122"/>
                <a:cs typeface="Calibri" pitchFamily="34" charset="-120"/>
              </a:rPr>
              <a:t> uygulamasıdır.</a:t>
            </a:r>
            <a:endParaRPr lang="en-US" sz="1300" dirty="0"/>
          </a:p>
          <a:p>
            <a:pPr marL="0" indent="0">
              <a:buNone/>
            </a:pPr>
            <a:endParaRPr lang="en-US" sz="1300" dirty="0"/>
          </a:p>
          <a:p>
            <a:pPr marL="0" indent="0">
              <a:buNone/>
            </a:pPr>
            <a:r>
              <a:rPr lang="en-US" sz="1300" dirty="0">
                <a:solidFill>
                  <a:srgbClr val="2D2D2D"/>
                </a:solidFill>
                <a:latin typeface="Calibri" pitchFamily="34" charset="0"/>
                <a:ea typeface="Calibri" pitchFamily="34" charset="-122"/>
                <a:cs typeface="Calibri" pitchFamily="34" charset="-120"/>
              </a:rPr>
              <a:t>Araç ekleme, müşteri yönetimi, satış, ekspertiz, sigorta ve muayene takibi tek bir sistemde birleştirilmiştir.</a:t>
            </a:r>
            <a:endParaRPr lang="en-US" sz="1300" dirty="0"/>
          </a:p>
        </p:txBody>
      </p:sp>
      <p:sp>
        <p:nvSpPr>
          <p:cNvPr id="11" name="Text 8"/>
          <p:cNvSpPr/>
          <p:nvPr/>
        </p:nvSpPr>
        <p:spPr>
          <a:xfrm>
            <a:off x="4663440" y="1005840"/>
            <a:ext cx="3931920" cy="320040"/>
          </a:xfrm>
          <a:prstGeom prst="rect">
            <a:avLst/>
          </a:prstGeom>
          <a:noFill/>
          <a:ln/>
        </p:spPr>
        <p:txBody>
          <a:bodyPr wrap="square" lIns="0" tIns="0" rIns="0" bIns="0" rtlCol="0" anchor="ctr"/>
          <a:lstStyle/>
          <a:p>
            <a:pPr marL="0" indent="0">
              <a:buNone/>
            </a:pPr>
            <a:r>
              <a:rPr lang="en-US" sz="1600" b="1" dirty="0">
                <a:solidFill>
                  <a:srgbClr val="2D2D2D"/>
                </a:solidFill>
                <a:latin typeface="Trebuchet MS" pitchFamily="34" charset="0"/>
                <a:ea typeface="Trebuchet MS" pitchFamily="34" charset="-122"/>
                <a:cs typeface="Trebuchet MS" pitchFamily="34" charset="-120"/>
              </a:rPr>
              <a:t>Hedef Kullanıcılar</a:t>
            </a:r>
            <a:endParaRPr lang="en-US" sz="1600" dirty="0"/>
          </a:p>
        </p:txBody>
      </p:sp>
      <p:sp>
        <p:nvSpPr>
          <p:cNvPr id="12" name="Shape 9"/>
          <p:cNvSpPr/>
          <p:nvPr/>
        </p:nvSpPr>
        <p:spPr>
          <a:xfrm>
            <a:off x="4754880" y="1463040"/>
            <a:ext cx="502920" cy="502920"/>
          </a:xfrm>
          <a:prstGeom prst="ellipse">
            <a:avLst/>
          </a:prstGeom>
          <a:solidFill>
            <a:srgbClr val="E87722"/>
          </a:solidFill>
          <a:ln/>
        </p:spPr>
        <p:txBody>
          <a:bodyPr/>
          <a:lstStyle/>
          <a:p>
            <a:endParaRPr lang="tr-TR"/>
          </a:p>
        </p:txBody>
      </p:sp>
      <p:pic>
        <p:nvPicPr>
          <p:cNvPr id="13" name="Image 1" descr="preencoded.png"/>
          <p:cNvPicPr>
            <a:picLocks noChangeAspect="1"/>
          </p:cNvPicPr>
          <p:nvPr/>
        </p:nvPicPr>
        <p:blipFill>
          <a:blip r:embed="rId4"/>
          <a:stretch>
            <a:fillRect/>
          </a:stretch>
        </p:blipFill>
        <p:spPr>
          <a:xfrm>
            <a:off x="4823460" y="1531620"/>
            <a:ext cx="365760" cy="365760"/>
          </a:xfrm>
          <a:prstGeom prst="rect">
            <a:avLst/>
          </a:prstGeom>
        </p:spPr>
      </p:pic>
      <p:sp>
        <p:nvSpPr>
          <p:cNvPr id="14" name="Text 10"/>
          <p:cNvSpPr/>
          <p:nvPr/>
        </p:nvSpPr>
        <p:spPr>
          <a:xfrm>
            <a:off x="5440680" y="1417320"/>
            <a:ext cx="32004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Galeri Sahipleri</a:t>
            </a:r>
            <a:endParaRPr lang="en-US" sz="1400" dirty="0"/>
          </a:p>
        </p:txBody>
      </p:sp>
      <p:sp>
        <p:nvSpPr>
          <p:cNvPr id="15" name="Text 11"/>
          <p:cNvSpPr/>
          <p:nvPr/>
        </p:nvSpPr>
        <p:spPr>
          <a:xfrm>
            <a:off x="5440680" y="1691640"/>
            <a:ext cx="3200400" cy="3200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Araç stok ve satış yönetimini kolaylaştırır</a:t>
            </a:r>
            <a:endParaRPr lang="en-US" sz="1100" dirty="0"/>
          </a:p>
        </p:txBody>
      </p:sp>
      <p:sp>
        <p:nvSpPr>
          <p:cNvPr id="16" name="Shape 12"/>
          <p:cNvSpPr/>
          <p:nvPr/>
        </p:nvSpPr>
        <p:spPr>
          <a:xfrm>
            <a:off x="4754880" y="2514600"/>
            <a:ext cx="502920" cy="502920"/>
          </a:xfrm>
          <a:prstGeom prst="ellipse">
            <a:avLst/>
          </a:prstGeom>
          <a:solidFill>
            <a:srgbClr val="E87722"/>
          </a:solidFill>
          <a:ln/>
        </p:spPr>
        <p:txBody>
          <a:bodyPr/>
          <a:lstStyle/>
          <a:p>
            <a:endParaRPr lang="tr-TR"/>
          </a:p>
        </p:txBody>
      </p:sp>
      <p:pic>
        <p:nvPicPr>
          <p:cNvPr id="17" name="Image 2" descr="preencoded.png"/>
          <p:cNvPicPr>
            <a:picLocks noChangeAspect="1"/>
          </p:cNvPicPr>
          <p:nvPr/>
        </p:nvPicPr>
        <p:blipFill>
          <a:blip r:embed="rId5"/>
          <a:stretch>
            <a:fillRect/>
          </a:stretch>
        </p:blipFill>
        <p:spPr>
          <a:xfrm>
            <a:off x="4823460" y="2583180"/>
            <a:ext cx="365760" cy="365760"/>
          </a:xfrm>
          <a:prstGeom prst="rect">
            <a:avLst/>
          </a:prstGeom>
        </p:spPr>
      </p:pic>
      <p:sp>
        <p:nvSpPr>
          <p:cNvPr id="18" name="Text 13"/>
          <p:cNvSpPr/>
          <p:nvPr/>
        </p:nvSpPr>
        <p:spPr>
          <a:xfrm>
            <a:off x="5440680" y="2468880"/>
            <a:ext cx="32004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Satış Danışmanları</a:t>
            </a:r>
            <a:endParaRPr lang="en-US" sz="1400" dirty="0"/>
          </a:p>
        </p:txBody>
      </p:sp>
      <p:sp>
        <p:nvSpPr>
          <p:cNvPr id="19" name="Text 14"/>
          <p:cNvSpPr/>
          <p:nvPr/>
        </p:nvSpPr>
        <p:spPr>
          <a:xfrm>
            <a:off x="5440680" y="2743200"/>
            <a:ext cx="3200400" cy="3200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Müşteri takibi ve satış raporlarına erişim</a:t>
            </a:r>
            <a:endParaRPr lang="en-US" sz="1100" dirty="0"/>
          </a:p>
        </p:txBody>
      </p:sp>
      <p:sp>
        <p:nvSpPr>
          <p:cNvPr id="20" name="Shape 15"/>
          <p:cNvSpPr/>
          <p:nvPr/>
        </p:nvSpPr>
        <p:spPr>
          <a:xfrm>
            <a:off x="4754880" y="3566160"/>
            <a:ext cx="502920" cy="502920"/>
          </a:xfrm>
          <a:prstGeom prst="ellipse">
            <a:avLst/>
          </a:prstGeom>
          <a:solidFill>
            <a:srgbClr val="E87722"/>
          </a:solidFill>
          <a:ln/>
        </p:spPr>
        <p:txBody>
          <a:bodyPr/>
          <a:lstStyle/>
          <a:p>
            <a:endParaRPr lang="tr-TR"/>
          </a:p>
        </p:txBody>
      </p:sp>
      <p:pic>
        <p:nvPicPr>
          <p:cNvPr id="21" name="Image 3" descr="preencoded.png"/>
          <p:cNvPicPr>
            <a:picLocks noChangeAspect="1"/>
          </p:cNvPicPr>
          <p:nvPr/>
        </p:nvPicPr>
        <p:blipFill>
          <a:blip r:embed="rId6"/>
          <a:stretch>
            <a:fillRect/>
          </a:stretch>
        </p:blipFill>
        <p:spPr>
          <a:xfrm>
            <a:off x="4823460" y="3634740"/>
            <a:ext cx="365760" cy="365760"/>
          </a:xfrm>
          <a:prstGeom prst="rect">
            <a:avLst/>
          </a:prstGeom>
        </p:spPr>
      </p:pic>
      <p:sp>
        <p:nvSpPr>
          <p:cNvPr id="22" name="Text 16"/>
          <p:cNvSpPr/>
          <p:nvPr/>
        </p:nvSpPr>
        <p:spPr>
          <a:xfrm>
            <a:off x="5440680" y="3520440"/>
            <a:ext cx="32004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Ekspertiz Uzmanları</a:t>
            </a:r>
            <a:endParaRPr lang="en-US" sz="1400" dirty="0"/>
          </a:p>
        </p:txBody>
      </p:sp>
      <p:sp>
        <p:nvSpPr>
          <p:cNvPr id="23" name="Text 17"/>
          <p:cNvSpPr/>
          <p:nvPr/>
        </p:nvSpPr>
        <p:spPr>
          <a:xfrm>
            <a:off x="5440680" y="3794760"/>
            <a:ext cx="3200400" cy="3200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Araç değerlendirme ve hasar kayıtları</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Teknik Altyapı</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960120"/>
            <a:ext cx="3931920" cy="1828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pic>
        <p:nvPicPr>
          <p:cNvPr id="8" name="Image 1" descr="preencoded.png"/>
          <p:cNvPicPr>
            <a:picLocks noChangeAspect="1"/>
          </p:cNvPicPr>
          <p:nvPr/>
        </p:nvPicPr>
        <p:blipFill>
          <a:blip r:embed="rId4"/>
          <a:stretch>
            <a:fillRect/>
          </a:stretch>
        </p:blipFill>
        <p:spPr>
          <a:xfrm>
            <a:off x="640080" y="1097280"/>
            <a:ext cx="411480" cy="411480"/>
          </a:xfrm>
          <a:prstGeom prst="rect">
            <a:avLst/>
          </a:prstGeom>
        </p:spPr>
      </p:pic>
      <p:sp>
        <p:nvSpPr>
          <p:cNvPr id="9" name="Text 5"/>
          <p:cNvSpPr/>
          <p:nvPr/>
        </p:nvSpPr>
        <p:spPr>
          <a:xfrm>
            <a:off x="1188720" y="1097280"/>
            <a:ext cx="2926080" cy="320040"/>
          </a:xfrm>
          <a:prstGeom prst="rect">
            <a:avLst/>
          </a:prstGeom>
          <a:noFill/>
          <a:ln/>
        </p:spPr>
        <p:txBody>
          <a:bodyPr wrap="square" lIns="0" tIns="0" rIns="0" bIns="0" rtlCol="0" anchor="ctr"/>
          <a:lstStyle/>
          <a:p>
            <a:pPr marL="0" indent="0">
              <a:buNone/>
            </a:pPr>
            <a:r>
              <a:rPr lang="en-US" sz="1600" b="1" dirty="0">
                <a:solidFill>
                  <a:srgbClr val="2D2D2D"/>
                </a:solidFill>
                <a:latin typeface="Trebuchet MS" pitchFamily="34" charset="0"/>
                <a:ea typeface="Trebuchet MS" pitchFamily="34" charset="-122"/>
                <a:cs typeface="Trebuchet MS" pitchFamily="34" charset="-120"/>
              </a:rPr>
              <a:t>Java JDK 17+</a:t>
            </a:r>
            <a:r>
              <a:rPr lang="tr-TR" sz="1600" b="1" dirty="0">
                <a:solidFill>
                  <a:srgbClr val="2D2D2D"/>
                </a:solidFill>
                <a:latin typeface="Trebuchet MS" pitchFamily="34" charset="0"/>
                <a:ea typeface="Trebuchet MS" pitchFamily="34" charset="-122"/>
                <a:cs typeface="Trebuchet MS" pitchFamily="34" charset="-120"/>
              </a:rPr>
              <a:t> Spring </a:t>
            </a:r>
            <a:r>
              <a:rPr lang="tr-TR" sz="1600" b="1" dirty="0" err="1">
                <a:solidFill>
                  <a:srgbClr val="2D2D2D"/>
                </a:solidFill>
                <a:latin typeface="Trebuchet MS" pitchFamily="34" charset="0"/>
                <a:ea typeface="Trebuchet MS" pitchFamily="34" charset="-122"/>
                <a:cs typeface="Trebuchet MS" pitchFamily="34" charset="-120"/>
              </a:rPr>
              <a:t>Boot</a:t>
            </a:r>
            <a:endParaRPr lang="en-US" sz="1600" dirty="0"/>
          </a:p>
        </p:txBody>
      </p:sp>
      <p:sp>
        <p:nvSpPr>
          <p:cNvPr id="10" name="Text 6"/>
          <p:cNvSpPr/>
          <p:nvPr/>
        </p:nvSpPr>
        <p:spPr>
          <a:xfrm>
            <a:off x="1188720" y="1417320"/>
            <a:ext cx="2926080" cy="228600"/>
          </a:xfrm>
          <a:prstGeom prst="rect">
            <a:avLst/>
          </a:prstGeom>
          <a:noFill/>
          <a:ln/>
        </p:spPr>
        <p:txBody>
          <a:bodyPr wrap="square" lIns="0" tIns="0" rIns="0" bIns="0" rtlCol="0" anchor="ctr"/>
          <a:lstStyle/>
          <a:p>
            <a:pPr marL="0" indent="0">
              <a:buNone/>
            </a:pPr>
            <a:r>
              <a:rPr lang="tr-TR" sz="1200" dirty="0" err="1">
                <a:solidFill>
                  <a:srgbClr val="666666"/>
                </a:solidFill>
                <a:latin typeface="Calibri" pitchFamily="34" charset="0"/>
                <a:ea typeface="Calibri" pitchFamily="34" charset="-122"/>
                <a:cs typeface="Calibri" pitchFamily="34" charset="-120"/>
              </a:rPr>
              <a:t>Arayüz</a:t>
            </a:r>
            <a:r>
              <a:rPr lang="tr-TR" sz="1200">
                <a:solidFill>
                  <a:srgbClr val="666666"/>
                </a:solidFill>
                <a:latin typeface="Calibri" pitchFamily="34" charset="0"/>
                <a:ea typeface="Calibri" pitchFamily="34" charset="-122"/>
                <a:cs typeface="Calibri" pitchFamily="34" charset="-120"/>
              </a:rPr>
              <a:t> tabanlı</a:t>
            </a:r>
            <a:r>
              <a:rPr lang="en-US" sz="1200">
                <a:solidFill>
                  <a:srgbClr val="666666"/>
                </a:solidFill>
                <a:latin typeface="Calibri" pitchFamily="34" charset="0"/>
                <a:ea typeface="Calibri" pitchFamily="34" charset="-122"/>
                <a:cs typeface="Calibri" pitchFamily="34" charset="-120"/>
              </a:rPr>
              <a:t> </a:t>
            </a:r>
            <a:r>
              <a:rPr lang="en-US" sz="1200" dirty="0">
                <a:solidFill>
                  <a:srgbClr val="666666"/>
                </a:solidFill>
                <a:latin typeface="Calibri" pitchFamily="34" charset="0"/>
                <a:ea typeface="Calibri" pitchFamily="34" charset="-122"/>
                <a:cs typeface="Calibri" pitchFamily="34" charset="-120"/>
              </a:rPr>
              <a:t>uygulama</a:t>
            </a:r>
            <a:endParaRPr lang="en-US" sz="1200" dirty="0"/>
          </a:p>
        </p:txBody>
      </p:sp>
      <p:sp>
        <p:nvSpPr>
          <p:cNvPr id="11" name="Text 7"/>
          <p:cNvSpPr/>
          <p:nvPr/>
        </p:nvSpPr>
        <p:spPr>
          <a:xfrm>
            <a:off x="640080" y="1920240"/>
            <a:ext cx="3474720" cy="640080"/>
          </a:xfrm>
          <a:prstGeom prst="rect">
            <a:avLst/>
          </a:prstGeom>
          <a:noFill/>
          <a:ln/>
        </p:spPr>
        <p:txBody>
          <a:bodyPr wrap="square" lIns="0" tIns="0" rIns="0" bIns="0" rtlCol="0" anchor="ctr"/>
          <a:lstStyle/>
          <a:p>
            <a:pPr marL="0" indent="0">
              <a:buNone/>
            </a:pPr>
            <a:r>
              <a:rPr lang="en-US" sz="1200" b="1" dirty="0">
                <a:solidFill>
                  <a:srgbClr val="D4691A"/>
                </a:solidFill>
                <a:latin typeface="Calibri" pitchFamily="34" charset="0"/>
                <a:ea typeface="Calibri" pitchFamily="34" charset="-122"/>
                <a:cs typeface="Calibri" pitchFamily="34" charset="-120"/>
              </a:rPr>
              <a:t>Java Collections kullanılmıyor</a:t>
            </a:r>
            <a:endParaRPr lang="en-US" sz="1200" dirty="0"/>
          </a:p>
          <a:p>
            <a:pPr marL="0" indent="0">
              <a:buNone/>
            </a:pPr>
            <a:r>
              <a:rPr lang="en-US" sz="1200" dirty="0">
                <a:solidFill>
                  <a:srgbClr val="666666"/>
                </a:solidFill>
                <a:latin typeface="Calibri" pitchFamily="34" charset="0"/>
                <a:ea typeface="Calibri" pitchFamily="34" charset="-122"/>
                <a:cs typeface="Calibri" pitchFamily="34" charset="-120"/>
              </a:rPr>
              <a:t>Tüm veri yapıları </a:t>
            </a:r>
            <a:r>
              <a:rPr lang="en-US" sz="1200" dirty="0" err="1">
                <a:solidFill>
                  <a:srgbClr val="666666"/>
                </a:solidFill>
                <a:latin typeface="Calibri" pitchFamily="34" charset="0"/>
                <a:ea typeface="Calibri" pitchFamily="34" charset="-122"/>
                <a:cs typeface="Calibri" pitchFamily="34" charset="-120"/>
              </a:rPr>
              <a:t>elle</a:t>
            </a:r>
            <a:r>
              <a:rPr lang="en-US" sz="1200" dirty="0">
                <a:solidFill>
                  <a:srgbClr val="666666"/>
                </a:solidFill>
                <a:latin typeface="Calibri" pitchFamily="34" charset="0"/>
                <a:ea typeface="Calibri" pitchFamily="34" charset="-122"/>
                <a:cs typeface="Calibri" pitchFamily="34" charset="-120"/>
              </a:rPr>
              <a:t> </a:t>
            </a:r>
            <a:r>
              <a:rPr lang="en-US" sz="1200" dirty="0" err="1">
                <a:solidFill>
                  <a:srgbClr val="666666"/>
                </a:solidFill>
                <a:latin typeface="Calibri" pitchFamily="34" charset="0"/>
                <a:ea typeface="Calibri" pitchFamily="34" charset="-122"/>
                <a:cs typeface="Calibri" pitchFamily="34" charset="-120"/>
              </a:rPr>
              <a:t>yazı</a:t>
            </a:r>
            <a:r>
              <a:rPr lang="tr-TR" sz="1200" dirty="0">
                <a:solidFill>
                  <a:srgbClr val="666666"/>
                </a:solidFill>
                <a:latin typeface="Calibri" pitchFamily="34" charset="0"/>
                <a:ea typeface="Calibri" pitchFamily="34" charset="-122"/>
                <a:cs typeface="Calibri" pitchFamily="34" charset="-120"/>
              </a:rPr>
              <a:t>lacak</a:t>
            </a:r>
            <a:endParaRPr lang="en-US" sz="1200" dirty="0"/>
          </a:p>
        </p:txBody>
      </p:sp>
      <p:sp>
        <p:nvSpPr>
          <p:cNvPr id="12" name="Shape 8"/>
          <p:cNvSpPr/>
          <p:nvPr/>
        </p:nvSpPr>
        <p:spPr>
          <a:xfrm>
            <a:off x="4754880" y="960120"/>
            <a:ext cx="3931920" cy="1828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pic>
        <p:nvPicPr>
          <p:cNvPr id="13" name="Image 2" descr="preencoded.png"/>
          <p:cNvPicPr>
            <a:picLocks noChangeAspect="1"/>
          </p:cNvPicPr>
          <p:nvPr/>
        </p:nvPicPr>
        <p:blipFill>
          <a:blip r:embed="rId5"/>
          <a:stretch>
            <a:fillRect/>
          </a:stretch>
        </p:blipFill>
        <p:spPr>
          <a:xfrm>
            <a:off x="4937760" y="1097280"/>
            <a:ext cx="411480" cy="411480"/>
          </a:xfrm>
          <a:prstGeom prst="rect">
            <a:avLst/>
          </a:prstGeom>
        </p:spPr>
      </p:pic>
      <p:sp>
        <p:nvSpPr>
          <p:cNvPr id="14" name="Text 9"/>
          <p:cNvSpPr/>
          <p:nvPr/>
        </p:nvSpPr>
        <p:spPr>
          <a:xfrm>
            <a:off x="5486400" y="1097280"/>
            <a:ext cx="2926080" cy="320040"/>
          </a:xfrm>
          <a:prstGeom prst="rect">
            <a:avLst/>
          </a:prstGeom>
          <a:noFill/>
          <a:ln/>
        </p:spPr>
        <p:txBody>
          <a:bodyPr wrap="square" lIns="0" tIns="0" rIns="0" bIns="0" rtlCol="0" anchor="ctr"/>
          <a:lstStyle/>
          <a:p>
            <a:pPr marL="0" indent="0">
              <a:buNone/>
            </a:pPr>
            <a:r>
              <a:rPr lang="en-US" sz="1600" b="1" dirty="0">
                <a:solidFill>
                  <a:srgbClr val="2D2D2D"/>
                </a:solidFill>
                <a:latin typeface="Trebuchet MS" pitchFamily="34" charset="0"/>
                <a:ea typeface="Trebuchet MS" pitchFamily="34" charset="-122"/>
                <a:cs typeface="Trebuchet MS" pitchFamily="34" charset="-120"/>
              </a:rPr>
              <a:t>OOP Prensipleri</a:t>
            </a:r>
            <a:endParaRPr lang="en-US" sz="1600" dirty="0"/>
          </a:p>
        </p:txBody>
      </p:sp>
      <p:sp>
        <p:nvSpPr>
          <p:cNvPr id="15" name="Text 10"/>
          <p:cNvSpPr/>
          <p:nvPr/>
        </p:nvSpPr>
        <p:spPr>
          <a:xfrm>
            <a:off x="5120640" y="1554480"/>
            <a:ext cx="3291840" cy="1097280"/>
          </a:xfrm>
          <a:prstGeom prst="rect">
            <a:avLst/>
          </a:prstGeom>
          <a:noFill/>
          <a:ln/>
        </p:spPr>
        <p:txBody>
          <a:bodyPr wrap="square" lIns="0" tIns="0" rIns="0" bIns="0" rtlCol="0" anchor="ctr"/>
          <a:lstStyle/>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Abstract Classes</a:t>
            </a:r>
            <a:endParaRPr lang="en-US" sz="1200" dirty="0"/>
          </a:p>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Interface</a:t>
            </a:r>
            <a:endParaRPr lang="en-US" sz="1200" dirty="0"/>
          </a:p>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Inheritance</a:t>
            </a:r>
            <a:endParaRPr lang="en-US" sz="1200" dirty="0"/>
          </a:p>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Polymorphism</a:t>
            </a:r>
            <a:endParaRPr lang="en-US" sz="1200" dirty="0"/>
          </a:p>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Singleton Pattern</a:t>
            </a:r>
            <a:endParaRPr lang="en-US" sz="1200" dirty="0"/>
          </a:p>
        </p:txBody>
      </p:sp>
      <p:sp>
        <p:nvSpPr>
          <p:cNvPr id="16" name="Text 11"/>
          <p:cNvSpPr/>
          <p:nvPr/>
        </p:nvSpPr>
        <p:spPr>
          <a:xfrm>
            <a:off x="457200" y="2926080"/>
            <a:ext cx="8229600" cy="320040"/>
          </a:xfrm>
          <a:prstGeom prst="rect">
            <a:avLst/>
          </a:prstGeom>
          <a:noFill/>
          <a:ln/>
        </p:spPr>
        <p:txBody>
          <a:bodyPr wrap="square" lIns="0" tIns="0" rIns="0" bIns="0" rtlCol="0" anchor="ctr"/>
          <a:lstStyle/>
          <a:p>
            <a:pPr marL="0" indent="0">
              <a:buNone/>
            </a:pPr>
            <a:r>
              <a:rPr lang="en-US" sz="1600" b="1" dirty="0">
                <a:latin typeface="Trebuchet MS" pitchFamily="34" charset="0"/>
                <a:ea typeface="Trebuchet MS" pitchFamily="34" charset="-122"/>
                <a:cs typeface="Trebuchet MS" pitchFamily="34" charset="-120"/>
              </a:rPr>
              <a:t>Kendi Veri Yapılarımız</a:t>
            </a:r>
            <a:endParaRPr lang="en-US" sz="1600" dirty="0"/>
          </a:p>
        </p:txBody>
      </p:sp>
      <p:sp>
        <p:nvSpPr>
          <p:cNvPr id="17" name="Shape 12"/>
          <p:cNvSpPr/>
          <p:nvPr/>
        </p:nvSpPr>
        <p:spPr>
          <a:xfrm>
            <a:off x="457200" y="3337560"/>
            <a:ext cx="1920240" cy="1051560"/>
          </a:xfrm>
          <a:prstGeom prst="rect">
            <a:avLst/>
          </a:prstGeom>
          <a:solidFill>
            <a:srgbClr val="FFFFFF"/>
          </a:solidFill>
          <a:ln w="19050">
            <a:solidFill>
              <a:srgbClr val="E87722"/>
            </a:solidFill>
            <a:prstDash val="solid"/>
          </a:ln>
          <a:effectLst>
            <a:outerShdw blurRad="50800" dist="25400" dir="8100000" algn="bl" rotWithShape="0">
              <a:srgbClr val="000000">
                <a:alpha val="10000"/>
              </a:srgbClr>
            </a:outerShdw>
          </a:effectLst>
        </p:spPr>
        <p:txBody>
          <a:bodyPr/>
          <a:lstStyle/>
          <a:p>
            <a:endParaRPr lang="tr-TR"/>
          </a:p>
        </p:txBody>
      </p:sp>
      <p:sp>
        <p:nvSpPr>
          <p:cNvPr id="18" name="Text 13"/>
          <p:cNvSpPr/>
          <p:nvPr/>
        </p:nvSpPr>
        <p:spPr>
          <a:xfrm>
            <a:off x="548640" y="3429000"/>
            <a:ext cx="1737360" cy="320040"/>
          </a:xfrm>
          <a:prstGeom prst="rect">
            <a:avLst/>
          </a:prstGeom>
          <a:noFill/>
          <a:ln/>
        </p:spPr>
        <p:txBody>
          <a:bodyPr wrap="square" lIns="0" tIns="0" rIns="0" bIns="0" rtlCol="0" anchor="ctr"/>
          <a:lstStyle/>
          <a:p>
            <a:pPr marL="0" indent="0" algn="ctr">
              <a:buNone/>
            </a:pPr>
            <a:r>
              <a:rPr lang="en-US" sz="1400" b="1" dirty="0">
                <a:solidFill>
                  <a:srgbClr val="E87722"/>
                </a:solidFill>
                <a:latin typeface="Trebuchet MS" pitchFamily="34" charset="0"/>
                <a:ea typeface="Trebuchet MS" pitchFamily="34" charset="-122"/>
                <a:cs typeface="Trebuchet MS" pitchFamily="34" charset="-120"/>
              </a:rPr>
              <a:t>LinkedList</a:t>
            </a:r>
            <a:endParaRPr lang="en-US" sz="1400" dirty="0"/>
          </a:p>
        </p:txBody>
      </p:sp>
      <p:sp>
        <p:nvSpPr>
          <p:cNvPr id="19" name="Text 14"/>
          <p:cNvSpPr/>
          <p:nvPr/>
        </p:nvSpPr>
        <p:spPr>
          <a:xfrm>
            <a:off x="548640" y="3749040"/>
            <a:ext cx="173736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Calibri" pitchFamily="34" charset="0"/>
                <a:ea typeface="Calibri" pitchFamily="34" charset="-122"/>
                <a:cs typeface="Calibri" pitchFamily="34" charset="-120"/>
              </a:rPr>
              <a:t>Araç &amp; Müşteri listeleri</a:t>
            </a:r>
            <a:endParaRPr lang="en-US" sz="1000" dirty="0"/>
          </a:p>
        </p:txBody>
      </p:sp>
      <p:sp>
        <p:nvSpPr>
          <p:cNvPr id="20" name="Shape 15"/>
          <p:cNvSpPr/>
          <p:nvPr/>
        </p:nvSpPr>
        <p:spPr>
          <a:xfrm>
            <a:off x="2606040" y="3337560"/>
            <a:ext cx="1920240" cy="1051560"/>
          </a:xfrm>
          <a:prstGeom prst="rect">
            <a:avLst/>
          </a:prstGeom>
          <a:solidFill>
            <a:srgbClr val="FFFFFF"/>
          </a:solidFill>
          <a:ln w="19050">
            <a:solidFill>
              <a:srgbClr val="E87722"/>
            </a:solidFill>
            <a:prstDash val="solid"/>
          </a:ln>
          <a:effectLst>
            <a:outerShdw blurRad="50800" dist="25400" dir="8100000" algn="bl" rotWithShape="0">
              <a:srgbClr val="000000">
                <a:alpha val="10000"/>
              </a:srgbClr>
            </a:outerShdw>
          </a:effectLst>
        </p:spPr>
        <p:txBody>
          <a:bodyPr/>
          <a:lstStyle/>
          <a:p>
            <a:endParaRPr lang="tr-TR"/>
          </a:p>
        </p:txBody>
      </p:sp>
      <p:sp>
        <p:nvSpPr>
          <p:cNvPr id="21" name="Text 16"/>
          <p:cNvSpPr/>
          <p:nvPr/>
        </p:nvSpPr>
        <p:spPr>
          <a:xfrm>
            <a:off x="2697480" y="3429000"/>
            <a:ext cx="1737360" cy="320040"/>
          </a:xfrm>
          <a:prstGeom prst="rect">
            <a:avLst/>
          </a:prstGeom>
          <a:noFill/>
          <a:ln/>
        </p:spPr>
        <p:txBody>
          <a:bodyPr wrap="square" lIns="0" tIns="0" rIns="0" bIns="0" rtlCol="0" anchor="ctr"/>
          <a:lstStyle/>
          <a:p>
            <a:pPr marL="0" indent="0" algn="ctr">
              <a:buNone/>
            </a:pPr>
            <a:r>
              <a:rPr lang="en-US" sz="1400" b="1" dirty="0">
                <a:solidFill>
                  <a:srgbClr val="E87722"/>
                </a:solidFill>
                <a:latin typeface="Trebuchet MS" pitchFamily="34" charset="0"/>
                <a:ea typeface="Trebuchet MS" pitchFamily="34" charset="-122"/>
                <a:cs typeface="Trebuchet MS" pitchFamily="34" charset="-120"/>
              </a:rPr>
              <a:t>BST</a:t>
            </a:r>
            <a:endParaRPr lang="en-US" sz="1400" dirty="0"/>
          </a:p>
        </p:txBody>
      </p:sp>
      <p:sp>
        <p:nvSpPr>
          <p:cNvPr id="22" name="Text 17"/>
          <p:cNvSpPr/>
          <p:nvPr/>
        </p:nvSpPr>
        <p:spPr>
          <a:xfrm>
            <a:off x="2697480" y="3749040"/>
            <a:ext cx="173736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Calibri" pitchFamily="34" charset="0"/>
                <a:ea typeface="Calibri" pitchFamily="34" charset="-122"/>
                <a:cs typeface="Calibri" pitchFamily="34" charset="-120"/>
              </a:rPr>
              <a:t>Hızlı arama &amp; sıralama</a:t>
            </a:r>
            <a:endParaRPr lang="en-US" sz="1000" dirty="0"/>
          </a:p>
        </p:txBody>
      </p:sp>
      <p:sp>
        <p:nvSpPr>
          <p:cNvPr id="23" name="Shape 18"/>
          <p:cNvSpPr/>
          <p:nvPr/>
        </p:nvSpPr>
        <p:spPr>
          <a:xfrm>
            <a:off x="4754880" y="3337560"/>
            <a:ext cx="1920240" cy="1051560"/>
          </a:xfrm>
          <a:prstGeom prst="rect">
            <a:avLst/>
          </a:prstGeom>
          <a:solidFill>
            <a:srgbClr val="FFFFFF"/>
          </a:solidFill>
          <a:ln w="19050">
            <a:solidFill>
              <a:srgbClr val="E87722"/>
            </a:solidFill>
            <a:prstDash val="solid"/>
          </a:ln>
          <a:effectLst>
            <a:outerShdw blurRad="50800" dist="25400" dir="8100000" algn="bl" rotWithShape="0">
              <a:srgbClr val="000000">
                <a:alpha val="10000"/>
              </a:srgbClr>
            </a:outerShdw>
          </a:effectLst>
        </p:spPr>
        <p:txBody>
          <a:bodyPr/>
          <a:lstStyle/>
          <a:p>
            <a:endParaRPr lang="tr-TR"/>
          </a:p>
        </p:txBody>
      </p:sp>
      <p:sp>
        <p:nvSpPr>
          <p:cNvPr id="24" name="Text 19"/>
          <p:cNvSpPr/>
          <p:nvPr/>
        </p:nvSpPr>
        <p:spPr>
          <a:xfrm>
            <a:off x="4846320" y="3429000"/>
            <a:ext cx="1737360" cy="320040"/>
          </a:xfrm>
          <a:prstGeom prst="rect">
            <a:avLst/>
          </a:prstGeom>
          <a:noFill/>
          <a:ln/>
        </p:spPr>
        <p:txBody>
          <a:bodyPr wrap="square" lIns="0" tIns="0" rIns="0" bIns="0" rtlCol="0" anchor="ctr"/>
          <a:lstStyle/>
          <a:p>
            <a:pPr marL="0" indent="0" algn="ctr">
              <a:buNone/>
            </a:pPr>
            <a:r>
              <a:rPr lang="en-US" sz="1400" b="1" dirty="0">
                <a:solidFill>
                  <a:srgbClr val="E87722"/>
                </a:solidFill>
                <a:latin typeface="Trebuchet MS" pitchFamily="34" charset="0"/>
                <a:ea typeface="Trebuchet MS" pitchFamily="34" charset="-122"/>
                <a:cs typeface="Trebuchet MS" pitchFamily="34" charset="-120"/>
              </a:rPr>
              <a:t>Queue</a:t>
            </a:r>
            <a:endParaRPr lang="en-US" sz="1400" dirty="0"/>
          </a:p>
        </p:txBody>
      </p:sp>
      <p:sp>
        <p:nvSpPr>
          <p:cNvPr id="25" name="Text 20"/>
          <p:cNvSpPr/>
          <p:nvPr/>
        </p:nvSpPr>
        <p:spPr>
          <a:xfrm>
            <a:off x="4846320" y="3749040"/>
            <a:ext cx="173736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Calibri" pitchFamily="34" charset="0"/>
                <a:ea typeface="Calibri" pitchFamily="34" charset="-122"/>
                <a:cs typeface="Calibri" pitchFamily="34" charset="-120"/>
              </a:rPr>
              <a:t>Ekspertiz sıra yönetimi</a:t>
            </a:r>
            <a:endParaRPr lang="en-US" sz="1000" dirty="0"/>
          </a:p>
        </p:txBody>
      </p:sp>
      <p:sp>
        <p:nvSpPr>
          <p:cNvPr id="26" name="Shape 21"/>
          <p:cNvSpPr/>
          <p:nvPr/>
        </p:nvSpPr>
        <p:spPr>
          <a:xfrm>
            <a:off x="6903720" y="3337560"/>
            <a:ext cx="1920240" cy="1051560"/>
          </a:xfrm>
          <a:prstGeom prst="rect">
            <a:avLst/>
          </a:prstGeom>
          <a:solidFill>
            <a:srgbClr val="FFFFFF"/>
          </a:solidFill>
          <a:ln w="19050">
            <a:solidFill>
              <a:srgbClr val="E87722"/>
            </a:solidFill>
            <a:prstDash val="solid"/>
          </a:ln>
          <a:effectLst>
            <a:outerShdw blurRad="50800" dist="25400" dir="8100000" algn="bl" rotWithShape="0">
              <a:srgbClr val="000000">
                <a:alpha val="10000"/>
              </a:srgbClr>
            </a:outerShdw>
          </a:effectLst>
        </p:spPr>
        <p:txBody>
          <a:bodyPr/>
          <a:lstStyle/>
          <a:p>
            <a:endParaRPr lang="tr-TR"/>
          </a:p>
        </p:txBody>
      </p:sp>
      <p:sp>
        <p:nvSpPr>
          <p:cNvPr id="27" name="Text 22"/>
          <p:cNvSpPr/>
          <p:nvPr/>
        </p:nvSpPr>
        <p:spPr>
          <a:xfrm>
            <a:off x="6995160" y="3429000"/>
            <a:ext cx="1737360" cy="320040"/>
          </a:xfrm>
          <a:prstGeom prst="rect">
            <a:avLst/>
          </a:prstGeom>
          <a:noFill/>
          <a:ln/>
        </p:spPr>
        <p:txBody>
          <a:bodyPr wrap="square" lIns="0" tIns="0" rIns="0" bIns="0" rtlCol="0" anchor="ctr"/>
          <a:lstStyle/>
          <a:p>
            <a:pPr marL="0" indent="0" algn="ctr">
              <a:buNone/>
            </a:pPr>
            <a:r>
              <a:rPr lang="en-US" sz="1400" b="1" dirty="0">
                <a:solidFill>
                  <a:srgbClr val="E87722"/>
                </a:solidFill>
                <a:latin typeface="Trebuchet MS" pitchFamily="34" charset="0"/>
                <a:ea typeface="Trebuchet MS" pitchFamily="34" charset="-122"/>
                <a:cs typeface="Trebuchet MS" pitchFamily="34" charset="-120"/>
              </a:rPr>
              <a:t>Stack</a:t>
            </a:r>
            <a:endParaRPr lang="en-US" sz="1400" dirty="0"/>
          </a:p>
        </p:txBody>
      </p:sp>
      <p:sp>
        <p:nvSpPr>
          <p:cNvPr id="28" name="Text 23"/>
          <p:cNvSpPr/>
          <p:nvPr/>
        </p:nvSpPr>
        <p:spPr>
          <a:xfrm>
            <a:off x="6995160" y="3749040"/>
            <a:ext cx="173736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Calibri" pitchFamily="34" charset="0"/>
                <a:ea typeface="Calibri" pitchFamily="34" charset="-122"/>
                <a:cs typeface="Calibri" pitchFamily="34" charset="-120"/>
              </a:rPr>
              <a:t>Geri alma işlemleri</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Modüller ve Sorumluluklar</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96012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8" name="Shape 5"/>
          <p:cNvSpPr/>
          <p:nvPr/>
        </p:nvSpPr>
        <p:spPr>
          <a:xfrm>
            <a:off x="457200" y="960120"/>
            <a:ext cx="54864" cy="1737360"/>
          </a:xfrm>
          <a:prstGeom prst="rect">
            <a:avLst/>
          </a:prstGeom>
          <a:solidFill>
            <a:srgbClr val="E87722"/>
          </a:solidFill>
          <a:ln/>
        </p:spPr>
        <p:txBody>
          <a:bodyPr/>
          <a:lstStyle/>
          <a:p>
            <a:endParaRPr lang="tr-TR"/>
          </a:p>
        </p:txBody>
      </p:sp>
      <p:sp>
        <p:nvSpPr>
          <p:cNvPr id="9" name="Shape 6"/>
          <p:cNvSpPr/>
          <p:nvPr/>
        </p:nvSpPr>
        <p:spPr>
          <a:xfrm>
            <a:off x="685800" y="1188720"/>
            <a:ext cx="548640" cy="548640"/>
          </a:xfrm>
          <a:prstGeom prst="ellipse">
            <a:avLst/>
          </a:prstGeom>
          <a:solidFill>
            <a:srgbClr val="E87722"/>
          </a:solidFill>
          <a:ln/>
        </p:spPr>
        <p:txBody>
          <a:bodyPr/>
          <a:lstStyle/>
          <a:p>
            <a:endParaRPr lang="tr-TR"/>
          </a:p>
        </p:txBody>
      </p:sp>
      <p:pic>
        <p:nvPicPr>
          <p:cNvPr id="10" name="Image 1" descr="preencoded.png"/>
          <p:cNvPicPr>
            <a:picLocks noChangeAspect="1"/>
          </p:cNvPicPr>
          <p:nvPr/>
        </p:nvPicPr>
        <p:blipFill>
          <a:blip r:embed="rId4"/>
          <a:stretch>
            <a:fillRect/>
          </a:stretch>
        </p:blipFill>
        <p:spPr>
          <a:xfrm>
            <a:off x="754380" y="1257300"/>
            <a:ext cx="411480" cy="411480"/>
          </a:xfrm>
          <a:prstGeom prst="rect">
            <a:avLst/>
          </a:prstGeom>
        </p:spPr>
      </p:pic>
      <p:sp>
        <p:nvSpPr>
          <p:cNvPr id="11" name="Text 7"/>
          <p:cNvSpPr/>
          <p:nvPr/>
        </p:nvSpPr>
        <p:spPr>
          <a:xfrm>
            <a:off x="1371600" y="114300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Araç UI + Menüler</a:t>
            </a:r>
            <a:endParaRPr lang="en-US" sz="1400" dirty="0"/>
          </a:p>
        </p:txBody>
      </p:sp>
      <p:sp>
        <p:nvSpPr>
          <p:cNvPr id="12" name="Text 8"/>
          <p:cNvSpPr/>
          <p:nvPr/>
        </p:nvSpPr>
        <p:spPr>
          <a:xfrm>
            <a:off x="1371600" y="150876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Zeki Erman</a:t>
            </a:r>
          </a:p>
          <a:p>
            <a:pPr marL="0" indent="0">
              <a:buNone/>
            </a:pPr>
            <a:r>
              <a:rPr lang="en-US" sz="800" dirty="0">
                <a:solidFill>
                  <a:srgbClr val="888888"/>
                </a:solidFill>
                <a:latin typeface="Calibri" pitchFamily="34" charset="0"/>
                <a:ea typeface="Calibri" pitchFamily="34" charset="-122"/>
                <a:cs typeface="Calibri" pitchFamily="34" charset="-120"/>
              </a:rPr>
              <a:t>FRONTEND+BE </a:t>
            </a:r>
          </a:p>
        </p:txBody>
      </p:sp>
      <p:sp>
        <p:nvSpPr>
          <p:cNvPr id="13" name="Shape 9"/>
          <p:cNvSpPr/>
          <p:nvPr/>
        </p:nvSpPr>
        <p:spPr>
          <a:xfrm>
            <a:off x="3291840" y="96012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4" name="Shape 10"/>
          <p:cNvSpPr/>
          <p:nvPr/>
        </p:nvSpPr>
        <p:spPr>
          <a:xfrm>
            <a:off x="3291840" y="960120"/>
            <a:ext cx="54864" cy="1737360"/>
          </a:xfrm>
          <a:prstGeom prst="rect">
            <a:avLst/>
          </a:prstGeom>
          <a:solidFill>
            <a:srgbClr val="2E86AB"/>
          </a:solidFill>
          <a:ln/>
        </p:spPr>
        <p:txBody>
          <a:bodyPr/>
          <a:lstStyle/>
          <a:p>
            <a:endParaRPr lang="tr-TR"/>
          </a:p>
        </p:txBody>
      </p:sp>
      <p:sp>
        <p:nvSpPr>
          <p:cNvPr id="15" name="Shape 11"/>
          <p:cNvSpPr/>
          <p:nvPr/>
        </p:nvSpPr>
        <p:spPr>
          <a:xfrm>
            <a:off x="3520440" y="1188720"/>
            <a:ext cx="548640" cy="548640"/>
          </a:xfrm>
          <a:prstGeom prst="ellipse">
            <a:avLst/>
          </a:prstGeom>
          <a:solidFill>
            <a:srgbClr val="2E86AB"/>
          </a:solidFill>
          <a:ln/>
        </p:spPr>
        <p:txBody>
          <a:bodyPr/>
          <a:lstStyle/>
          <a:p>
            <a:endParaRPr lang="tr-TR"/>
          </a:p>
        </p:txBody>
      </p:sp>
      <p:pic>
        <p:nvPicPr>
          <p:cNvPr id="16" name="Image 2" descr="preencoded.png"/>
          <p:cNvPicPr>
            <a:picLocks noChangeAspect="1"/>
          </p:cNvPicPr>
          <p:nvPr/>
        </p:nvPicPr>
        <p:blipFill>
          <a:blip r:embed="rId5"/>
          <a:stretch>
            <a:fillRect/>
          </a:stretch>
        </p:blipFill>
        <p:spPr>
          <a:xfrm>
            <a:off x="3589020" y="1257300"/>
            <a:ext cx="411480" cy="411480"/>
          </a:xfrm>
          <a:prstGeom prst="rect">
            <a:avLst/>
          </a:prstGeom>
        </p:spPr>
      </p:pic>
      <p:sp>
        <p:nvSpPr>
          <p:cNvPr id="17" name="Text 12"/>
          <p:cNvSpPr/>
          <p:nvPr/>
        </p:nvSpPr>
        <p:spPr>
          <a:xfrm>
            <a:off x="4206240" y="114300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Müşteri UI + Menüler</a:t>
            </a:r>
            <a:endParaRPr lang="en-US" sz="1400" dirty="0"/>
          </a:p>
        </p:txBody>
      </p:sp>
      <p:sp>
        <p:nvSpPr>
          <p:cNvPr id="18" name="Text 13"/>
          <p:cNvSpPr/>
          <p:nvPr/>
        </p:nvSpPr>
        <p:spPr>
          <a:xfrm>
            <a:off x="4206240" y="150876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Orhan Akman</a:t>
            </a:r>
          </a:p>
          <a:p>
            <a:pPr marL="0" indent="0">
              <a:buNone/>
            </a:pPr>
            <a:r>
              <a:rPr lang="en-US" sz="800" dirty="0">
                <a:solidFill>
                  <a:srgbClr val="888888"/>
                </a:solidFill>
                <a:latin typeface="Calibri" pitchFamily="34" charset="0"/>
                <a:ea typeface="Calibri" pitchFamily="34" charset="-122"/>
                <a:cs typeface="Calibri" pitchFamily="34" charset="-120"/>
              </a:rPr>
              <a:t>FRONTEND+BE </a:t>
            </a:r>
          </a:p>
        </p:txBody>
      </p:sp>
      <p:sp>
        <p:nvSpPr>
          <p:cNvPr id="19" name="Shape 14"/>
          <p:cNvSpPr/>
          <p:nvPr/>
        </p:nvSpPr>
        <p:spPr>
          <a:xfrm>
            <a:off x="6126480" y="96012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dirty="0"/>
          </a:p>
        </p:txBody>
      </p:sp>
      <p:sp>
        <p:nvSpPr>
          <p:cNvPr id="20" name="Shape 15"/>
          <p:cNvSpPr/>
          <p:nvPr/>
        </p:nvSpPr>
        <p:spPr>
          <a:xfrm>
            <a:off x="6126480" y="960120"/>
            <a:ext cx="54864" cy="1737360"/>
          </a:xfrm>
          <a:prstGeom prst="rect">
            <a:avLst/>
          </a:prstGeom>
          <a:solidFill>
            <a:srgbClr val="A23B72"/>
          </a:solidFill>
          <a:ln/>
        </p:spPr>
        <p:txBody>
          <a:bodyPr/>
          <a:lstStyle/>
          <a:p>
            <a:endParaRPr lang="tr-TR"/>
          </a:p>
        </p:txBody>
      </p:sp>
      <p:sp>
        <p:nvSpPr>
          <p:cNvPr id="21" name="Shape 16"/>
          <p:cNvSpPr/>
          <p:nvPr/>
        </p:nvSpPr>
        <p:spPr>
          <a:xfrm>
            <a:off x="6355080" y="1188720"/>
            <a:ext cx="548640" cy="548640"/>
          </a:xfrm>
          <a:prstGeom prst="ellipse">
            <a:avLst/>
          </a:prstGeom>
          <a:solidFill>
            <a:srgbClr val="A23B72"/>
          </a:solidFill>
          <a:ln/>
        </p:spPr>
        <p:txBody>
          <a:bodyPr/>
          <a:lstStyle/>
          <a:p>
            <a:endParaRPr lang="tr-TR"/>
          </a:p>
        </p:txBody>
      </p:sp>
      <p:pic>
        <p:nvPicPr>
          <p:cNvPr id="22" name="Image 3" descr="preencoded.png"/>
          <p:cNvPicPr>
            <a:picLocks noChangeAspect="1"/>
          </p:cNvPicPr>
          <p:nvPr/>
        </p:nvPicPr>
        <p:blipFill>
          <a:blip r:embed="rId6"/>
          <a:stretch>
            <a:fillRect/>
          </a:stretch>
        </p:blipFill>
        <p:spPr>
          <a:xfrm>
            <a:off x="6423660" y="1257300"/>
            <a:ext cx="411480" cy="411480"/>
          </a:xfrm>
          <a:prstGeom prst="rect">
            <a:avLst/>
          </a:prstGeom>
        </p:spPr>
      </p:pic>
      <p:sp>
        <p:nvSpPr>
          <p:cNvPr id="23" name="Text 17"/>
          <p:cNvSpPr/>
          <p:nvPr/>
        </p:nvSpPr>
        <p:spPr>
          <a:xfrm>
            <a:off x="7040880" y="114300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Satış Modülü</a:t>
            </a:r>
            <a:endParaRPr lang="en-US" sz="1400" dirty="0"/>
          </a:p>
        </p:txBody>
      </p:sp>
      <p:sp>
        <p:nvSpPr>
          <p:cNvPr id="24" name="Text 18"/>
          <p:cNvSpPr/>
          <p:nvPr/>
        </p:nvSpPr>
        <p:spPr>
          <a:xfrm>
            <a:off x="7040880" y="150876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Emre Kuzal</a:t>
            </a:r>
          </a:p>
          <a:p>
            <a:pPr marL="0" indent="0">
              <a:buNone/>
            </a:pPr>
            <a:r>
              <a:rPr lang="en-US" sz="800" dirty="0">
                <a:solidFill>
                  <a:srgbClr val="888888"/>
                </a:solidFill>
                <a:latin typeface="Calibri" pitchFamily="34" charset="0"/>
                <a:ea typeface="Calibri" pitchFamily="34" charset="-122"/>
                <a:cs typeface="Calibri" pitchFamily="34" charset="-120"/>
              </a:rPr>
              <a:t>BACKEND </a:t>
            </a:r>
          </a:p>
        </p:txBody>
      </p:sp>
      <p:sp>
        <p:nvSpPr>
          <p:cNvPr id="25" name="Shape 19"/>
          <p:cNvSpPr/>
          <p:nvPr/>
        </p:nvSpPr>
        <p:spPr>
          <a:xfrm>
            <a:off x="457200" y="292608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6" name="Shape 20"/>
          <p:cNvSpPr/>
          <p:nvPr/>
        </p:nvSpPr>
        <p:spPr>
          <a:xfrm>
            <a:off x="457200" y="2926080"/>
            <a:ext cx="54864" cy="1737360"/>
          </a:xfrm>
          <a:prstGeom prst="rect">
            <a:avLst/>
          </a:prstGeom>
          <a:solidFill>
            <a:srgbClr val="2D936C"/>
          </a:solidFill>
          <a:ln/>
        </p:spPr>
        <p:txBody>
          <a:bodyPr/>
          <a:lstStyle/>
          <a:p>
            <a:endParaRPr lang="tr-TR"/>
          </a:p>
        </p:txBody>
      </p:sp>
      <p:sp>
        <p:nvSpPr>
          <p:cNvPr id="27" name="Shape 21"/>
          <p:cNvSpPr/>
          <p:nvPr/>
        </p:nvSpPr>
        <p:spPr>
          <a:xfrm>
            <a:off x="685800" y="3154680"/>
            <a:ext cx="548640" cy="548640"/>
          </a:xfrm>
          <a:prstGeom prst="ellipse">
            <a:avLst/>
          </a:prstGeom>
          <a:solidFill>
            <a:srgbClr val="2D936C"/>
          </a:solidFill>
          <a:ln/>
        </p:spPr>
        <p:txBody>
          <a:bodyPr/>
          <a:lstStyle/>
          <a:p>
            <a:endParaRPr lang="tr-TR"/>
          </a:p>
        </p:txBody>
      </p:sp>
      <p:pic>
        <p:nvPicPr>
          <p:cNvPr id="28" name="Image 4" descr="preencoded.png"/>
          <p:cNvPicPr>
            <a:picLocks noChangeAspect="1"/>
          </p:cNvPicPr>
          <p:nvPr/>
        </p:nvPicPr>
        <p:blipFill>
          <a:blip r:embed="rId7"/>
          <a:stretch>
            <a:fillRect/>
          </a:stretch>
        </p:blipFill>
        <p:spPr>
          <a:xfrm>
            <a:off x="754380" y="3223260"/>
            <a:ext cx="411480" cy="411480"/>
          </a:xfrm>
          <a:prstGeom prst="rect">
            <a:avLst/>
          </a:prstGeom>
        </p:spPr>
      </p:pic>
      <p:sp>
        <p:nvSpPr>
          <p:cNvPr id="29" name="Text 22"/>
          <p:cNvSpPr/>
          <p:nvPr/>
        </p:nvSpPr>
        <p:spPr>
          <a:xfrm>
            <a:off x="1371600" y="310896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Ekspertiz Modülü</a:t>
            </a:r>
            <a:endParaRPr lang="en-US" sz="1400" dirty="0"/>
          </a:p>
        </p:txBody>
      </p:sp>
      <p:sp>
        <p:nvSpPr>
          <p:cNvPr id="30" name="Text 23"/>
          <p:cNvSpPr/>
          <p:nvPr/>
        </p:nvSpPr>
        <p:spPr>
          <a:xfrm>
            <a:off x="1371600" y="347472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Osman Berat Paşa</a:t>
            </a:r>
          </a:p>
          <a:p>
            <a:pPr marL="0" indent="0">
              <a:buNone/>
            </a:pPr>
            <a:r>
              <a:rPr lang="en-US" sz="800" dirty="0">
                <a:solidFill>
                  <a:srgbClr val="888888"/>
                </a:solidFill>
                <a:latin typeface="Calibri" pitchFamily="34" charset="0"/>
                <a:ea typeface="Calibri" pitchFamily="34" charset="-122"/>
                <a:cs typeface="Calibri" pitchFamily="34" charset="-120"/>
              </a:rPr>
              <a:t>BACKEND </a:t>
            </a:r>
          </a:p>
        </p:txBody>
      </p:sp>
      <p:sp>
        <p:nvSpPr>
          <p:cNvPr id="31" name="Shape 24"/>
          <p:cNvSpPr/>
          <p:nvPr/>
        </p:nvSpPr>
        <p:spPr>
          <a:xfrm>
            <a:off x="3291840" y="292608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2" name="Shape 25"/>
          <p:cNvSpPr/>
          <p:nvPr/>
        </p:nvSpPr>
        <p:spPr>
          <a:xfrm>
            <a:off x="3291840" y="2926080"/>
            <a:ext cx="54864" cy="1737360"/>
          </a:xfrm>
          <a:prstGeom prst="rect">
            <a:avLst/>
          </a:prstGeom>
          <a:solidFill>
            <a:srgbClr val="564787"/>
          </a:solidFill>
          <a:ln/>
        </p:spPr>
        <p:txBody>
          <a:bodyPr/>
          <a:lstStyle/>
          <a:p>
            <a:endParaRPr lang="tr-TR"/>
          </a:p>
        </p:txBody>
      </p:sp>
      <p:sp>
        <p:nvSpPr>
          <p:cNvPr id="33" name="Shape 26"/>
          <p:cNvSpPr/>
          <p:nvPr/>
        </p:nvSpPr>
        <p:spPr>
          <a:xfrm>
            <a:off x="3520440" y="3154680"/>
            <a:ext cx="548640" cy="548640"/>
          </a:xfrm>
          <a:prstGeom prst="ellipse">
            <a:avLst/>
          </a:prstGeom>
          <a:solidFill>
            <a:srgbClr val="564787"/>
          </a:solidFill>
          <a:ln/>
        </p:spPr>
        <p:txBody>
          <a:bodyPr/>
          <a:lstStyle/>
          <a:p>
            <a:endParaRPr lang="tr-TR"/>
          </a:p>
        </p:txBody>
      </p:sp>
      <p:pic>
        <p:nvPicPr>
          <p:cNvPr id="34" name="Image 5" descr="preencoded.png"/>
          <p:cNvPicPr>
            <a:picLocks noChangeAspect="1"/>
          </p:cNvPicPr>
          <p:nvPr/>
        </p:nvPicPr>
        <p:blipFill>
          <a:blip r:embed="rId8"/>
          <a:stretch>
            <a:fillRect/>
          </a:stretch>
        </p:blipFill>
        <p:spPr>
          <a:xfrm>
            <a:off x="3589020" y="3223260"/>
            <a:ext cx="411480" cy="411480"/>
          </a:xfrm>
          <a:prstGeom prst="rect">
            <a:avLst/>
          </a:prstGeom>
        </p:spPr>
      </p:pic>
      <p:sp>
        <p:nvSpPr>
          <p:cNvPr id="35" name="Text 27"/>
          <p:cNvSpPr/>
          <p:nvPr/>
        </p:nvSpPr>
        <p:spPr>
          <a:xfrm>
            <a:off x="4206240" y="310896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Bildirim Modülü</a:t>
            </a:r>
            <a:endParaRPr lang="en-US" sz="1400" dirty="0"/>
          </a:p>
        </p:txBody>
      </p:sp>
      <p:sp>
        <p:nvSpPr>
          <p:cNvPr id="36" name="Text 28"/>
          <p:cNvSpPr/>
          <p:nvPr/>
        </p:nvSpPr>
        <p:spPr>
          <a:xfrm>
            <a:off x="4206240" y="347472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Halil İbrahim Dinç</a:t>
            </a:r>
          </a:p>
          <a:p>
            <a:pPr marL="0" indent="0">
              <a:buNone/>
            </a:pPr>
            <a:r>
              <a:rPr lang="en-US" sz="800" dirty="0">
                <a:solidFill>
                  <a:srgbClr val="888888"/>
                </a:solidFill>
                <a:latin typeface="Calibri" pitchFamily="34" charset="0"/>
                <a:ea typeface="Calibri" pitchFamily="34" charset="-122"/>
                <a:cs typeface="Calibri" pitchFamily="34" charset="-120"/>
              </a:rPr>
              <a:t>BACKEND </a:t>
            </a:r>
          </a:p>
        </p:txBody>
      </p:sp>
      <p:sp>
        <p:nvSpPr>
          <p:cNvPr id="37" name="Shape 29"/>
          <p:cNvSpPr/>
          <p:nvPr/>
        </p:nvSpPr>
        <p:spPr>
          <a:xfrm>
            <a:off x="6126480" y="292608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8" name="Shape 30"/>
          <p:cNvSpPr/>
          <p:nvPr/>
        </p:nvSpPr>
        <p:spPr>
          <a:xfrm>
            <a:off x="6126480" y="2926080"/>
            <a:ext cx="54864" cy="1737360"/>
          </a:xfrm>
          <a:prstGeom prst="rect">
            <a:avLst/>
          </a:prstGeom>
          <a:solidFill>
            <a:srgbClr val="C44536"/>
          </a:solidFill>
          <a:ln/>
        </p:spPr>
        <p:txBody>
          <a:bodyPr/>
          <a:lstStyle/>
          <a:p>
            <a:endParaRPr lang="tr-TR"/>
          </a:p>
        </p:txBody>
      </p:sp>
      <p:sp>
        <p:nvSpPr>
          <p:cNvPr id="39" name="Shape 31"/>
          <p:cNvSpPr/>
          <p:nvPr/>
        </p:nvSpPr>
        <p:spPr>
          <a:xfrm>
            <a:off x="6355080" y="3154680"/>
            <a:ext cx="548640" cy="548640"/>
          </a:xfrm>
          <a:prstGeom prst="ellipse">
            <a:avLst/>
          </a:prstGeom>
          <a:solidFill>
            <a:srgbClr val="C44536"/>
          </a:solidFill>
          <a:ln/>
        </p:spPr>
        <p:txBody>
          <a:bodyPr/>
          <a:lstStyle/>
          <a:p>
            <a:endParaRPr lang="tr-TR"/>
          </a:p>
        </p:txBody>
      </p:sp>
      <p:pic>
        <p:nvPicPr>
          <p:cNvPr id="40" name="Image 6" descr="preencoded.png"/>
          <p:cNvPicPr>
            <a:picLocks noChangeAspect="1"/>
          </p:cNvPicPr>
          <p:nvPr/>
        </p:nvPicPr>
        <p:blipFill>
          <a:blip r:embed="rId9"/>
          <a:stretch>
            <a:fillRect/>
          </a:stretch>
        </p:blipFill>
        <p:spPr>
          <a:xfrm>
            <a:off x="6423660" y="3223260"/>
            <a:ext cx="411480" cy="411480"/>
          </a:xfrm>
          <a:prstGeom prst="rect">
            <a:avLst/>
          </a:prstGeom>
        </p:spPr>
      </p:pic>
      <p:sp>
        <p:nvSpPr>
          <p:cNvPr id="41" name="Text 32"/>
          <p:cNvSpPr/>
          <p:nvPr/>
        </p:nvSpPr>
        <p:spPr>
          <a:xfrm>
            <a:off x="7040880" y="310896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Veri Yönetimi</a:t>
            </a:r>
            <a:endParaRPr lang="en-US" sz="1400" dirty="0"/>
          </a:p>
        </p:txBody>
      </p:sp>
      <p:sp>
        <p:nvSpPr>
          <p:cNvPr id="42" name="Text 33"/>
          <p:cNvSpPr/>
          <p:nvPr/>
        </p:nvSpPr>
        <p:spPr>
          <a:xfrm>
            <a:off x="7040880" y="347472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Eray Gök</a:t>
            </a:r>
          </a:p>
          <a:p>
            <a:pPr marL="0" indent="0">
              <a:buNone/>
            </a:pPr>
            <a:r>
              <a:rPr lang="en-US" sz="800" dirty="0">
                <a:solidFill>
                  <a:srgbClr val="888888"/>
                </a:solidFill>
                <a:latin typeface="Calibri" pitchFamily="34" charset="0"/>
                <a:ea typeface="Calibri" pitchFamily="34" charset="-122"/>
                <a:cs typeface="Calibri" pitchFamily="34" charset="-120"/>
              </a:rPr>
              <a:t>BACKEND </a:t>
            </a:r>
          </a:p>
        </p:txBody>
      </p:sp>
    </p:spTree>
    <p:extLst>
      <p:ext uri="{BB962C8B-B14F-4D97-AF65-F5344CB8AC3E}">
        <p14:creationId xmlns:p14="http://schemas.microsoft.com/office/powerpoint/2010/main" val="354315685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a:buNone/>
            </a:pPr>
            <a:r>
              <a:rPr lang="en-US" sz="2600" b="1" dirty="0">
                <a:solidFill>
                  <a:srgbClr val="2D2D2D"/>
                </a:solidFill>
                <a:latin typeface="Trebuchet MS"/>
              </a:rPr>
              <a:t>Zeki Erman — Araç UI + Menüler</a:t>
            </a:r>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10" name="Accent"/>
          <p:cNvSpPr>
            <a:spLocks noTextEdit="1"/>
          </p:cNvSpPr>
          <p:nvPr/>
        </p:nvSpPr>
        <p:spPr>
          <a:xfrm>
            <a:off x="457200" y="863600"/>
            <a:ext cx="50800" cy="3733800"/>
          </a:xfrm>
          <a:prstGeom prst="rect">
            <a:avLst/>
          </a:prstGeom>
          <a:solidFill>
            <a:srgbClr val="E8570A"/>
          </a:solidFill>
          <a:ln>
            <a:noFill/>
          </a:ln>
        </p:spPr>
        <p:txBody>
          <a:bodyPr/>
          <a:lstStyle/>
          <a:p>
            <a:endParaRPr/>
          </a:p>
        </p:txBody>
      </p:sp>
      <p:sp>
        <p:nvSpPr>
          <p:cNvPr id="11" name="CardBg"/>
          <p:cNvSpPr>
            <a:spLocks noTextEdit="1"/>
          </p:cNvSpPr>
          <p:nvPr/>
        </p:nvSpPr>
        <p:spPr>
          <a:xfrm>
            <a:off x="609600" y="863600"/>
            <a:ext cx="2413000" cy="3733800"/>
          </a:xfrm>
          <a:prstGeom prst="rect">
            <a:avLst/>
          </a:prstGeom>
          <a:solidFill>
            <a:srgbClr val="FFF8F4"/>
          </a:solidFill>
          <a:ln>
            <a:noFill/>
          </a:ln>
        </p:spPr>
        <p:txBody>
          <a:bodyPr/>
          <a:lstStyle/>
          <a:p>
            <a:endParaRPr/>
          </a:p>
        </p:txBody>
      </p:sp>
      <p:sp>
        <p:nvSpPr>
          <p:cNvPr id="12" name="PersonName"/>
          <p:cNvSpPr txBox="1"/>
          <p:nvPr/>
        </p:nvSpPr>
        <p:spPr>
          <a:xfrm>
            <a:off x="698500" y="939800"/>
            <a:ext cx="2235200" cy="381000"/>
          </a:xfrm>
          <a:prstGeom prst="rect">
            <a:avLst/>
          </a:prstGeom>
          <a:noFill/>
          <a:ln>
            <a:noFill/>
          </a:ln>
        </p:spPr>
        <p:txBody>
          <a:bodyPr wrap="square" lIns="91440" tIns="45720" rIns="91440" bIns="45720"/>
          <a:lstStyle/>
          <a:p>
            <a:pPr>
              <a:buNone/>
            </a:pPr>
            <a:r>
              <a:rPr lang="en-US" sz="1800" b="1" dirty="0">
                <a:solidFill>
                  <a:srgbClr val="2D2D2D"/>
                </a:solidFill>
                <a:latin typeface="Trebuchet MS"/>
              </a:rPr>
              <a:t>Zeki Erman</a:t>
            </a:r>
          </a:p>
        </p:txBody>
      </p:sp>
      <p:sp>
        <p:nvSpPr>
          <p:cNvPr id="13" name="Role"/>
          <p:cNvSpPr txBox="1"/>
          <p:nvPr/>
        </p:nvSpPr>
        <p:spPr>
          <a:xfrm>
            <a:off x="698500" y="1320800"/>
            <a:ext cx="2235200" cy="254000"/>
          </a:xfrm>
          <a:prstGeom prst="rect">
            <a:avLst/>
          </a:prstGeom>
          <a:noFill/>
          <a:ln>
            <a:noFill/>
          </a:ln>
        </p:spPr>
        <p:txBody>
          <a:bodyPr wrap="square" lIns="91440" tIns="45720" rIns="91440" bIns="45720"/>
          <a:lstStyle/>
          <a:p>
            <a:pPr>
              <a:buNone/>
            </a:pPr>
            <a:r>
              <a:rPr lang="en-US" sz="1200" dirty="0">
                <a:solidFill>
                  <a:srgbClr val="E8570A"/>
                </a:solidFill>
                <a:latin typeface="Calibri"/>
              </a:rPr>
              <a:t>FRONTEND + BACKEND</a:t>
            </a:r>
          </a:p>
        </p:txBody>
      </p:sp>
      <p:sp>
        <p:nvSpPr>
          <p:cNvPr id="14" name="Branch"/>
          <p:cNvSpPr txBox="1"/>
          <p:nvPr/>
        </p:nvSpPr>
        <p:spPr>
          <a:xfrm>
            <a:off x="698500" y="1574800"/>
            <a:ext cx="2235200" cy="254000"/>
          </a:xfrm>
          <a:prstGeom prst="rect">
            <a:avLst/>
          </a:prstGeom>
          <a:noFill/>
          <a:ln>
            <a:noFill/>
          </a:ln>
        </p:spPr>
        <p:txBody>
          <a:bodyPr wrap="square" lIns="91440" tIns="45720" rIns="91440" bIns="45720"/>
          <a:lstStyle/>
          <a:p>
            <a:pPr>
              <a:buNone/>
            </a:pPr>
            <a:r>
              <a:rPr lang="en-US" sz="1100" dirty="0">
                <a:solidFill>
                  <a:srgbClr val="888888"/>
                </a:solidFill>
                <a:latin typeface="Calibri"/>
              </a:rPr>
              <a:t>feature/arac-ui</a:t>
            </a:r>
          </a:p>
        </p:txBody>
      </p:sp>
      <p:sp>
        <p:nvSpPr>
          <p:cNvPr id="15" name="Div"/>
          <p:cNvSpPr>
            <a:spLocks noTextEdit="1"/>
          </p:cNvSpPr>
          <p:nvPr/>
        </p:nvSpPr>
        <p:spPr>
          <a:xfrm>
            <a:off x="698500" y="1879600"/>
            <a:ext cx="2032000" cy="12700"/>
          </a:xfrm>
          <a:prstGeom prst="rect">
            <a:avLst/>
          </a:prstGeom>
          <a:solidFill>
            <a:srgbClr val="DDDDDD"/>
          </a:solidFill>
          <a:ln>
            <a:noFill/>
          </a:ln>
        </p:spPr>
        <p:txBody>
          <a:bodyPr/>
          <a:lstStyle/>
          <a:p>
            <a:endParaRPr/>
          </a:p>
        </p:txBody>
      </p:sp>
      <p:sp>
        <p:nvSpPr>
          <p:cNvPr id="16" name="BranchLabel"/>
          <p:cNvSpPr txBox="1"/>
          <p:nvPr/>
        </p:nvSpPr>
        <p:spPr>
          <a:xfrm>
            <a:off x="698500" y="1943100"/>
            <a:ext cx="2235200" cy="228600"/>
          </a:xfrm>
          <a:prstGeom prst="rect">
            <a:avLst/>
          </a:prstGeom>
          <a:noFill/>
          <a:ln>
            <a:noFill/>
          </a:ln>
        </p:spPr>
        <p:txBody>
          <a:bodyPr wrap="square" lIns="91440" tIns="45720" rIns="91440" bIns="45720"/>
          <a:lstStyle/>
          <a:p>
            <a:pPr>
              <a:buNone/>
            </a:pPr>
            <a:r>
              <a:rPr lang="en-US" sz="1100" b="1" dirty="0">
                <a:solidFill>
                  <a:srgbClr val="666666"/>
                </a:solidFill>
                <a:latin typeface="Trebuchet MS"/>
              </a:rPr>
              <a:t>Üstlendiği Bölümler:</a:t>
            </a:r>
          </a:p>
        </p:txBody>
      </p:sp>
      <p:sp>
        <p:nvSpPr>
          <p:cNvPr id="191" name="Class"/>
          <p:cNvSpPr txBox="1"/>
          <p:nvPr/>
        </p:nvSpPr>
        <p:spPr>
          <a:xfrm>
            <a:off x="698500" y="2171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Araç türleri (Otomobil, SUV, Ticari, Motosiklet)</a:t>
            </a:r>
          </a:p>
        </p:txBody>
      </p:sp>
      <p:sp>
        <p:nvSpPr>
          <p:cNvPr id="209" name="Class"/>
          <p:cNvSpPr txBox="1"/>
          <p:nvPr/>
        </p:nvSpPr>
        <p:spPr>
          <a:xfrm>
            <a:off x="698500" y="245745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Araç listeleme ve arama ekranı</a:t>
            </a:r>
          </a:p>
        </p:txBody>
      </p:sp>
      <p:sp>
        <p:nvSpPr>
          <p:cNvPr id="227" name="Class"/>
          <p:cNvSpPr txBox="1"/>
          <p:nvPr/>
        </p:nvSpPr>
        <p:spPr>
          <a:xfrm>
            <a:off x="698500" y="26289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Programın başlangıç noktası (ana menü)</a:t>
            </a:r>
          </a:p>
        </p:txBody>
      </p:sp>
      <p:sp>
        <p:nvSpPr>
          <p:cNvPr id="245" name="Class"/>
          <p:cNvSpPr txBox="1"/>
          <p:nvPr/>
        </p:nvSpPr>
        <p:spPr>
          <a:xfrm>
            <a:off x="698500" y="2968781"/>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Araç ekleme ve güncelleme ekranı</a:t>
            </a:r>
          </a:p>
        </p:txBody>
      </p:sp>
      <p:sp>
        <p:nvSpPr>
          <p:cNvPr id="263" name="Class"/>
          <p:cNvSpPr txBox="1"/>
          <p:nvPr/>
        </p:nvSpPr>
        <p:spPr>
          <a:xfrm>
            <a:off x="698500" y="317996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Ekspertiz menüsü ekranı</a:t>
            </a:r>
          </a:p>
        </p:txBody>
      </p:sp>
      <p:sp>
        <p:nvSpPr>
          <p:cNvPr id="281" name="Class"/>
          <p:cNvSpPr txBox="1"/>
          <p:nvPr/>
        </p:nvSpPr>
        <p:spPr>
          <a:xfrm>
            <a:off x="698500" y="340856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Raporlama ekranı</a:t>
            </a:r>
          </a:p>
        </p:txBody>
      </p:sp>
      <p:sp>
        <p:nvSpPr>
          <p:cNvPr id="50" name="RightBg"/>
          <p:cNvSpPr>
            <a:spLocks noTextEdit="1"/>
          </p:cNvSpPr>
          <p:nvPr/>
        </p:nvSpPr>
        <p:spPr>
          <a:xfrm>
            <a:off x="3175000" y="863600"/>
            <a:ext cx="5359400" cy="3733800"/>
          </a:xfrm>
          <a:prstGeom prst="rect">
            <a:avLst/>
          </a:prstGeom>
          <a:solidFill>
            <a:srgbClr val="FFFFFF"/>
          </a:solidFill>
          <a:ln>
            <a:noFill/>
          </a:ln>
        </p:spPr>
        <p:txBody>
          <a:bodyPr/>
          <a:lstStyle/>
          <a:p>
            <a:endParaRPr/>
          </a:p>
        </p:txBody>
      </p:sp>
      <p:sp>
        <p:nvSpPr>
          <p:cNvPr id="51" name="SecBar1"/>
          <p:cNvSpPr>
            <a:spLocks noTextEdit="1"/>
          </p:cNvSpPr>
          <p:nvPr/>
        </p:nvSpPr>
        <p:spPr>
          <a:xfrm>
            <a:off x="3175000" y="863600"/>
            <a:ext cx="5359400" cy="304800"/>
          </a:xfrm>
          <a:prstGeom prst="rect">
            <a:avLst/>
          </a:prstGeom>
          <a:solidFill>
            <a:srgbClr val="E8570A"/>
          </a:solidFill>
          <a:ln>
            <a:noFill/>
          </a:ln>
        </p:spPr>
        <p:txBody>
          <a:bodyPr/>
          <a:lstStyle/>
          <a:p>
            <a:endParaRPr/>
          </a:p>
        </p:txBody>
      </p:sp>
      <p:sp>
        <p:nvSpPr>
          <p:cNvPr id="52" name="SecTitle1"/>
          <p:cNvSpPr txBox="1"/>
          <p:nvPr/>
        </p:nvSpPr>
        <p:spPr>
          <a:xfrm>
            <a:off x="3251200" y="889000"/>
            <a:ext cx="5207000" cy="254000"/>
          </a:xfrm>
          <a:prstGeom prst="rect">
            <a:avLst/>
          </a:prstGeom>
          <a:noFill/>
          <a:ln>
            <a:noFill/>
          </a:ln>
        </p:spPr>
        <p:txBody>
          <a:bodyPr wrap="square" lIns="91440" tIns="45720" rIns="91440" bIns="45720"/>
          <a:lstStyle/>
          <a:p>
            <a:pPr>
              <a:buNone/>
            </a:pPr>
            <a:r>
              <a:rPr lang="en-US" sz="1300" b="1" dirty="0">
                <a:solidFill>
                  <a:srgbClr val="FFFFFF"/>
                </a:solidFill>
                <a:latin typeface="Trebuchet MS"/>
              </a:rPr>
              <a:t>Görev Tanımı</a:t>
            </a:r>
          </a:p>
        </p:txBody>
      </p:sp>
      <p:sp>
        <p:nvSpPr>
          <p:cNvPr id="53" name="Desc"/>
          <p:cNvSpPr txBox="1"/>
          <p:nvPr/>
        </p:nvSpPr>
        <p:spPr>
          <a:xfrm>
            <a:off x="3251200" y="1219200"/>
            <a:ext cx="5207000" cy="635000"/>
          </a:xfrm>
          <a:prstGeom prst="rect">
            <a:avLst/>
          </a:prstGeom>
          <a:noFill/>
          <a:ln>
            <a:noFill/>
          </a:ln>
        </p:spPr>
        <p:txBody>
          <a:bodyPr wrap="square" lIns="91440" tIns="45720" rIns="91440" bIns="45720"/>
          <a:lstStyle/>
          <a:p>
            <a:pPr>
              <a:buNone/>
            </a:pPr>
            <a:r>
              <a:rPr lang="tr-TR" sz="1050" dirty="0">
                <a:solidFill>
                  <a:srgbClr val="333333"/>
                </a:solidFill>
                <a:latin typeface="Calibri"/>
              </a:rPr>
              <a:t>Uygulamanın araç yönetimi ekranlarını ve menülerini hazırlar. Kullanıcının araç ekleyip listeleyebileceği, raporlara bakabileceği ve ekspertiz işlemlerini başlatabileceği tüm ekranları geliştirir. Programın çalışmaya başladığı ana noktayı da yönetir.</a:t>
            </a:r>
          </a:p>
        </p:txBody>
      </p:sp>
      <p:sp>
        <p:nvSpPr>
          <p:cNvPr id="54" name="SecBar2"/>
          <p:cNvSpPr>
            <a:spLocks noTextEdit="1"/>
          </p:cNvSpPr>
          <p:nvPr/>
        </p:nvSpPr>
        <p:spPr>
          <a:xfrm>
            <a:off x="3175000" y="1879600"/>
            <a:ext cx="5359400" cy="254000"/>
          </a:xfrm>
          <a:prstGeom prst="rect">
            <a:avLst/>
          </a:prstGeom>
          <a:solidFill>
            <a:srgbClr val="F0F0F0"/>
          </a:solidFill>
          <a:ln>
            <a:noFill/>
          </a:ln>
        </p:spPr>
        <p:txBody>
          <a:bodyPr/>
          <a:lstStyle/>
          <a:p>
            <a:endParaRPr/>
          </a:p>
        </p:txBody>
      </p:sp>
      <p:sp>
        <p:nvSpPr>
          <p:cNvPr id="55" name="SecTitle2"/>
          <p:cNvSpPr txBox="1"/>
          <p:nvPr/>
        </p:nvSpPr>
        <p:spPr>
          <a:xfrm>
            <a:off x="3251200" y="188595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Ne Yapılacak?</a:t>
            </a:r>
          </a:p>
        </p:txBody>
      </p:sp>
      <p:sp>
        <p:nvSpPr>
          <p:cNvPr id="230" name="Task"/>
          <p:cNvSpPr txBox="1"/>
          <p:nvPr/>
        </p:nvSpPr>
        <p:spPr>
          <a:xfrm>
            <a:off x="3251200" y="2159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Araç türlerini (otomobil, SUV vb.) ve ortak özelliklerini tanımla</a:t>
            </a:r>
          </a:p>
        </p:txBody>
      </p:sp>
      <p:sp>
        <p:nvSpPr>
          <p:cNvPr id="252" name="Task"/>
          <p:cNvSpPr txBox="1"/>
          <p:nvPr/>
        </p:nvSpPr>
        <p:spPr>
          <a:xfrm>
            <a:off x="3251200" y="24384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 Araç listeleme, arama ve düzenleme ekranlarını oluştur</a:t>
            </a:r>
          </a:p>
        </p:txBody>
      </p:sp>
      <p:sp>
        <p:nvSpPr>
          <p:cNvPr id="274" name="Task"/>
          <p:cNvSpPr txBox="1"/>
          <p:nvPr/>
        </p:nvSpPr>
        <p:spPr>
          <a:xfrm>
            <a:off x="3251200" y="27178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Ekspertiz menüsünü tamamla ve ana sürüme dahil et</a:t>
            </a:r>
          </a:p>
        </p:txBody>
      </p:sp>
      <p:sp>
        <p:nvSpPr>
          <p:cNvPr id="296" name="Task"/>
          <p:cNvSpPr txBox="1"/>
          <p:nvPr/>
        </p:nvSpPr>
        <p:spPr>
          <a:xfrm>
            <a:off x="3251200" y="29972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Gelir-gider ve stok raporları ekranını oluştur</a:t>
            </a:r>
          </a:p>
        </p:txBody>
      </p:sp>
      <p:sp>
        <p:nvSpPr>
          <p:cNvPr id="318" name="Task"/>
          <p:cNvSpPr txBox="1"/>
          <p:nvPr/>
        </p:nvSpPr>
        <p:spPr>
          <a:xfrm>
            <a:off x="3251200" y="32766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Programı başlat ve tüm menüleri birbirine bağla</a:t>
            </a:r>
          </a:p>
        </p:txBody>
      </p:sp>
      <p:sp>
        <p:nvSpPr>
          <p:cNvPr id="340" name="Task"/>
          <p:cNvSpPr txBox="1"/>
          <p:nvPr/>
        </p:nvSpPr>
        <p:spPr>
          <a:xfrm>
            <a:off x="3251200" y="35560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Ekranları arka uç işlem katmanıyla entegre et</a:t>
            </a:r>
          </a:p>
        </p:txBody>
      </p:sp>
      <p:sp>
        <p:nvSpPr>
          <p:cNvPr id="80" name="SecBar3"/>
          <p:cNvSpPr>
            <a:spLocks noTextEdit="1"/>
          </p:cNvSpPr>
          <p:nvPr/>
        </p:nvSpPr>
        <p:spPr>
          <a:xfrm>
            <a:off x="3175000" y="3860800"/>
            <a:ext cx="5359400" cy="254000"/>
          </a:xfrm>
          <a:prstGeom prst="rect">
            <a:avLst/>
          </a:prstGeom>
          <a:solidFill>
            <a:srgbClr val="F0F0F0"/>
          </a:solidFill>
          <a:ln>
            <a:noFill/>
          </a:ln>
        </p:spPr>
        <p:txBody>
          <a:bodyPr/>
          <a:lstStyle/>
          <a:p>
            <a:endParaRPr/>
          </a:p>
        </p:txBody>
      </p:sp>
      <p:sp>
        <p:nvSpPr>
          <p:cNvPr id="81" name="SecTitle3"/>
          <p:cNvSpPr txBox="1"/>
          <p:nvPr/>
        </p:nvSpPr>
        <p:spPr>
          <a:xfrm>
            <a:off x="3251200" y="38735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Temel Mantık</a:t>
            </a:r>
          </a:p>
        </p:txBody>
      </p:sp>
      <p:sp>
        <p:nvSpPr>
          <p:cNvPr id="82" name="Logic"/>
          <p:cNvSpPr txBox="1"/>
          <p:nvPr/>
        </p:nvSpPr>
        <p:spPr>
          <a:xfrm>
            <a:off x="3251200" y="4114800"/>
            <a:ext cx="5207000" cy="482600"/>
          </a:xfrm>
          <a:prstGeom prst="rect">
            <a:avLst/>
          </a:prstGeom>
          <a:noFill/>
          <a:ln>
            <a:noFill/>
          </a:ln>
        </p:spPr>
        <p:txBody>
          <a:bodyPr wrap="square" lIns="91440" tIns="45720" rIns="91440" bIns="45720"/>
          <a:lstStyle/>
          <a:p>
            <a:pPr>
              <a:buNone/>
            </a:pPr>
            <a:r>
              <a:rPr lang="en-US" sz="1050" dirty="0">
                <a:solidFill>
                  <a:srgbClr val="555555"/>
                </a:solidFill>
                <a:latin typeface="Calibri"/>
              </a:rPr>
              <a:t>Her araç türü (otomobil, SUV vb.) kendi özelliklerine göre davranır. Kullanıcı menüden bir işlem seçtiğinde, ekran o isteği doğrudan arka uca iletir ve sonucu ekranda gösterir.</a:t>
            </a:r>
          </a:p>
        </p:txBody>
      </p:sp>
    </p:spTree>
    <p:extLst>
      <p:ext uri="{BB962C8B-B14F-4D97-AF65-F5344CB8AC3E}">
        <p14:creationId xmlns:p14="http://schemas.microsoft.com/office/powerpoint/2010/main" val="317187100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chemeClr val="accent1"/>
          </a:solidFill>
          <a:ln>
            <a:solidFill>
              <a:schemeClr val="accent1"/>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a:buNone/>
            </a:pPr>
            <a:r>
              <a:rPr lang="en-US" sz="2600" b="1" dirty="0">
                <a:solidFill>
                  <a:srgbClr val="2D2D2D"/>
                </a:solidFill>
                <a:latin typeface="Trebuchet MS"/>
              </a:rPr>
              <a:t>Orhan Akman — Müşteri UI + Menüler</a:t>
            </a:r>
          </a:p>
        </p:txBody>
      </p:sp>
      <p:sp>
        <p:nvSpPr>
          <p:cNvPr id="5" name="Shape 2"/>
          <p:cNvSpPr/>
          <p:nvPr/>
        </p:nvSpPr>
        <p:spPr>
          <a:xfrm>
            <a:off x="457200" y="731520"/>
            <a:ext cx="8229600" cy="18288"/>
          </a:xfrm>
          <a:prstGeom prst="rect">
            <a:avLst/>
          </a:prstGeom>
          <a:solidFill>
            <a:schemeClr val="accent1"/>
          </a:solidFill>
          <a:ln>
            <a:solidFill>
              <a:schemeClr val="accent1"/>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10" name="Accent"/>
          <p:cNvSpPr>
            <a:spLocks noTextEdit="1"/>
          </p:cNvSpPr>
          <p:nvPr/>
        </p:nvSpPr>
        <p:spPr>
          <a:xfrm>
            <a:off x="457200" y="863600"/>
            <a:ext cx="50800" cy="3733800"/>
          </a:xfrm>
          <a:prstGeom prst="rect">
            <a:avLst/>
          </a:prstGeom>
          <a:solidFill>
            <a:schemeClr val="accent1"/>
          </a:solidFill>
          <a:ln>
            <a:solidFill>
              <a:schemeClr val="accent1"/>
            </a:solidFill>
          </a:ln>
        </p:spPr>
        <p:txBody>
          <a:bodyPr/>
          <a:lstStyle/>
          <a:p>
            <a:endParaRPr/>
          </a:p>
        </p:txBody>
      </p:sp>
      <p:sp>
        <p:nvSpPr>
          <p:cNvPr id="11" name="CardBg"/>
          <p:cNvSpPr>
            <a:spLocks noTextEdit="1"/>
          </p:cNvSpPr>
          <p:nvPr/>
        </p:nvSpPr>
        <p:spPr>
          <a:xfrm>
            <a:off x="609600" y="863600"/>
            <a:ext cx="2413000" cy="3733800"/>
          </a:xfrm>
          <a:prstGeom prst="rect">
            <a:avLst/>
          </a:prstGeom>
          <a:solidFill>
            <a:schemeClr val="accent1">
              <a:lumMod val="20000"/>
              <a:lumOff val="80000"/>
            </a:schemeClr>
          </a:solidFill>
          <a:ln>
            <a:solidFill>
              <a:schemeClr val="accent1">
                <a:lumMod val="20000"/>
                <a:lumOff val="80000"/>
              </a:schemeClr>
            </a:solidFill>
          </a:ln>
        </p:spPr>
        <p:txBody>
          <a:bodyPr/>
          <a:lstStyle/>
          <a:p>
            <a:endParaRPr/>
          </a:p>
        </p:txBody>
      </p:sp>
      <p:sp>
        <p:nvSpPr>
          <p:cNvPr id="12" name="Name"/>
          <p:cNvSpPr txBox="1"/>
          <p:nvPr/>
        </p:nvSpPr>
        <p:spPr>
          <a:xfrm>
            <a:off x="698500" y="939800"/>
            <a:ext cx="2235200" cy="381000"/>
          </a:xfrm>
          <a:prstGeom prst="rect">
            <a:avLst/>
          </a:prstGeom>
          <a:noFill/>
          <a:ln>
            <a:noFill/>
          </a:ln>
        </p:spPr>
        <p:txBody>
          <a:bodyPr wrap="square" lIns="91440" tIns="45720" rIns="91440" bIns="45720"/>
          <a:lstStyle/>
          <a:p>
            <a:pPr>
              <a:buNone/>
            </a:pPr>
            <a:r>
              <a:rPr lang="en-US" sz="1800" b="1" dirty="0">
                <a:solidFill>
                  <a:srgbClr val="2D2D2D"/>
                </a:solidFill>
                <a:latin typeface="Trebuchet MS"/>
              </a:rPr>
              <a:t>Orhan Akman</a:t>
            </a:r>
          </a:p>
        </p:txBody>
      </p:sp>
      <p:sp>
        <p:nvSpPr>
          <p:cNvPr id="13" name="Role"/>
          <p:cNvSpPr txBox="1"/>
          <p:nvPr/>
        </p:nvSpPr>
        <p:spPr>
          <a:xfrm>
            <a:off x="660400" y="1308100"/>
            <a:ext cx="2235200" cy="254000"/>
          </a:xfrm>
          <a:prstGeom prst="rect">
            <a:avLst/>
          </a:prstGeom>
          <a:noFill/>
          <a:ln>
            <a:noFill/>
          </a:ln>
        </p:spPr>
        <p:txBody>
          <a:bodyPr wrap="square" lIns="91440" tIns="45720" rIns="91440" bIns="45720"/>
          <a:lstStyle/>
          <a:p>
            <a:pPr>
              <a:buNone/>
            </a:pPr>
            <a:r>
              <a:rPr lang="en-US" sz="1200" dirty="0">
                <a:solidFill>
                  <a:schemeClr val="accent1"/>
                </a:solidFill>
                <a:latin typeface="Calibri"/>
              </a:rPr>
              <a:t>FRONTEND + BACKEND</a:t>
            </a:r>
          </a:p>
        </p:txBody>
      </p:sp>
      <p:sp>
        <p:nvSpPr>
          <p:cNvPr id="14" name="Branch"/>
          <p:cNvSpPr txBox="1"/>
          <p:nvPr/>
        </p:nvSpPr>
        <p:spPr>
          <a:xfrm>
            <a:off x="698500" y="1574800"/>
            <a:ext cx="2235200" cy="254000"/>
          </a:xfrm>
          <a:prstGeom prst="rect">
            <a:avLst/>
          </a:prstGeom>
          <a:noFill/>
          <a:ln>
            <a:noFill/>
          </a:ln>
        </p:spPr>
        <p:txBody>
          <a:bodyPr wrap="square" lIns="91440" tIns="45720" rIns="91440" bIns="45720"/>
          <a:lstStyle/>
          <a:p>
            <a:pPr>
              <a:buNone/>
            </a:pPr>
            <a:r>
              <a:rPr lang="en-US" sz="1100" dirty="0">
                <a:solidFill>
                  <a:srgbClr val="888888"/>
                </a:solidFill>
                <a:latin typeface="Calibri"/>
              </a:rPr>
              <a:t>feature/musteri-ui</a:t>
            </a:r>
          </a:p>
        </p:txBody>
      </p:sp>
      <p:sp>
        <p:nvSpPr>
          <p:cNvPr id="15" name="Div"/>
          <p:cNvSpPr>
            <a:spLocks noTextEdit="1"/>
          </p:cNvSpPr>
          <p:nvPr/>
        </p:nvSpPr>
        <p:spPr>
          <a:xfrm>
            <a:off x="698500" y="1879600"/>
            <a:ext cx="2032000" cy="12700"/>
          </a:xfrm>
          <a:prstGeom prst="rect">
            <a:avLst/>
          </a:prstGeom>
          <a:solidFill>
            <a:srgbClr val="DDDDDD"/>
          </a:solidFill>
          <a:ln>
            <a:noFill/>
          </a:ln>
        </p:spPr>
        <p:txBody>
          <a:bodyPr/>
          <a:lstStyle/>
          <a:p>
            <a:endParaRPr/>
          </a:p>
        </p:txBody>
      </p:sp>
      <p:sp>
        <p:nvSpPr>
          <p:cNvPr id="16" name="ClassLbl"/>
          <p:cNvSpPr txBox="1"/>
          <p:nvPr/>
        </p:nvSpPr>
        <p:spPr>
          <a:xfrm>
            <a:off x="698500" y="1943100"/>
            <a:ext cx="2235200" cy="228600"/>
          </a:xfrm>
          <a:prstGeom prst="rect">
            <a:avLst/>
          </a:prstGeom>
          <a:noFill/>
          <a:ln>
            <a:noFill/>
          </a:ln>
        </p:spPr>
        <p:txBody>
          <a:bodyPr wrap="square" lIns="91440" tIns="45720" rIns="91440" bIns="45720"/>
          <a:lstStyle/>
          <a:p>
            <a:pPr>
              <a:buNone/>
            </a:pPr>
            <a:r>
              <a:rPr lang="en-US" sz="1100" b="1" dirty="0">
                <a:solidFill>
                  <a:srgbClr val="666666"/>
                </a:solidFill>
                <a:latin typeface="Trebuchet MS"/>
              </a:rPr>
              <a:t>Üstlendiği Bölümler:</a:t>
            </a:r>
          </a:p>
        </p:txBody>
      </p:sp>
      <p:sp>
        <p:nvSpPr>
          <p:cNvPr id="191" name="C"/>
          <p:cNvSpPr txBox="1"/>
          <p:nvPr/>
        </p:nvSpPr>
        <p:spPr>
          <a:xfrm>
            <a:off x="698500" y="2171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Kişi bilgileri (temel veri yapısı)</a:t>
            </a:r>
          </a:p>
        </p:txBody>
      </p:sp>
      <p:sp>
        <p:nvSpPr>
          <p:cNvPr id="209" name="C"/>
          <p:cNvSpPr txBox="1"/>
          <p:nvPr/>
        </p:nvSpPr>
        <p:spPr>
          <a:xfrm>
            <a:off x="698500" y="24003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Müşteri kayıt sistemi</a:t>
            </a:r>
          </a:p>
        </p:txBody>
      </p:sp>
      <p:sp>
        <p:nvSpPr>
          <p:cNvPr id="227" name="C"/>
          <p:cNvSpPr txBox="1"/>
          <p:nvPr/>
        </p:nvSpPr>
        <p:spPr>
          <a:xfrm>
            <a:off x="698500" y="26289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Müşteri listeleme ve arama ekranı</a:t>
            </a:r>
          </a:p>
        </p:txBody>
      </p:sp>
      <p:sp>
        <p:nvSpPr>
          <p:cNvPr id="245" name="C"/>
          <p:cNvSpPr txBox="1"/>
          <p:nvPr/>
        </p:nvSpPr>
        <p:spPr>
          <a:xfrm>
            <a:off x="698500" y="28575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Satış işlemleri ekranı</a:t>
            </a:r>
          </a:p>
        </p:txBody>
      </p:sp>
      <p:sp>
        <p:nvSpPr>
          <p:cNvPr id="263" name="C"/>
          <p:cNvSpPr txBox="1"/>
          <p:nvPr/>
        </p:nvSpPr>
        <p:spPr>
          <a:xfrm>
            <a:off x="698500" y="30861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Bildirim ve uyarılar ekranı</a:t>
            </a:r>
          </a:p>
        </p:txBody>
      </p:sp>
      <p:sp>
        <p:nvSpPr>
          <p:cNvPr id="281" name="C"/>
          <p:cNvSpPr txBox="1"/>
          <p:nvPr/>
        </p:nvSpPr>
        <p:spPr>
          <a:xfrm>
            <a:off x="698500" y="3314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Ortak menü yardım araçları</a:t>
            </a:r>
          </a:p>
        </p:txBody>
      </p:sp>
      <p:sp>
        <p:nvSpPr>
          <p:cNvPr id="50" name="RBg"/>
          <p:cNvSpPr>
            <a:spLocks noTextEdit="1"/>
          </p:cNvSpPr>
          <p:nvPr/>
        </p:nvSpPr>
        <p:spPr>
          <a:xfrm>
            <a:off x="3175000" y="863600"/>
            <a:ext cx="5359400" cy="3733800"/>
          </a:xfrm>
          <a:prstGeom prst="rect">
            <a:avLst/>
          </a:prstGeom>
          <a:solidFill>
            <a:srgbClr val="FFFFFF"/>
          </a:solidFill>
          <a:ln>
            <a:noFill/>
          </a:ln>
        </p:spPr>
        <p:txBody>
          <a:bodyPr/>
          <a:lstStyle/>
          <a:p>
            <a:endParaRPr/>
          </a:p>
        </p:txBody>
      </p:sp>
      <p:sp>
        <p:nvSpPr>
          <p:cNvPr id="51" name="SB1"/>
          <p:cNvSpPr>
            <a:spLocks noTextEdit="1"/>
          </p:cNvSpPr>
          <p:nvPr/>
        </p:nvSpPr>
        <p:spPr>
          <a:xfrm>
            <a:off x="3175000" y="863600"/>
            <a:ext cx="5359400" cy="304800"/>
          </a:xfrm>
          <a:prstGeom prst="rect">
            <a:avLst/>
          </a:prstGeom>
          <a:solidFill>
            <a:schemeClr val="accent1"/>
          </a:solidFill>
          <a:ln>
            <a:solidFill>
              <a:schemeClr val="accent1"/>
            </a:solidFill>
          </a:ln>
        </p:spPr>
        <p:txBody>
          <a:bodyPr/>
          <a:lstStyle/>
          <a:p>
            <a:endParaRPr/>
          </a:p>
        </p:txBody>
      </p:sp>
      <p:sp>
        <p:nvSpPr>
          <p:cNvPr id="52" name="ST1"/>
          <p:cNvSpPr txBox="1"/>
          <p:nvPr/>
        </p:nvSpPr>
        <p:spPr>
          <a:xfrm>
            <a:off x="3251200" y="889000"/>
            <a:ext cx="5207000" cy="254000"/>
          </a:xfrm>
          <a:prstGeom prst="rect">
            <a:avLst/>
          </a:prstGeom>
          <a:noFill/>
          <a:ln>
            <a:noFill/>
          </a:ln>
        </p:spPr>
        <p:txBody>
          <a:bodyPr wrap="square" lIns="91440" tIns="45720" rIns="91440" bIns="45720"/>
          <a:lstStyle/>
          <a:p>
            <a:pPr>
              <a:buNone/>
            </a:pPr>
            <a:r>
              <a:rPr lang="en-US" sz="1300" b="1" dirty="0">
                <a:solidFill>
                  <a:srgbClr val="FFFFFF"/>
                </a:solidFill>
                <a:latin typeface="Trebuchet MS"/>
              </a:rPr>
              <a:t>Görev Tanımı</a:t>
            </a:r>
          </a:p>
        </p:txBody>
      </p:sp>
      <p:sp>
        <p:nvSpPr>
          <p:cNvPr id="53" name="Desc"/>
          <p:cNvSpPr txBox="1"/>
          <p:nvPr/>
        </p:nvSpPr>
        <p:spPr>
          <a:xfrm>
            <a:off x="3251200" y="1219200"/>
            <a:ext cx="5207000" cy="635000"/>
          </a:xfrm>
          <a:prstGeom prst="rect">
            <a:avLst/>
          </a:prstGeom>
          <a:noFill/>
          <a:ln>
            <a:noFill/>
          </a:ln>
        </p:spPr>
        <p:txBody>
          <a:bodyPr wrap="square" lIns="91440" tIns="45720" rIns="91440" bIns="45720"/>
          <a:lstStyle/>
          <a:p>
            <a:pPr>
              <a:buNone/>
            </a:pPr>
            <a:r>
              <a:rPr lang="en-US" sz="1150" dirty="0">
                <a:solidFill>
                  <a:srgbClr val="333333"/>
                </a:solidFill>
                <a:latin typeface="Calibri"/>
              </a:rPr>
              <a:t>Müşteri kayıt ve takip ekranlarını hazırlar. Müşteri ekleme, satış ve bildirim menülerini geliştirir. Tüm menülerde tutarlı bir kullanıcı deneyimi sağlar.</a:t>
            </a:r>
          </a:p>
        </p:txBody>
      </p:sp>
      <p:sp>
        <p:nvSpPr>
          <p:cNvPr id="54" name="SB2"/>
          <p:cNvSpPr>
            <a:spLocks noTextEdit="1"/>
          </p:cNvSpPr>
          <p:nvPr/>
        </p:nvSpPr>
        <p:spPr>
          <a:xfrm>
            <a:off x="3175000" y="1879600"/>
            <a:ext cx="5359400" cy="254000"/>
          </a:xfrm>
          <a:prstGeom prst="rect">
            <a:avLst/>
          </a:prstGeom>
          <a:solidFill>
            <a:srgbClr val="F0F0F0"/>
          </a:solidFill>
          <a:ln>
            <a:noFill/>
          </a:ln>
        </p:spPr>
        <p:txBody>
          <a:bodyPr/>
          <a:lstStyle/>
          <a:p>
            <a:endParaRPr/>
          </a:p>
        </p:txBody>
      </p:sp>
      <p:sp>
        <p:nvSpPr>
          <p:cNvPr id="55" name="ST2"/>
          <p:cNvSpPr txBox="1"/>
          <p:nvPr/>
        </p:nvSpPr>
        <p:spPr>
          <a:xfrm>
            <a:off x="3251200" y="18923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Ne Yapılacak?</a:t>
            </a:r>
          </a:p>
        </p:txBody>
      </p:sp>
      <p:sp>
        <p:nvSpPr>
          <p:cNvPr id="230" name="T"/>
          <p:cNvSpPr txBox="1"/>
          <p:nvPr/>
        </p:nvSpPr>
        <p:spPr>
          <a:xfrm>
            <a:off x="3251200" y="21590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Müşteri arama ve karşılaştırma altyapısını oluştur</a:t>
            </a:r>
          </a:p>
        </p:txBody>
      </p:sp>
      <p:sp>
        <p:nvSpPr>
          <p:cNvPr id="252" name="T"/>
          <p:cNvSpPr txBox="1"/>
          <p:nvPr/>
        </p:nvSpPr>
        <p:spPr>
          <a:xfrm>
            <a:off x="3251200" y="24384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Müşteri modülünü tamamla ve ekiple paylaş</a:t>
            </a:r>
          </a:p>
        </p:txBody>
      </p:sp>
      <p:sp>
        <p:nvSpPr>
          <p:cNvPr id="274" name="T"/>
          <p:cNvSpPr txBox="1"/>
          <p:nvPr/>
        </p:nvSpPr>
        <p:spPr>
          <a:xfrm>
            <a:off x="3251200" y="27178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Müşteri modülünü tamamla ve ekiple paylaş</a:t>
            </a:r>
          </a:p>
        </p:txBody>
      </p:sp>
      <p:sp>
        <p:nvSpPr>
          <p:cNvPr id="296" name="T"/>
          <p:cNvSpPr txBox="1"/>
          <p:nvPr/>
        </p:nvSpPr>
        <p:spPr>
          <a:xfrm>
            <a:off x="3251200" y="29972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Satış ekranını tamamla ve ekiple paylaş</a:t>
            </a:r>
          </a:p>
        </p:txBody>
      </p:sp>
      <p:sp>
        <p:nvSpPr>
          <p:cNvPr id="318" name="T"/>
          <p:cNvSpPr txBox="1"/>
          <p:nvPr/>
        </p:nvSpPr>
        <p:spPr>
          <a:xfrm>
            <a:off x="3251200" y="32766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Sigorta/muayene ekleme ve uyarı ekranını yap</a:t>
            </a:r>
          </a:p>
        </p:txBody>
      </p:sp>
      <p:sp>
        <p:nvSpPr>
          <p:cNvPr id="340" name="T"/>
          <p:cNvSpPr txBox="1"/>
          <p:nvPr/>
        </p:nvSpPr>
        <p:spPr>
          <a:xfrm>
            <a:off x="3251200" y="35560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Satış ekranını tamamla ve ekiple paylaş</a:t>
            </a:r>
          </a:p>
        </p:txBody>
      </p:sp>
      <p:sp>
        <p:nvSpPr>
          <p:cNvPr id="80" name="SB3"/>
          <p:cNvSpPr>
            <a:spLocks noTextEdit="1"/>
          </p:cNvSpPr>
          <p:nvPr/>
        </p:nvSpPr>
        <p:spPr>
          <a:xfrm>
            <a:off x="3175000" y="3860800"/>
            <a:ext cx="5359400" cy="254000"/>
          </a:xfrm>
          <a:prstGeom prst="rect">
            <a:avLst/>
          </a:prstGeom>
          <a:solidFill>
            <a:srgbClr val="F0F0F0"/>
          </a:solidFill>
          <a:ln>
            <a:noFill/>
          </a:ln>
        </p:spPr>
        <p:txBody>
          <a:bodyPr/>
          <a:lstStyle/>
          <a:p>
            <a:endParaRPr/>
          </a:p>
        </p:txBody>
      </p:sp>
      <p:sp>
        <p:nvSpPr>
          <p:cNvPr id="81" name="ST3"/>
          <p:cNvSpPr txBox="1"/>
          <p:nvPr/>
        </p:nvSpPr>
        <p:spPr>
          <a:xfrm>
            <a:off x="3251200" y="38735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Temel Mantık</a:t>
            </a:r>
          </a:p>
        </p:txBody>
      </p:sp>
      <p:sp>
        <p:nvSpPr>
          <p:cNvPr id="82" name="Log"/>
          <p:cNvSpPr txBox="1"/>
          <p:nvPr/>
        </p:nvSpPr>
        <p:spPr>
          <a:xfrm>
            <a:off x="3251200" y="4114800"/>
            <a:ext cx="5207000" cy="482600"/>
          </a:xfrm>
          <a:prstGeom prst="rect">
            <a:avLst/>
          </a:prstGeom>
          <a:noFill/>
          <a:ln>
            <a:noFill/>
          </a:ln>
        </p:spPr>
        <p:txBody>
          <a:bodyPr wrap="square" lIns="91440" tIns="45720" rIns="91440" bIns="45720"/>
          <a:lstStyle/>
          <a:p>
            <a:pPr>
              <a:buNone/>
            </a:pPr>
            <a:r>
              <a:rPr lang="en-US" sz="1050" dirty="0">
                <a:solidFill>
                  <a:srgbClr val="555555"/>
                </a:solidFill>
                <a:latin typeface="Calibri"/>
              </a:rPr>
              <a:t>Müşteri arama işlemi, müşteri listesini hızlıca tarayarak isme göre sonuç döndürür. Satış işlemleri sırayla işlenir; kim önce gelirse işlemi önce tamamlanır.</a:t>
            </a:r>
          </a:p>
        </p:txBody>
      </p:sp>
    </p:spTree>
    <p:extLst>
      <p:ext uri="{BB962C8B-B14F-4D97-AF65-F5344CB8AC3E}">
        <p14:creationId xmlns:p14="http://schemas.microsoft.com/office/powerpoint/2010/main" val="97418683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043BB"/>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a:buNone/>
            </a:pPr>
            <a:r>
              <a:rPr lang="en-US" sz="2600" b="1" dirty="0">
                <a:solidFill>
                  <a:srgbClr val="2D2D2D"/>
                </a:solidFill>
                <a:latin typeface="Trebuchet MS"/>
              </a:rPr>
              <a:t>Emre Kuzal — Satış Modülü</a:t>
            </a:r>
          </a:p>
        </p:txBody>
      </p:sp>
      <p:sp>
        <p:nvSpPr>
          <p:cNvPr id="5" name="Shape 2"/>
          <p:cNvSpPr/>
          <p:nvPr/>
        </p:nvSpPr>
        <p:spPr>
          <a:xfrm>
            <a:off x="457200" y="731520"/>
            <a:ext cx="8229600" cy="18288"/>
          </a:xfrm>
          <a:prstGeom prst="rect">
            <a:avLst/>
          </a:prstGeom>
          <a:solidFill>
            <a:srgbClr val="B043BB"/>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10" name="Acc"/>
          <p:cNvSpPr>
            <a:spLocks noTextEdit="1"/>
          </p:cNvSpPr>
          <p:nvPr/>
        </p:nvSpPr>
        <p:spPr>
          <a:xfrm>
            <a:off x="457200" y="863600"/>
            <a:ext cx="50800" cy="3733800"/>
          </a:xfrm>
          <a:prstGeom prst="rect">
            <a:avLst/>
          </a:prstGeom>
          <a:solidFill>
            <a:srgbClr val="B043BB"/>
          </a:solidFill>
          <a:ln>
            <a:noFill/>
          </a:ln>
        </p:spPr>
        <p:txBody>
          <a:bodyPr/>
          <a:lstStyle/>
          <a:p>
            <a:endParaRPr/>
          </a:p>
        </p:txBody>
      </p:sp>
      <p:sp>
        <p:nvSpPr>
          <p:cNvPr id="11" name="CB"/>
          <p:cNvSpPr>
            <a:spLocks noTextEdit="1"/>
          </p:cNvSpPr>
          <p:nvPr/>
        </p:nvSpPr>
        <p:spPr>
          <a:xfrm>
            <a:off x="609600" y="863600"/>
            <a:ext cx="2413000" cy="3733800"/>
          </a:xfrm>
          <a:prstGeom prst="rect">
            <a:avLst/>
          </a:prstGeom>
          <a:solidFill>
            <a:srgbClr val="E3BBE7"/>
          </a:solidFill>
          <a:ln>
            <a:noFill/>
          </a:ln>
        </p:spPr>
        <p:txBody>
          <a:bodyPr/>
          <a:lstStyle/>
          <a:p>
            <a:endParaRPr/>
          </a:p>
        </p:txBody>
      </p:sp>
      <p:sp>
        <p:nvSpPr>
          <p:cNvPr id="12" name="N"/>
          <p:cNvSpPr txBox="1"/>
          <p:nvPr/>
        </p:nvSpPr>
        <p:spPr>
          <a:xfrm>
            <a:off x="698500" y="939800"/>
            <a:ext cx="2235200" cy="381000"/>
          </a:xfrm>
          <a:prstGeom prst="rect">
            <a:avLst/>
          </a:prstGeom>
          <a:noFill/>
          <a:ln>
            <a:noFill/>
          </a:ln>
        </p:spPr>
        <p:txBody>
          <a:bodyPr wrap="square" lIns="91440" tIns="45720" rIns="91440" bIns="45720"/>
          <a:lstStyle/>
          <a:p>
            <a:pPr>
              <a:buNone/>
            </a:pPr>
            <a:r>
              <a:rPr lang="en-US" sz="1800" b="1" dirty="0">
                <a:solidFill>
                  <a:srgbClr val="2D2D2D"/>
                </a:solidFill>
                <a:latin typeface="Trebuchet MS"/>
              </a:rPr>
              <a:t>Emre Kuzal</a:t>
            </a:r>
          </a:p>
        </p:txBody>
      </p:sp>
      <p:sp>
        <p:nvSpPr>
          <p:cNvPr id="13" name="R"/>
          <p:cNvSpPr txBox="1"/>
          <p:nvPr/>
        </p:nvSpPr>
        <p:spPr>
          <a:xfrm>
            <a:off x="698500" y="1320800"/>
            <a:ext cx="2235200" cy="254000"/>
          </a:xfrm>
          <a:prstGeom prst="rect">
            <a:avLst/>
          </a:prstGeom>
          <a:noFill/>
          <a:ln>
            <a:noFill/>
          </a:ln>
        </p:spPr>
        <p:txBody>
          <a:bodyPr wrap="square" lIns="91440" tIns="45720" rIns="91440" bIns="45720"/>
          <a:lstStyle/>
          <a:p>
            <a:pPr>
              <a:buNone/>
            </a:pPr>
            <a:r>
              <a:rPr lang="en-US" sz="1200" dirty="0">
                <a:solidFill>
                  <a:srgbClr val="B043BB"/>
                </a:solidFill>
                <a:latin typeface="Calibri"/>
              </a:rPr>
              <a:t>BACKEND</a:t>
            </a:r>
          </a:p>
        </p:txBody>
      </p:sp>
      <p:sp>
        <p:nvSpPr>
          <p:cNvPr id="14" name="Br"/>
          <p:cNvSpPr txBox="1"/>
          <p:nvPr/>
        </p:nvSpPr>
        <p:spPr>
          <a:xfrm>
            <a:off x="698500" y="1574800"/>
            <a:ext cx="2235200" cy="254000"/>
          </a:xfrm>
          <a:prstGeom prst="rect">
            <a:avLst/>
          </a:prstGeom>
          <a:noFill/>
          <a:ln>
            <a:noFill/>
          </a:ln>
        </p:spPr>
        <p:txBody>
          <a:bodyPr wrap="square" lIns="91440" tIns="45720" rIns="91440" bIns="45720"/>
          <a:lstStyle/>
          <a:p>
            <a:pPr>
              <a:buNone/>
            </a:pPr>
            <a:r>
              <a:rPr lang="en-US" sz="1100" dirty="0">
                <a:solidFill>
                  <a:srgbClr val="888888"/>
                </a:solidFill>
                <a:latin typeface="Calibri"/>
              </a:rPr>
              <a:t>feature/satis-modulu</a:t>
            </a:r>
          </a:p>
        </p:txBody>
      </p:sp>
      <p:sp>
        <p:nvSpPr>
          <p:cNvPr id="15" name="Dv"/>
          <p:cNvSpPr>
            <a:spLocks noTextEdit="1"/>
          </p:cNvSpPr>
          <p:nvPr/>
        </p:nvSpPr>
        <p:spPr>
          <a:xfrm>
            <a:off x="698500" y="1879600"/>
            <a:ext cx="2032000" cy="12700"/>
          </a:xfrm>
          <a:prstGeom prst="rect">
            <a:avLst/>
          </a:prstGeom>
          <a:solidFill>
            <a:srgbClr val="DDDDDD"/>
          </a:solidFill>
          <a:ln>
            <a:noFill/>
          </a:ln>
        </p:spPr>
        <p:txBody>
          <a:bodyPr/>
          <a:lstStyle/>
          <a:p>
            <a:endParaRPr/>
          </a:p>
        </p:txBody>
      </p:sp>
      <p:sp>
        <p:nvSpPr>
          <p:cNvPr id="16" name="CL"/>
          <p:cNvSpPr txBox="1"/>
          <p:nvPr/>
        </p:nvSpPr>
        <p:spPr>
          <a:xfrm>
            <a:off x="698500" y="1943100"/>
            <a:ext cx="2235200" cy="228600"/>
          </a:xfrm>
          <a:prstGeom prst="rect">
            <a:avLst/>
          </a:prstGeom>
          <a:noFill/>
          <a:ln>
            <a:noFill/>
          </a:ln>
        </p:spPr>
        <p:txBody>
          <a:bodyPr wrap="square" lIns="91440" tIns="45720" rIns="91440" bIns="45720"/>
          <a:lstStyle/>
          <a:p>
            <a:pPr>
              <a:buNone/>
            </a:pPr>
            <a:r>
              <a:rPr lang="en-US" sz="1100" b="1" dirty="0">
                <a:solidFill>
                  <a:srgbClr val="666666"/>
                </a:solidFill>
                <a:latin typeface="Trebuchet MS"/>
              </a:rPr>
              <a:t>Üstlendiği Bölümler:</a:t>
            </a:r>
          </a:p>
        </p:txBody>
      </p:sp>
      <p:sp>
        <p:nvSpPr>
          <p:cNvPr id="191" name="C"/>
          <p:cNvSpPr txBox="1"/>
          <p:nvPr/>
        </p:nvSpPr>
        <p:spPr>
          <a:xfrm>
            <a:off x="698500" y="2171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Satış kaydı</a:t>
            </a:r>
          </a:p>
        </p:txBody>
      </p:sp>
      <p:sp>
        <p:nvSpPr>
          <p:cNvPr id="209" name="C"/>
          <p:cNvSpPr txBox="1"/>
          <p:nvPr/>
        </p:nvSpPr>
        <p:spPr>
          <a:xfrm>
            <a:off x="698500" y="24003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Satış yönetim merkezi</a:t>
            </a:r>
          </a:p>
        </p:txBody>
      </p:sp>
      <p:sp>
        <p:nvSpPr>
          <p:cNvPr id="227" name="C"/>
          <p:cNvSpPr txBox="1"/>
          <p:nvPr/>
        </p:nvSpPr>
        <p:spPr>
          <a:xfrm>
            <a:off x="698500" y="26289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Satış sırası yönetimi</a:t>
            </a:r>
          </a:p>
        </p:txBody>
      </p:sp>
      <p:sp>
        <p:nvSpPr>
          <p:cNvPr id="245" name="C"/>
          <p:cNvSpPr txBox="1"/>
          <p:nvPr/>
        </p:nvSpPr>
        <p:spPr>
          <a:xfrm>
            <a:off x="698500" y="28575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Raporlama servisi</a:t>
            </a:r>
          </a:p>
        </p:txBody>
      </p:sp>
      <p:sp>
        <p:nvSpPr>
          <p:cNvPr id="263" name="C"/>
          <p:cNvSpPr txBox="1"/>
          <p:nvPr/>
        </p:nvSpPr>
        <p:spPr>
          <a:xfrm>
            <a:off x="698500" y="30861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Rapor oluşturma arayüzü</a:t>
            </a:r>
          </a:p>
        </p:txBody>
      </p:sp>
      <p:sp>
        <p:nvSpPr>
          <p:cNvPr id="50" name="RB"/>
          <p:cNvSpPr>
            <a:spLocks noTextEdit="1"/>
          </p:cNvSpPr>
          <p:nvPr/>
        </p:nvSpPr>
        <p:spPr>
          <a:xfrm>
            <a:off x="3175000" y="863600"/>
            <a:ext cx="5359400" cy="3733800"/>
          </a:xfrm>
          <a:prstGeom prst="rect">
            <a:avLst/>
          </a:prstGeom>
          <a:solidFill>
            <a:srgbClr val="FFFFFF"/>
          </a:solidFill>
          <a:ln>
            <a:noFill/>
          </a:ln>
        </p:spPr>
        <p:txBody>
          <a:bodyPr/>
          <a:lstStyle/>
          <a:p>
            <a:endParaRPr/>
          </a:p>
        </p:txBody>
      </p:sp>
      <p:sp>
        <p:nvSpPr>
          <p:cNvPr id="51" name="S1"/>
          <p:cNvSpPr>
            <a:spLocks noTextEdit="1"/>
          </p:cNvSpPr>
          <p:nvPr/>
        </p:nvSpPr>
        <p:spPr>
          <a:xfrm>
            <a:off x="3175000" y="863600"/>
            <a:ext cx="5359400" cy="304800"/>
          </a:xfrm>
          <a:prstGeom prst="rect">
            <a:avLst/>
          </a:prstGeom>
          <a:solidFill>
            <a:srgbClr val="B043BB"/>
          </a:solidFill>
          <a:ln>
            <a:solidFill>
              <a:srgbClr val="B043BB"/>
            </a:solidFill>
          </a:ln>
        </p:spPr>
        <p:txBody>
          <a:bodyPr/>
          <a:lstStyle/>
          <a:p>
            <a:endParaRPr/>
          </a:p>
        </p:txBody>
      </p:sp>
      <p:sp>
        <p:nvSpPr>
          <p:cNvPr id="52" name="T1"/>
          <p:cNvSpPr txBox="1"/>
          <p:nvPr/>
        </p:nvSpPr>
        <p:spPr>
          <a:xfrm>
            <a:off x="3251200" y="889000"/>
            <a:ext cx="5207000" cy="254000"/>
          </a:xfrm>
          <a:prstGeom prst="rect">
            <a:avLst/>
          </a:prstGeom>
          <a:noFill/>
          <a:ln>
            <a:noFill/>
          </a:ln>
        </p:spPr>
        <p:txBody>
          <a:bodyPr wrap="square" lIns="91440" tIns="45720" rIns="91440" bIns="45720"/>
          <a:lstStyle/>
          <a:p>
            <a:pPr>
              <a:buNone/>
            </a:pPr>
            <a:r>
              <a:rPr lang="en-US" sz="1300" b="1" dirty="0">
                <a:solidFill>
                  <a:srgbClr val="FFFFFF"/>
                </a:solidFill>
                <a:latin typeface="Trebuchet MS"/>
              </a:rPr>
              <a:t>Görev Tanımı</a:t>
            </a:r>
          </a:p>
        </p:txBody>
      </p:sp>
      <p:sp>
        <p:nvSpPr>
          <p:cNvPr id="53" name="D"/>
          <p:cNvSpPr txBox="1"/>
          <p:nvPr/>
        </p:nvSpPr>
        <p:spPr>
          <a:xfrm>
            <a:off x="3251200" y="1219200"/>
            <a:ext cx="5207000" cy="635000"/>
          </a:xfrm>
          <a:prstGeom prst="rect">
            <a:avLst/>
          </a:prstGeom>
          <a:noFill/>
          <a:ln>
            <a:noFill/>
          </a:ln>
        </p:spPr>
        <p:txBody>
          <a:bodyPr wrap="square" lIns="91440" tIns="45720" rIns="91440" bIns="45720"/>
          <a:lstStyle/>
          <a:p>
            <a:pPr>
              <a:buNone/>
            </a:pPr>
            <a:r>
              <a:rPr lang="en-US" sz="1150" dirty="0">
                <a:solidFill>
                  <a:srgbClr val="333333"/>
                </a:solidFill>
                <a:latin typeface="Calibri"/>
              </a:rPr>
              <a:t>Satış işlemlerinin tüm akışını yönetir. Satış yapar, iptal eder ve gelir-gider raporları üretir. Her satış kaydedilir, stok güncellenir ve fatura oluşturulur.</a:t>
            </a:r>
          </a:p>
        </p:txBody>
      </p:sp>
      <p:sp>
        <p:nvSpPr>
          <p:cNvPr id="54" name="S2"/>
          <p:cNvSpPr>
            <a:spLocks noTextEdit="1"/>
          </p:cNvSpPr>
          <p:nvPr/>
        </p:nvSpPr>
        <p:spPr>
          <a:xfrm>
            <a:off x="3175000" y="1879600"/>
            <a:ext cx="5359400" cy="254000"/>
          </a:xfrm>
          <a:prstGeom prst="rect">
            <a:avLst/>
          </a:prstGeom>
          <a:solidFill>
            <a:srgbClr val="F0F0F0"/>
          </a:solidFill>
          <a:ln>
            <a:noFill/>
          </a:ln>
        </p:spPr>
        <p:txBody>
          <a:bodyPr/>
          <a:lstStyle/>
          <a:p>
            <a:endParaRPr/>
          </a:p>
        </p:txBody>
      </p:sp>
      <p:sp>
        <p:nvSpPr>
          <p:cNvPr id="55" name="T2"/>
          <p:cNvSpPr txBox="1"/>
          <p:nvPr/>
        </p:nvSpPr>
        <p:spPr>
          <a:xfrm>
            <a:off x="3251200" y="18923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Ne Yapılacak?</a:t>
            </a:r>
          </a:p>
        </p:txBody>
      </p:sp>
      <p:sp>
        <p:nvSpPr>
          <p:cNvPr id="230" name="T"/>
          <p:cNvSpPr txBox="1"/>
          <p:nvPr/>
        </p:nvSpPr>
        <p:spPr>
          <a:xfrm>
            <a:off x="3251200" y="21590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Satış veri yapısını ve kâr hesaplama fonksiyonunu oluştur</a:t>
            </a:r>
          </a:p>
        </p:txBody>
      </p:sp>
      <p:sp>
        <p:nvSpPr>
          <p:cNvPr id="252" name="T"/>
          <p:cNvSpPr txBox="1"/>
          <p:nvPr/>
        </p:nvSpPr>
        <p:spPr>
          <a:xfrm>
            <a:off x="3251200" y="24384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Satış modülünü tamamla ve testlerini yap</a:t>
            </a:r>
          </a:p>
        </p:txBody>
      </p:sp>
      <p:sp>
        <p:nvSpPr>
          <p:cNvPr id="274" name="T"/>
          <p:cNvSpPr txBox="1"/>
          <p:nvPr/>
        </p:nvSpPr>
        <p:spPr>
          <a:xfrm>
            <a:off x="3251200" y="27178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Satış sırası sistemini yaz (ilk gelen önce işlenir)</a:t>
            </a:r>
          </a:p>
        </p:txBody>
      </p:sp>
      <p:sp>
        <p:nvSpPr>
          <p:cNvPr id="296" name="T"/>
          <p:cNvSpPr txBox="1"/>
          <p:nvPr/>
        </p:nvSpPr>
        <p:spPr>
          <a:xfrm>
            <a:off x="3251200" y="29972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Sıra testlerini yap, raporlama iskeletini oluştur</a:t>
            </a:r>
          </a:p>
        </p:txBody>
      </p:sp>
      <p:sp>
        <p:nvSpPr>
          <p:cNvPr id="318" name="T"/>
          <p:cNvSpPr txBox="1"/>
          <p:nvPr/>
        </p:nvSpPr>
        <p:spPr>
          <a:xfrm>
            <a:off x="3251200" y="32766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Satış yap ve iptal et fonksiyonlarını tamamla</a:t>
            </a:r>
          </a:p>
        </p:txBody>
      </p:sp>
      <p:sp>
        <p:nvSpPr>
          <p:cNvPr id="340" name="T"/>
          <p:cNvSpPr txBox="1"/>
          <p:nvPr/>
        </p:nvSpPr>
        <p:spPr>
          <a:xfrm>
            <a:off x="3251200" y="35560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Raporlama fonksiyonlarını ve servisini tamamla</a:t>
            </a:r>
          </a:p>
        </p:txBody>
      </p:sp>
      <p:sp>
        <p:nvSpPr>
          <p:cNvPr id="80" name="S3"/>
          <p:cNvSpPr>
            <a:spLocks noTextEdit="1"/>
          </p:cNvSpPr>
          <p:nvPr/>
        </p:nvSpPr>
        <p:spPr>
          <a:xfrm>
            <a:off x="3175000" y="3860800"/>
            <a:ext cx="5359400" cy="254000"/>
          </a:xfrm>
          <a:prstGeom prst="rect">
            <a:avLst/>
          </a:prstGeom>
          <a:solidFill>
            <a:srgbClr val="F0F0F0"/>
          </a:solidFill>
          <a:ln>
            <a:noFill/>
          </a:ln>
        </p:spPr>
        <p:txBody>
          <a:bodyPr/>
          <a:lstStyle/>
          <a:p>
            <a:endParaRPr/>
          </a:p>
        </p:txBody>
      </p:sp>
      <p:sp>
        <p:nvSpPr>
          <p:cNvPr id="81" name="T3"/>
          <p:cNvSpPr txBox="1"/>
          <p:nvPr/>
        </p:nvSpPr>
        <p:spPr>
          <a:xfrm>
            <a:off x="3251200" y="38735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Temel Mantık</a:t>
            </a:r>
          </a:p>
        </p:txBody>
      </p:sp>
      <p:sp>
        <p:nvSpPr>
          <p:cNvPr id="82" name="L"/>
          <p:cNvSpPr txBox="1"/>
          <p:nvPr/>
        </p:nvSpPr>
        <p:spPr>
          <a:xfrm>
            <a:off x="3251200" y="4114800"/>
            <a:ext cx="5207000" cy="482600"/>
          </a:xfrm>
          <a:prstGeom prst="rect">
            <a:avLst/>
          </a:prstGeom>
          <a:noFill/>
          <a:ln>
            <a:noFill/>
          </a:ln>
        </p:spPr>
        <p:txBody>
          <a:bodyPr wrap="square" lIns="91440" tIns="45720" rIns="91440" bIns="45720"/>
          <a:lstStyle/>
          <a:p>
            <a:pPr>
              <a:buNone/>
            </a:pPr>
            <a:r>
              <a:rPr lang="en-US" sz="1050" dirty="0">
                <a:solidFill>
                  <a:srgbClr val="555555"/>
                </a:solidFill>
                <a:latin typeface="Calibri"/>
              </a:rPr>
              <a:t>Satışlar sıraya alınır ve kim önce geldiyse önce işlenir. Her satış tamamlandığında araç stoğu düşer ve müşteriye fatura kesilir. Tüm satış işlemleri tek bir merkezi sistemden yönetilir.</a:t>
            </a:r>
          </a:p>
        </p:txBody>
      </p:sp>
    </p:spTree>
    <p:extLst>
      <p:ext uri="{BB962C8B-B14F-4D97-AF65-F5344CB8AC3E}">
        <p14:creationId xmlns:p14="http://schemas.microsoft.com/office/powerpoint/2010/main" val="285660629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chemeClr val="accent6"/>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a:solidFill>
                  <a:srgbClr val="2D2D2D"/>
                </a:solidFill>
                <a:latin typeface="Trebuchet MS" pitchFamily="34" charset="0"/>
                <a:ea typeface="Trebuchet MS" pitchFamily="34" charset="-122"/>
                <a:cs typeface="Trebuchet MS" pitchFamily="34" charset="-120"/>
              </a:rPr>
              <a:t>Osman Berat Pasa — Ekspertiz Modulu</a:t>
            </a:r>
            <a:endParaRPr lang="en-US" sz="2600" b="1" dirty="0">
              <a:solidFill>
                <a:srgbClr val="2D2D2D"/>
              </a:solidFill>
            </a:endParaRPr>
          </a:p>
        </p:txBody>
      </p:sp>
      <p:sp>
        <p:nvSpPr>
          <p:cNvPr id="5" name="Shape 2"/>
          <p:cNvSpPr/>
          <p:nvPr/>
        </p:nvSpPr>
        <p:spPr>
          <a:xfrm>
            <a:off x="457200" y="731520"/>
            <a:ext cx="8229600" cy="18288"/>
          </a:xfrm>
          <a:prstGeom prst="rect">
            <a:avLst/>
          </a:prstGeom>
          <a:solidFill>
            <a:schemeClr val="accent6"/>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43" name="Rectangle 42">
            <a:extLst>
              <a:ext uri="{FF2B5EF4-FFF2-40B4-BE49-F238E27FC236}">
                <a16:creationId xmlns:a16="http://schemas.microsoft.com/office/drawing/2014/main" id="{65304AC8-D161-4131-BC16-054B55A1A0B8}"/>
              </a:ext>
            </a:extLst>
          </p:cNvPr>
          <p:cNvSpPr/>
          <p:nvPr/>
        </p:nvSpPr>
        <p:spPr>
          <a:xfrm>
            <a:off x="457200" y="863600"/>
            <a:ext cx="50800" cy="3733800"/>
          </a:xfrm>
          <a:prstGeom prst="rect">
            <a:avLst/>
          </a:prstGeom>
          <a:solidFill>
            <a:schemeClr val="accent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4" name="Rectangle 43">
            <a:extLst>
              <a:ext uri="{FF2B5EF4-FFF2-40B4-BE49-F238E27FC236}">
                <a16:creationId xmlns:a16="http://schemas.microsoft.com/office/drawing/2014/main" id="{795617B7-2C37-458D-9596-BA8E1D531C97}"/>
              </a:ext>
            </a:extLst>
          </p:cNvPr>
          <p:cNvSpPr/>
          <p:nvPr/>
        </p:nvSpPr>
        <p:spPr>
          <a:xfrm>
            <a:off x="609600" y="889000"/>
            <a:ext cx="2413000" cy="3733800"/>
          </a:xfrm>
          <a:prstGeom prst="rect">
            <a:avLst/>
          </a:prstGeom>
          <a:solidFill>
            <a:schemeClr val="accent6">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5" name="TextBox 44">
            <a:extLst>
              <a:ext uri="{FF2B5EF4-FFF2-40B4-BE49-F238E27FC236}">
                <a16:creationId xmlns:a16="http://schemas.microsoft.com/office/drawing/2014/main" id="{C8332640-0DBA-4FEF-BA79-4A87B9070772}"/>
              </a:ext>
            </a:extLst>
          </p:cNvPr>
          <p:cNvSpPr txBox="1"/>
          <p:nvPr/>
        </p:nvSpPr>
        <p:spPr>
          <a:xfrm>
            <a:off x="698500" y="939800"/>
            <a:ext cx="2235200" cy="406400"/>
          </a:xfrm>
          <a:prstGeom prst="rect">
            <a:avLst/>
          </a:prstGeom>
          <a:noFill/>
        </p:spPr>
        <p:txBody>
          <a:bodyPr vertOverflow="overflow" vert="horz" wrap="square" rtlCol="0" anchor="t">
            <a:spAutoFit/>
          </a:bodyPr>
          <a:lstStyle/>
          <a:p>
            <a:pPr algn="l"/>
            <a:r>
              <a:rPr lang="tr-TR" sz="2000" b="1">
                <a:solidFill>
                  <a:srgbClr val="2D2D2D"/>
                </a:solidFill>
              </a:rPr>
              <a:t>Osman Berat Pasa</a:t>
            </a:r>
          </a:p>
        </p:txBody>
      </p:sp>
      <p:sp>
        <p:nvSpPr>
          <p:cNvPr id="46" name="TextBox 45">
            <a:extLst>
              <a:ext uri="{FF2B5EF4-FFF2-40B4-BE49-F238E27FC236}">
                <a16:creationId xmlns:a16="http://schemas.microsoft.com/office/drawing/2014/main" id="{07F4D795-D811-46BD-BE84-B04E46BB1FD6}"/>
              </a:ext>
            </a:extLst>
          </p:cNvPr>
          <p:cNvSpPr txBox="1"/>
          <p:nvPr/>
        </p:nvSpPr>
        <p:spPr>
          <a:xfrm>
            <a:off x="698500" y="1346200"/>
            <a:ext cx="2235200" cy="307777"/>
          </a:xfrm>
          <a:prstGeom prst="rect">
            <a:avLst/>
          </a:prstGeom>
          <a:noFill/>
        </p:spPr>
        <p:txBody>
          <a:bodyPr vertOverflow="overflow" vert="horz" wrap="square" rtlCol="0" anchor="t">
            <a:spAutoFit/>
          </a:bodyPr>
          <a:lstStyle/>
          <a:p>
            <a:pPr algn="l"/>
            <a:r>
              <a:rPr lang="tr-TR" sz="1400" dirty="0">
                <a:solidFill>
                  <a:schemeClr val="accent6"/>
                </a:solidFill>
              </a:rPr>
              <a:t>BACKEND</a:t>
            </a:r>
          </a:p>
        </p:txBody>
      </p:sp>
      <p:sp>
        <p:nvSpPr>
          <p:cNvPr id="47" name="TextBox 46">
            <a:extLst>
              <a:ext uri="{FF2B5EF4-FFF2-40B4-BE49-F238E27FC236}">
                <a16:creationId xmlns:a16="http://schemas.microsoft.com/office/drawing/2014/main" id="{0FA1B674-BC7C-4F83-AF53-14B2B496DFBE}"/>
              </a:ext>
            </a:extLst>
          </p:cNvPr>
          <p:cNvSpPr txBox="1"/>
          <p:nvPr/>
        </p:nvSpPr>
        <p:spPr>
          <a:xfrm>
            <a:off x="698500" y="1625600"/>
            <a:ext cx="2235200" cy="254000"/>
          </a:xfrm>
          <a:prstGeom prst="rect">
            <a:avLst/>
          </a:prstGeom>
          <a:noFill/>
        </p:spPr>
        <p:txBody>
          <a:bodyPr vertOverflow="overflow" vert="horz" wrap="square" rtlCol="0" anchor="t">
            <a:spAutoFit/>
          </a:bodyPr>
          <a:lstStyle/>
          <a:p>
            <a:pPr algn="l"/>
            <a:r>
              <a:rPr lang="tr-TR" sz="1400">
                <a:solidFill>
                  <a:srgbClr val="888888"/>
                </a:solidFill>
              </a:rPr>
              <a:t>feature/ekspertiz-modulu</a:t>
            </a:r>
          </a:p>
        </p:txBody>
      </p:sp>
      <p:sp>
        <p:nvSpPr>
          <p:cNvPr id="48" name="Rectangle 47">
            <a:extLst>
              <a:ext uri="{FF2B5EF4-FFF2-40B4-BE49-F238E27FC236}">
                <a16:creationId xmlns:a16="http://schemas.microsoft.com/office/drawing/2014/main" id="{1C095F86-2681-4CE9-9BFA-B51126819025}"/>
              </a:ext>
            </a:extLst>
          </p:cNvPr>
          <p:cNvSpPr/>
          <p:nvPr/>
        </p:nvSpPr>
        <p:spPr>
          <a:xfrm>
            <a:off x="698500" y="1930400"/>
            <a:ext cx="2032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9" name="TextBox 48">
            <a:extLst>
              <a:ext uri="{FF2B5EF4-FFF2-40B4-BE49-F238E27FC236}">
                <a16:creationId xmlns:a16="http://schemas.microsoft.com/office/drawing/2014/main" id="{73AEE97C-9956-4B5E-9D12-20EF8FF19051}"/>
              </a:ext>
            </a:extLst>
          </p:cNvPr>
          <p:cNvSpPr txBox="1"/>
          <p:nvPr/>
        </p:nvSpPr>
        <p:spPr>
          <a:xfrm>
            <a:off x="698500" y="1993900"/>
            <a:ext cx="2235200" cy="254000"/>
          </a:xfrm>
          <a:prstGeom prst="rect">
            <a:avLst/>
          </a:prstGeom>
          <a:noFill/>
        </p:spPr>
        <p:txBody>
          <a:bodyPr vertOverflow="overflow" vert="horz" wrap="square" rtlCol="0" anchor="t">
            <a:spAutoFit/>
          </a:bodyPr>
          <a:lstStyle/>
          <a:p>
            <a:pPr algn="l"/>
            <a:r>
              <a:rPr lang="tr-TR" sz="1400" b="1">
                <a:solidFill>
                  <a:srgbClr val="666666"/>
                </a:solidFill>
              </a:rPr>
              <a:t>Üstlendiği Bölümler:</a:t>
            </a:r>
          </a:p>
        </p:txBody>
      </p:sp>
      <p:sp>
        <p:nvSpPr>
          <p:cNvPr id="50" name="TextBox 49">
            <a:extLst>
              <a:ext uri="{FF2B5EF4-FFF2-40B4-BE49-F238E27FC236}">
                <a16:creationId xmlns:a16="http://schemas.microsoft.com/office/drawing/2014/main" id="{14983BE4-2CC2-4D1C-BE27-36926477FCF5}"/>
              </a:ext>
            </a:extLst>
          </p:cNvPr>
          <p:cNvSpPr txBox="1"/>
          <p:nvPr/>
        </p:nvSpPr>
        <p:spPr>
          <a:xfrm>
            <a:off x="730250" y="2334411"/>
            <a:ext cx="2171700" cy="254000"/>
          </a:xfrm>
          <a:prstGeom prst="rect">
            <a:avLst/>
          </a:prstGeom>
          <a:noFill/>
        </p:spPr>
        <p:txBody>
          <a:bodyPr vertOverflow="overflow" vert="horz" wrap="square" rtlCol="0" anchor="t">
            <a:spAutoFit/>
          </a:bodyPr>
          <a:lstStyle/>
          <a:p>
            <a:pPr algn="l"/>
            <a:r>
              <a:rPr lang="tr-TR" sz="1400">
                <a:solidFill>
                  <a:srgbClr val="444444"/>
                </a:solidFill>
              </a:rPr>
              <a:t>Hasar seviyelerini ve etkilerini belirle</a:t>
            </a:r>
          </a:p>
        </p:txBody>
      </p:sp>
      <p:sp>
        <p:nvSpPr>
          <p:cNvPr id="51" name="TextBox 50">
            <a:extLst>
              <a:ext uri="{FF2B5EF4-FFF2-40B4-BE49-F238E27FC236}">
                <a16:creationId xmlns:a16="http://schemas.microsoft.com/office/drawing/2014/main" id="{C3E0BC60-D231-41FE-85ED-8C28FAE15092}"/>
              </a:ext>
            </a:extLst>
          </p:cNvPr>
          <p:cNvSpPr txBox="1"/>
          <p:nvPr/>
        </p:nvSpPr>
        <p:spPr>
          <a:xfrm>
            <a:off x="730250" y="2782788"/>
            <a:ext cx="2171700" cy="254000"/>
          </a:xfrm>
          <a:prstGeom prst="rect">
            <a:avLst/>
          </a:prstGeom>
          <a:noFill/>
        </p:spPr>
        <p:txBody>
          <a:bodyPr vertOverflow="overflow" vert="horz" wrap="square" rtlCol="0" anchor="t">
            <a:spAutoFit/>
          </a:bodyPr>
          <a:lstStyle/>
          <a:p>
            <a:pPr algn="l"/>
            <a:r>
              <a:rPr lang="tr-TR" sz="1400">
                <a:solidFill>
                  <a:srgbClr val="444444"/>
                </a:solidFill>
              </a:rPr>
              <a:t>Ekspertiz rapor kaydını yaz</a:t>
            </a:r>
          </a:p>
        </p:txBody>
      </p:sp>
      <p:sp>
        <p:nvSpPr>
          <p:cNvPr id="52" name="TextBox 51">
            <a:extLst>
              <a:ext uri="{FF2B5EF4-FFF2-40B4-BE49-F238E27FC236}">
                <a16:creationId xmlns:a16="http://schemas.microsoft.com/office/drawing/2014/main" id="{C9F5BA72-9DBA-4766-9159-CB6A1613E551}"/>
              </a:ext>
            </a:extLst>
          </p:cNvPr>
          <p:cNvSpPr txBox="1"/>
          <p:nvPr/>
        </p:nvSpPr>
        <p:spPr>
          <a:xfrm>
            <a:off x="730250" y="2984500"/>
            <a:ext cx="2171700" cy="254000"/>
          </a:xfrm>
          <a:prstGeom prst="rect">
            <a:avLst/>
          </a:prstGeom>
          <a:noFill/>
        </p:spPr>
        <p:txBody>
          <a:bodyPr vertOverflow="overflow" vert="horz" wrap="square" rtlCol="0" anchor="t">
            <a:spAutoFit/>
          </a:bodyPr>
          <a:lstStyle/>
          <a:p>
            <a:pPr algn="l"/>
            <a:r>
              <a:rPr lang="tr-TR" sz="1400">
                <a:solidFill>
                  <a:srgbClr val="444444"/>
                </a:solidFill>
              </a:rPr>
              <a:t>Ekspertiz yönetim merkezini oluştur</a:t>
            </a:r>
          </a:p>
        </p:txBody>
      </p:sp>
      <p:sp>
        <p:nvSpPr>
          <p:cNvPr id="53" name="TextBox 52">
            <a:extLst>
              <a:ext uri="{FF2B5EF4-FFF2-40B4-BE49-F238E27FC236}">
                <a16:creationId xmlns:a16="http://schemas.microsoft.com/office/drawing/2014/main" id="{AE69A5B7-0CEB-4BA7-B74F-7C08EA6FC036}"/>
              </a:ext>
            </a:extLst>
          </p:cNvPr>
          <p:cNvSpPr txBox="1"/>
          <p:nvPr/>
        </p:nvSpPr>
        <p:spPr>
          <a:xfrm>
            <a:off x="730250" y="3365500"/>
            <a:ext cx="2171700" cy="254000"/>
          </a:xfrm>
          <a:prstGeom prst="rect">
            <a:avLst/>
          </a:prstGeom>
          <a:noFill/>
        </p:spPr>
        <p:txBody>
          <a:bodyPr vertOverflow="overflow" vert="horz" wrap="square" rtlCol="0" anchor="t">
            <a:spAutoFit/>
          </a:bodyPr>
          <a:lstStyle/>
          <a:p>
            <a:pPr algn="l"/>
            <a:r>
              <a:rPr lang="tr-TR" sz="1400" dirty="0">
                <a:solidFill>
                  <a:srgbClr val="444444"/>
                </a:solidFill>
              </a:rPr>
              <a:t>Ekspertiz geçmiş takip sistemi</a:t>
            </a:r>
          </a:p>
        </p:txBody>
      </p:sp>
      <p:sp>
        <p:nvSpPr>
          <p:cNvPr id="54" name="Rectangle 53">
            <a:extLst>
              <a:ext uri="{FF2B5EF4-FFF2-40B4-BE49-F238E27FC236}">
                <a16:creationId xmlns:a16="http://schemas.microsoft.com/office/drawing/2014/main" id="{5B1802C9-51C0-4E92-B446-5456C0C6EB60}"/>
              </a:ext>
            </a:extLst>
          </p:cNvPr>
          <p:cNvSpPr/>
          <p:nvPr/>
        </p:nvSpPr>
        <p:spPr>
          <a:xfrm>
            <a:off x="3175000" y="863600"/>
            <a:ext cx="5359400" cy="37338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5" name="Rectangle 54">
            <a:extLst>
              <a:ext uri="{FF2B5EF4-FFF2-40B4-BE49-F238E27FC236}">
                <a16:creationId xmlns:a16="http://schemas.microsoft.com/office/drawing/2014/main" id="{BDA80D24-FDB6-4012-BC0F-87CCCDBE8E92}"/>
              </a:ext>
            </a:extLst>
          </p:cNvPr>
          <p:cNvSpPr/>
          <p:nvPr/>
        </p:nvSpPr>
        <p:spPr>
          <a:xfrm>
            <a:off x="3175000" y="863600"/>
            <a:ext cx="5359400" cy="330200"/>
          </a:xfrm>
          <a:prstGeom prst="rect">
            <a:avLst/>
          </a:prstGeom>
          <a:solidFill>
            <a:schemeClr val="accent6"/>
          </a:solidFill>
          <a:ln w="12700" cap="flat" cmpd="sng" algn="ctr">
            <a:solidFill>
              <a:schemeClr val="accent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6" name="TextBox 55">
            <a:extLst>
              <a:ext uri="{FF2B5EF4-FFF2-40B4-BE49-F238E27FC236}">
                <a16:creationId xmlns:a16="http://schemas.microsoft.com/office/drawing/2014/main" id="{C8D33CEA-F4DE-4DCD-92FF-825B8B9456D4}"/>
              </a:ext>
            </a:extLst>
          </p:cNvPr>
          <p:cNvSpPr txBox="1"/>
          <p:nvPr/>
        </p:nvSpPr>
        <p:spPr>
          <a:xfrm>
            <a:off x="3251200" y="889000"/>
            <a:ext cx="5207000" cy="279400"/>
          </a:xfrm>
          <a:prstGeom prst="rect">
            <a:avLst/>
          </a:prstGeom>
          <a:noFill/>
        </p:spPr>
        <p:txBody>
          <a:bodyPr vertOverflow="overflow" vert="horz" wrap="square" rtlCol="0" anchor="t">
            <a:spAutoFit/>
          </a:bodyPr>
          <a:lstStyle/>
          <a:p>
            <a:pPr algn="l"/>
            <a:r>
              <a:rPr lang="tr-TR" sz="1600" b="1">
                <a:solidFill>
                  <a:srgbClr val="FFFFFF"/>
                </a:solidFill>
              </a:rPr>
              <a:t>Gorev Tanimi</a:t>
            </a:r>
          </a:p>
        </p:txBody>
      </p:sp>
      <p:sp>
        <p:nvSpPr>
          <p:cNvPr id="57" name="TextBox 56">
            <a:extLst>
              <a:ext uri="{FF2B5EF4-FFF2-40B4-BE49-F238E27FC236}">
                <a16:creationId xmlns:a16="http://schemas.microsoft.com/office/drawing/2014/main" id="{973A3824-FBC9-43AB-8942-1A18E4A07FEF}"/>
              </a:ext>
            </a:extLst>
          </p:cNvPr>
          <p:cNvSpPr txBox="1"/>
          <p:nvPr/>
        </p:nvSpPr>
        <p:spPr>
          <a:xfrm>
            <a:off x="3251200" y="1244600"/>
            <a:ext cx="5207000" cy="660400"/>
          </a:xfrm>
          <a:prstGeom prst="rect">
            <a:avLst/>
          </a:prstGeom>
          <a:noFill/>
        </p:spPr>
        <p:txBody>
          <a:bodyPr vertOverflow="overflow" vert="horz" wrap="square" rtlCol="0" anchor="t">
            <a:spAutoFit/>
          </a:bodyPr>
          <a:lstStyle/>
          <a:p>
            <a:pPr algn="l"/>
            <a:r>
              <a:rPr lang="tr-TR" sz="1400">
                <a:solidFill>
                  <a:srgbClr val="333333"/>
                </a:solidFill>
              </a:rPr>
              <a:t>Araç ekspertiz sürecini başından sonuna yönetir. Her parçanın hasarını tespit eder, 100 üzerinden puan hesaplar, rapor oluşturur ve onaylar. Geçmiş ekspertiz raporlarına da ulaşılabilir.</a:t>
            </a:r>
          </a:p>
        </p:txBody>
      </p:sp>
      <p:sp>
        <p:nvSpPr>
          <p:cNvPr id="58" name="Rectangle 57">
            <a:extLst>
              <a:ext uri="{FF2B5EF4-FFF2-40B4-BE49-F238E27FC236}">
                <a16:creationId xmlns:a16="http://schemas.microsoft.com/office/drawing/2014/main" id="{23A7F29E-3E8A-4B3E-B013-8432E3C9262F}"/>
              </a:ext>
            </a:extLst>
          </p:cNvPr>
          <p:cNvSpPr/>
          <p:nvPr/>
        </p:nvSpPr>
        <p:spPr>
          <a:xfrm>
            <a:off x="3175000" y="1943100"/>
            <a:ext cx="5359400" cy="279400"/>
          </a:xfrm>
          <a:prstGeom prst="rect">
            <a:avLst/>
          </a:prstGeom>
          <a:solidFill>
            <a:srgbClr val="F0F0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9" name="TextBox 58">
            <a:extLst>
              <a:ext uri="{FF2B5EF4-FFF2-40B4-BE49-F238E27FC236}">
                <a16:creationId xmlns:a16="http://schemas.microsoft.com/office/drawing/2014/main" id="{CE12FFC8-F312-4557-970B-DC55266E98DF}"/>
              </a:ext>
            </a:extLst>
          </p:cNvPr>
          <p:cNvSpPr txBox="1"/>
          <p:nvPr/>
        </p:nvSpPr>
        <p:spPr>
          <a:xfrm>
            <a:off x="3251200" y="1968500"/>
            <a:ext cx="5207000" cy="323165"/>
          </a:xfrm>
          <a:prstGeom prst="rect">
            <a:avLst/>
          </a:prstGeom>
          <a:noFill/>
        </p:spPr>
        <p:txBody>
          <a:bodyPr vertOverflow="overflow" vert="horz" wrap="square" rtlCol="0" anchor="t">
            <a:spAutoFit/>
          </a:bodyPr>
          <a:lstStyle/>
          <a:p>
            <a:pPr algn="l"/>
            <a:r>
              <a:rPr lang="tr-TR" sz="1500" b="1" dirty="0">
                <a:solidFill>
                  <a:srgbClr val="2D2D2D"/>
                </a:solidFill>
              </a:rPr>
              <a:t>Ne Yapılacak?</a:t>
            </a:r>
          </a:p>
        </p:txBody>
      </p:sp>
      <p:sp>
        <p:nvSpPr>
          <p:cNvPr id="60" name="TextBox 59">
            <a:extLst>
              <a:ext uri="{FF2B5EF4-FFF2-40B4-BE49-F238E27FC236}">
                <a16:creationId xmlns:a16="http://schemas.microsoft.com/office/drawing/2014/main" id="{02996DEE-442A-4334-BBB3-CF36D6B00E1D}"/>
              </a:ext>
            </a:extLst>
          </p:cNvPr>
          <p:cNvSpPr txBox="1"/>
          <p:nvPr/>
        </p:nvSpPr>
        <p:spPr>
          <a:xfrm>
            <a:off x="3251200" y="2273300"/>
            <a:ext cx="5207000" cy="307777"/>
          </a:xfrm>
          <a:prstGeom prst="rect">
            <a:avLst/>
          </a:prstGeom>
          <a:noFill/>
        </p:spPr>
        <p:txBody>
          <a:bodyPr vertOverflow="overflow" vert="horz" wrap="square" rtlCol="0" anchor="t">
            <a:spAutoFit/>
          </a:bodyPr>
          <a:lstStyle/>
          <a:p>
            <a:pPr marL="285750" indent="-285750" algn="l">
              <a:buFont typeface="Arial" panose="020B0604020202020204" pitchFamily="34" charset="0"/>
              <a:buChar char="•"/>
            </a:pPr>
            <a:r>
              <a:rPr lang="tr-TR" sz="1400" dirty="0">
                <a:solidFill>
                  <a:srgbClr val="333333"/>
                </a:solidFill>
              </a:rPr>
              <a:t>Hasar seviyelerini tanımla, ekspertiz kaydı oluştur</a:t>
            </a:r>
          </a:p>
        </p:txBody>
      </p:sp>
      <p:sp>
        <p:nvSpPr>
          <p:cNvPr id="61" name="TextBox 60">
            <a:extLst>
              <a:ext uri="{FF2B5EF4-FFF2-40B4-BE49-F238E27FC236}">
                <a16:creationId xmlns:a16="http://schemas.microsoft.com/office/drawing/2014/main" id="{7B2C8F8D-EE50-4784-9512-34F7D7C17FAB}"/>
              </a:ext>
            </a:extLst>
          </p:cNvPr>
          <p:cNvSpPr txBox="1"/>
          <p:nvPr/>
        </p:nvSpPr>
        <p:spPr>
          <a:xfrm>
            <a:off x="3251200" y="2578100"/>
            <a:ext cx="5207000" cy="307777"/>
          </a:xfrm>
          <a:prstGeom prst="rect">
            <a:avLst/>
          </a:prstGeom>
          <a:noFill/>
        </p:spPr>
        <p:txBody>
          <a:bodyPr vertOverflow="overflow" vert="horz" wrap="square" rtlCol="0" anchor="t">
            <a:spAutoFit/>
          </a:bodyPr>
          <a:lstStyle/>
          <a:p>
            <a:pPr marL="285750" indent="-285750" algn="l">
              <a:buFont typeface="Arial" panose="020B0604020202020204" pitchFamily="34" charset="0"/>
              <a:buChar char="•"/>
            </a:pPr>
            <a:r>
              <a:rPr lang="tr-TR" sz="1400" dirty="0">
                <a:solidFill>
                  <a:srgbClr val="333333"/>
                </a:solidFill>
              </a:rPr>
              <a:t>Ekspertiz modülünü tamamla ve ekiple paylaş</a:t>
            </a:r>
          </a:p>
        </p:txBody>
      </p:sp>
      <p:sp>
        <p:nvSpPr>
          <p:cNvPr id="62" name="TextBox 61">
            <a:extLst>
              <a:ext uri="{FF2B5EF4-FFF2-40B4-BE49-F238E27FC236}">
                <a16:creationId xmlns:a16="http://schemas.microsoft.com/office/drawing/2014/main" id="{637464E0-6A80-41FC-B5AF-9DF2137C58BC}"/>
              </a:ext>
            </a:extLst>
          </p:cNvPr>
          <p:cNvSpPr txBox="1"/>
          <p:nvPr/>
        </p:nvSpPr>
        <p:spPr>
          <a:xfrm>
            <a:off x="3251200" y="2882900"/>
            <a:ext cx="5207000" cy="307777"/>
          </a:xfrm>
          <a:prstGeom prst="rect">
            <a:avLst/>
          </a:prstGeom>
          <a:noFill/>
        </p:spPr>
        <p:txBody>
          <a:bodyPr vertOverflow="overflow" vert="horz" wrap="square" rtlCol="0" anchor="t">
            <a:spAutoFit/>
          </a:bodyPr>
          <a:lstStyle/>
          <a:p>
            <a:pPr marL="285750" indent="-285750" algn="l">
              <a:buFont typeface="Arial" panose="020B0604020202020204" pitchFamily="34" charset="0"/>
              <a:buChar char="•"/>
            </a:pPr>
            <a:r>
              <a:rPr lang="tr-TR" sz="1400" dirty="0">
                <a:solidFill>
                  <a:srgbClr val="333333"/>
                </a:solidFill>
              </a:rPr>
              <a:t>Ekspertiz geçmiş sistemini yaz</a:t>
            </a:r>
          </a:p>
        </p:txBody>
      </p:sp>
      <p:sp>
        <p:nvSpPr>
          <p:cNvPr id="63" name="TextBox 62">
            <a:extLst>
              <a:ext uri="{FF2B5EF4-FFF2-40B4-BE49-F238E27FC236}">
                <a16:creationId xmlns:a16="http://schemas.microsoft.com/office/drawing/2014/main" id="{0B2735CC-4736-4C85-8621-837F94E04955}"/>
              </a:ext>
            </a:extLst>
          </p:cNvPr>
          <p:cNvSpPr txBox="1"/>
          <p:nvPr/>
        </p:nvSpPr>
        <p:spPr>
          <a:xfrm>
            <a:off x="3251200" y="3187700"/>
            <a:ext cx="5207000" cy="307777"/>
          </a:xfrm>
          <a:prstGeom prst="rect">
            <a:avLst/>
          </a:prstGeom>
          <a:noFill/>
        </p:spPr>
        <p:txBody>
          <a:bodyPr vertOverflow="overflow" vert="horz" wrap="square" rtlCol="0" anchor="t">
            <a:spAutoFit/>
          </a:bodyPr>
          <a:lstStyle/>
          <a:p>
            <a:pPr marL="228600" indent="-228600">
              <a:buFont typeface="Arial"/>
              <a:buChar char="•"/>
            </a:pPr>
            <a:r>
              <a:rPr lang="tr-TR" sz="1400" dirty="0">
                <a:solidFill>
                  <a:srgbClr val="333333"/>
                </a:solidFill>
                <a:latin typeface="Calibri"/>
              </a:rPr>
              <a:t> Geçmiş sistemini test et, puanlama detaylarını ekle</a:t>
            </a:r>
          </a:p>
        </p:txBody>
      </p:sp>
      <p:sp>
        <p:nvSpPr>
          <p:cNvPr id="64" name="TextBox 63">
            <a:extLst>
              <a:ext uri="{FF2B5EF4-FFF2-40B4-BE49-F238E27FC236}">
                <a16:creationId xmlns:a16="http://schemas.microsoft.com/office/drawing/2014/main" id="{C76AE780-3DA5-4227-BD14-C72A7B473E45}"/>
              </a:ext>
            </a:extLst>
          </p:cNvPr>
          <p:cNvSpPr txBox="1"/>
          <p:nvPr/>
        </p:nvSpPr>
        <p:spPr>
          <a:xfrm>
            <a:off x="3251200" y="3492500"/>
            <a:ext cx="5207000" cy="307777"/>
          </a:xfrm>
          <a:prstGeom prst="rect">
            <a:avLst/>
          </a:prstGeom>
          <a:noFill/>
        </p:spPr>
        <p:txBody>
          <a:bodyPr vertOverflow="overflow" vert="horz" wrap="square" rtlCol="0" anchor="t">
            <a:spAutoFit/>
          </a:bodyPr>
          <a:lstStyle/>
          <a:p>
            <a:pPr marL="285750" indent="-285750" algn="l">
              <a:buFont typeface="Arial" panose="020B0604020202020204" pitchFamily="34" charset="0"/>
              <a:buChar char="•"/>
            </a:pPr>
            <a:r>
              <a:rPr lang="tr-TR" sz="1400" dirty="0">
                <a:solidFill>
                  <a:srgbClr val="333333"/>
                </a:solidFill>
              </a:rPr>
              <a:t>Ekspertiz kayıt, görüntüleme ve silme işlemlerini yaz</a:t>
            </a:r>
          </a:p>
        </p:txBody>
      </p:sp>
      <p:sp>
        <p:nvSpPr>
          <p:cNvPr id="65" name="TextBox 64">
            <a:extLst>
              <a:ext uri="{FF2B5EF4-FFF2-40B4-BE49-F238E27FC236}">
                <a16:creationId xmlns:a16="http://schemas.microsoft.com/office/drawing/2014/main" id="{54F18175-921B-4903-BB59-EBDEF2F241E3}"/>
              </a:ext>
            </a:extLst>
          </p:cNvPr>
          <p:cNvSpPr txBox="1"/>
          <p:nvPr/>
        </p:nvSpPr>
        <p:spPr>
          <a:xfrm>
            <a:off x="3251200" y="3797300"/>
            <a:ext cx="5207000" cy="307777"/>
          </a:xfrm>
          <a:prstGeom prst="rect">
            <a:avLst/>
          </a:prstGeom>
          <a:noFill/>
        </p:spPr>
        <p:txBody>
          <a:bodyPr vertOverflow="overflow" vert="horz" wrap="square" rtlCol="0" anchor="t">
            <a:spAutoFit/>
          </a:bodyPr>
          <a:lstStyle/>
          <a:p>
            <a:pPr marL="285750" indent="-285750" algn="l">
              <a:buFont typeface="Arial" panose="020B0604020202020204" pitchFamily="34" charset="0"/>
              <a:buChar char="•"/>
            </a:pPr>
            <a:r>
              <a:rPr lang="sv-SE" sz="1400" dirty="0">
                <a:solidFill>
                  <a:srgbClr val="333333"/>
                </a:solidFill>
              </a:rPr>
              <a:t>Rapor formatını ve onaylama akışını tamamla, testleri yap</a:t>
            </a:r>
            <a:endParaRPr lang="tr-TR" sz="1400" dirty="0">
              <a:solidFill>
                <a:srgbClr val="333333"/>
              </a:solidFill>
            </a:endParaRPr>
          </a:p>
        </p:txBody>
      </p:sp>
      <p:sp>
        <p:nvSpPr>
          <p:cNvPr id="66" name="Rectangle 65">
            <a:extLst>
              <a:ext uri="{FF2B5EF4-FFF2-40B4-BE49-F238E27FC236}">
                <a16:creationId xmlns:a16="http://schemas.microsoft.com/office/drawing/2014/main" id="{D939B210-EB18-4B79-8C12-DBCBE84DC65E}"/>
              </a:ext>
            </a:extLst>
          </p:cNvPr>
          <p:cNvSpPr/>
          <p:nvPr/>
        </p:nvSpPr>
        <p:spPr>
          <a:xfrm>
            <a:off x="3175000" y="4127500"/>
            <a:ext cx="5359400" cy="279400"/>
          </a:xfrm>
          <a:prstGeom prst="rect">
            <a:avLst/>
          </a:prstGeom>
          <a:solidFill>
            <a:srgbClr val="F0F0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67" name="TextBox 66">
            <a:extLst>
              <a:ext uri="{FF2B5EF4-FFF2-40B4-BE49-F238E27FC236}">
                <a16:creationId xmlns:a16="http://schemas.microsoft.com/office/drawing/2014/main" id="{575C429B-F038-4D49-A07D-C006E006F03A}"/>
              </a:ext>
            </a:extLst>
          </p:cNvPr>
          <p:cNvSpPr txBox="1"/>
          <p:nvPr/>
        </p:nvSpPr>
        <p:spPr>
          <a:xfrm>
            <a:off x="3251200" y="4152900"/>
            <a:ext cx="5207000" cy="254000"/>
          </a:xfrm>
          <a:prstGeom prst="rect">
            <a:avLst/>
          </a:prstGeom>
          <a:noFill/>
        </p:spPr>
        <p:txBody>
          <a:bodyPr vertOverflow="overflow" vert="horz" wrap="square" rtlCol="0" anchor="t">
            <a:spAutoFit/>
          </a:bodyPr>
          <a:lstStyle/>
          <a:p>
            <a:pPr algn="l"/>
            <a:r>
              <a:rPr lang="tr-TR" sz="1500" b="1">
                <a:solidFill>
                  <a:srgbClr val="2D2D2D"/>
                </a:solidFill>
              </a:rPr>
              <a:t>Temel Mantik</a:t>
            </a:r>
          </a:p>
        </p:txBody>
      </p:sp>
      <p:sp>
        <p:nvSpPr>
          <p:cNvPr id="68" name="TextBox 67">
            <a:extLst>
              <a:ext uri="{FF2B5EF4-FFF2-40B4-BE49-F238E27FC236}">
                <a16:creationId xmlns:a16="http://schemas.microsoft.com/office/drawing/2014/main" id="{E19B6873-1786-4EB5-8479-D7C9B9D1CBD7}"/>
              </a:ext>
            </a:extLst>
          </p:cNvPr>
          <p:cNvSpPr txBox="1"/>
          <p:nvPr/>
        </p:nvSpPr>
        <p:spPr>
          <a:xfrm>
            <a:off x="3251200" y="4432300"/>
            <a:ext cx="5207000" cy="533400"/>
          </a:xfrm>
          <a:prstGeom prst="rect">
            <a:avLst/>
          </a:prstGeom>
          <a:noFill/>
        </p:spPr>
        <p:txBody>
          <a:bodyPr vertOverflow="overflow" vert="horz" wrap="square" rtlCol="0" anchor="t">
            <a:spAutoFit/>
          </a:bodyPr>
          <a:lstStyle/>
          <a:p>
            <a:pPr algn="l"/>
            <a:r>
              <a:rPr lang="tr-TR" sz="1400">
                <a:solidFill>
                  <a:srgbClr val="555555"/>
                </a:solidFill>
              </a:rPr>
              <a:t>En son yapılan ekspertiz en başta görünür; geçmişe kolayca ulaşılabilir. Puan hesabı hasarsız parçaları ağırlıklı olarak değerlendirir. Tüm ekspertiz verileri tek bir merkezi sistemden yönetilir.</a:t>
            </a:r>
          </a:p>
        </p:txBody>
      </p:sp>
    </p:spTree>
    <p:extLst>
      <p:ext uri="{BB962C8B-B14F-4D97-AF65-F5344CB8AC3E}">
        <p14:creationId xmlns:p14="http://schemas.microsoft.com/office/powerpoint/2010/main" val="220478498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245F"/>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a:buNone/>
            </a:pPr>
            <a:r>
              <a:rPr lang="en-US" sz="2600" b="1" dirty="0">
                <a:solidFill>
                  <a:srgbClr val="2D2D2D"/>
                </a:solidFill>
                <a:latin typeface="Trebuchet MS"/>
              </a:rPr>
              <a:t>Halil İbrahim Dinç — Bildirim Modülü</a:t>
            </a:r>
          </a:p>
        </p:txBody>
      </p:sp>
      <p:sp>
        <p:nvSpPr>
          <p:cNvPr id="5" name="Shape 2"/>
          <p:cNvSpPr/>
          <p:nvPr/>
        </p:nvSpPr>
        <p:spPr>
          <a:xfrm>
            <a:off x="457200" y="731520"/>
            <a:ext cx="8229600" cy="18288"/>
          </a:xfrm>
          <a:prstGeom prst="rect">
            <a:avLst/>
          </a:prstGeom>
          <a:solidFill>
            <a:srgbClr val="62245F"/>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10" name="Acc"/>
          <p:cNvSpPr>
            <a:spLocks noTextEdit="1"/>
          </p:cNvSpPr>
          <p:nvPr/>
        </p:nvSpPr>
        <p:spPr>
          <a:xfrm>
            <a:off x="457200" y="863600"/>
            <a:ext cx="50800" cy="3733800"/>
          </a:xfrm>
          <a:prstGeom prst="rect">
            <a:avLst/>
          </a:prstGeom>
          <a:solidFill>
            <a:srgbClr val="62245F"/>
          </a:solidFill>
          <a:ln>
            <a:noFill/>
          </a:ln>
        </p:spPr>
        <p:txBody>
          <a:bodyPr/>
          <a:lstStyle/>
          <a:p>
            <a:endParaRPr/>
          </a:p>
        </p:txBody>
      </p:sp>
      <p:sp>
        <p:nvSpPr>
          <p:cNvPr id="11" name="CB"/>
          <p:cNvSpPr>
            <a:spLocks noTextEdit="1"/>
          </p:cNvSpPr>
          <p:nvPr/>
        </p:nvSpPr>
        <p:spPr>
          <a:xfrm>
            <a:off x="609600" y="863600"/>
            <a:ext cx="2413000" cy="3733800"/>
          </a:xfrm>
          <a:prstGeom prst="rect">
            <a:avLst/>
          </a:prstGeom>
          <a:solidFill>
            <a:srgbClr val="D798E4"/>
          </a:solidFill>
          <a:ln>
            <a:noFill/>
          </a:ln>
        </p:spPr>
        <p:txBody>
          <a:bodyPr/>
          <a:lstStyle/>
          <a:p>
            <a:endParaRPr/>
          </a:p>
        </p:txBody>
      </p:sp>
      <p:sp>
        <p:nvSpPr>
          <p:cNvPr id="12" name="N"/>
          <p:cNvSpPr txBox="1"/>
          <p:nvPr/>
        </p:nvSpPr>
        <p:spPr>
          <a:xfrm>
            <a:off x="698500" y="939800"/>
            <a:ext cx="2235200" cy="381000"/>
          </a:xfrm>
          <a:prstGeom prst="rect">
            <a:avLst/>
          </a:prstGeom>
          <a:noFill/>
          <a:ln>
            <a:noFill/>
          </a:ln>
        </p:spPr>
        <p:txBody>
          <a:bodyPr wrap="square" lIns="91440" tIns="45720" rIns="91440" bIns="45720"/>
          <a:lstStyle/>
          <a:p>
            <a:pPr>
              <a:buNone/>
            </a:pPr>
            <a:r>
              <a:rPr lang="en-US" sz="1800" b="1" dirty="0">
                <a:solidFill>
                  <a:srgbClr val="2D2D2D"/>
                </a:solidFill>
                <a:latin typeface="Trebuchet MS"/>
              </a:rPr>
              <a:t>Halil İbrahim Dinç</a:t>
            </a:r>
          </a:p>
        </p:txBody>
      </p:sp>
      <p:sp>
        <p:nvSpPr>
          <p:cNvPr id="13" name="R"/>
          <p:cNvSpPr txBox="1"/>
          <p:nvPr/>
        </p:nvSpPr>
        <p:spPr>
          <a:xfrm>
            <a:off x="698500" y="1320800"/>
            <a:ext cx="2235200" cy="254000"/>
          </a:xfrm>
          <a:prstGeom prst="rect">
            <a:avLst/>
          </a:prstGeom>
          <a:noFill/>
          <a:ln>
            <a:noFill/>
          </a:ln>
        </p:spPr>
        <p:txBody>
          <a:bodyPr wrap="square" lIns="91440" tIns="45720" rIns="91440" bIns="45720"/>
          <a:lstStyle/>
          <a:p>
            <a:pPr>
              <a:buNone/>
            </a:pPr>
            <a:r>
              <a:rPr lang="en-US" sz="1200" dirty="0">
                <a:solidFill>
                  <a:srgbClr val="62245F"/>
                </a:solidFill>
                <a:latin typeface="Calibri"/>
              </a:rPr>
              <a:t>BACKEND</a:t>
            </a:r>
          </a:p>
        </p:txBody>
      </p:sp>
      <p:sp>
        <p:nvSpPr>
          <p:cNvPr id="14" name="Br"/>
          <p:cNvSpPr txBox="1"/>
          <p:nvPr/>
        </p:nvSpPr>
        <p:spPr>
          <a:xfrm>
            <a:off x="698500" y="1574800"/>
            <a:ext cx="2235200" cy="254000"/>
          </a:xfrm>
          <a:prstGeom prst="rect">
            <a:avLst/>
          </a:prstGeom>
          <a:noFill/>
          <a:ln>
            <a:noFill/>
          </a:ln>
        </p:spPr>
        <p:txBody>
          <a:bodyPr wrap="square" lIns="91440" tIns="45720" rIns="91440" bIns="45720"/>
          <a:lstStyle/>
          <a:p>
            <a:pPr>
              <a:buNone/>
            </a:pPr>
            <a:r>
              <a:rPr lang="en-US" sz="1100" dirty="0">
                <a:solidFill>
                  <a:srgbClr val="888888"/>
                </a:solidFill>
                <a:latin typeface="Calibri"/>
              </a:rPr>
              <a:t>feature/bildirim-modulu</a:t>
            </a:r>
          </a:p>
        </p:txBody>
      </p:sp>
      <p:sp>
        <p:nvSpPr>
          <p:cNvPr id="15" name="Dv"/>
          <p:cNvSpPr>
            <a:spLocks noTextEdit="1"/>
          </p:cNvSpPr>
          <p:nvPr/>
        </p:nvSpPr>
        <p:spPr>
          <a:xfrm>
            <a:off x="698500" y="1879600"/>
            <a:ext cx="2032000" cy="12700"/>
          </a:xfrm>
          <a:prstGeom prst="rect">
            <a:avLst/>
          </a:prstGeom>
          <a:solidFill>
            <a:srgbClr val="DDDDDD"/>
          </a:solidFill>
          <a:ln>
            <a:noFill/>
          </a:ln>
        </p:spPr>
        <p:txBody>
          <a:bodyPr/>
          <a:lstStyle/>
          <a:p>
            <a:endParaRPr/>
          </a:p>
        </p:txBody>
      </p:sp>
      <p:sp>
        <p:nvSpPr>
          <p:cNvPr id="16" name="CL"/>
          <p:cNvSpPr txBox="1"/>
          <p:nvPr/>
        </p:nvSpPr>
        <p:spPr>
          <a:xfrm>
            <a:off x="698500" y="1943100"/>
            <a:ext cx="2235200" cy="228600"/>
          </a:xfrm>
          <a:prstGeom prst="rect">
            <a:avLst/>
          </a:prstGeom>
          <a:noFill/>
          <a:ln>
            <a:noFill/>
          </a:ln>
        </p:spPr>
        <p:txBody>
          <a:bodyPr wrap="square" lIns="91440" tIns="45720" rIns="91440" bIns="45720"/>
          <a:lstStyle/>
          <a:p>
            <a:pPr>
              <a:buNone/>
            </a:pPr>
            <a:r>
              <a:rPr lang="en-US" sz="1100" b="1" dirty="0">
                <a:solidFill>
                  <a:srgbClr val="666666"/>
                </a:solidFill>
                <a:latin typeface="Trebuchet MS"/>
              </a:rPr>
              <a:t>Üstlendiği Bölümler:</a:t>
            </a:r>
          </a:p>
        </p:txBody>
      </p:sp>
      <p:sp>
        <p:nvSpPr>
          <p:cNvPr id="191" name="C"/>
          <p:cNvSpPr txBox="1"/>
          <p:nvPr/>
        </p:nvSpPr>
        <p:spPr>
          <a:xfrm>
            <a:off x="698500" y="2171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Çalışan bilgileri</a:t>
            </a:r>
          </a:p>
        </p:txBody>
      </p:sp>
      <p:sp>
        <p:nvSpPr>
          <p:cNvPr id="209" name="C"/>
          <p:cNvSpPr txBox="1"/>
          <p:nvPr/>
        </p:nvSpPr>
        <p:spPr>
          <a:xfrm>
            <a:off x="698500" y="24003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Sigorta kayıt sistemi</a:t>
            </a:r>
          </a:p>
        </p:txBody>
      </p:sp>
      <p:sp>
        <p:nvSpPr>
          <p:cNvPr id="227" name="C"/>
          <p:cNvSpPr txBox="1"/>
          <p:nvPr/>
        </p:nvSpPr>
        <p:spPr>
          <a:xfrm>
            <a:off x="698500" y="26289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Muayene kayıt sistemi</a:t>
            </a:r>
          </a:p>
        </p:txBody>
      </p:sp>
      <p:sp>
        <p:nvSpPr>
          <p:cNvPr id="245" name="C"/>
          <p:cNvSpPr txBox="1"/>
          <p:nvPr/>
        </p:nvSpPr>
        <p:spPr>
          <a:xfrm>
            <a:off x="698500" y="28575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Bildirim yönetim merkezi</a:t>
            </a:r>
          </a:p>
        </p:txBody>
      </p:sp>
      <p:sp>
        <p:nvSpPr>
          <p:cNvPr id="50" name="RB"/>
          <p:cNvSpPr>
            <a:spLocks noTextEdit="1"/>
          </p:cNvSpPr>
          <p:nvPr/>
        </p:nvSpPr>
        <p:spPr>
          <a:xfrm>
            <a:off x="3175000" y="863600"/>
            <a:ext cx="5359400" cy="3733800"/>
          </a:xfrm>
          <a:prstGeom prst="rect">
            <a:avLst/>
          </a:prstGeom>
          <a:solidFill>
            <a:srgbClr val="FFFFFF"/>
          </a:solidFill>
          <a:ln>
            <a:noFill/>
          </a:ln>
        </p:spPr>
        <p:txBody>
          <a:bodyPr/>
          <a:lstStyle/>
          <a:p>
            <a:endParaRPr/>
          </a:p>
        </p:txBody>
      </p:sp>
      <p:sp>
        <p:nvSpPr>
          <p:cNvPr id="51" name="S1"/>
          <p:cNvSpPr>
            <a:spLocks noTextEdit="1"/>
          </p:cNvSpPr>
          <p:nvPr/>
        </p:nvSpPr>
        <p:spPr>
          <a:xfrm>
            <a:off x="3175000" y="863600"/>
            <a:ext cx="5359400" cy="304800"/>
          </a:xfrm>
          <a:prstGeom prst="rect">
            <a:avLst/>
          </a:prstGeom>
          <a:solidFill>
            <a:srgbClr val="62245F"/>
          </a:solidFill>
          <a:ln>
            <a:solidFill>
              <a:srgbClr val="62245F"/>
            </a:solidFill>
          </a:ln>
        </p:spPr>
        <p:txBody>
          <a:bodyPr/>
          <a:lstStyle/>
          <a:p>
            <a:endParaRPr/>
          </a:p>
        </p:txBody>
      </p:sp>
      <p:sp>
        <p:nvSpPr>
          <p:cNvPr id="52" name="T1"/>
          <p:cNvSpPr txBox="1"/>
          <p:nvPr/>
        </p:nvSpPr>
        <p:spPr>
          <a:xfrm>
            <a:off x="3251200" y="889000"/>
            <a:ext cx="5207000" cy="254000"/>
          </a:xfrm>
          <a:prstGeom prst="rect">
            <a:avLst/>
          </a:prstGeom>
          <a:noFill/>
          <a:ln>
            <a:noFill/>
          </a:ln>
        </p:spPr>
        <p:txBody>
          <a:bodyPr wrap="square" lIns="91440" tIns="45720" rIns="91440" bIns="45720"/>
          <a:lstStyle/>
          <a:p>
            <a:pPr>
              <a:buNone/>
            </a:pPr>
            <a:r>
              <a:rPr lang="en-US" sz="1300" b="1" dirty="0">
                <a:solidFill>
                  <a:srgbClr val="FFFFFF"/>
                </a:solidFill>
                <a:latin typeface="Trebuchet MS"/>
              </a:rPr>
              <a:t>Görev Tanımı</a:t>
            </a:r>
          </a:p>
        </p:txBody>
      </p:sp>
      <p:sp>
        <p:nvSpPr>
          <p:cNvPr id="53" name="D"/>
          <p:cNvSpPr txBox="1"/>
          <p:nvPr/>
        </p:nvSpPr>
        <p:spPr>
          <a:xfrm>
            <a:off x="3251200" y="1219200"/>
            <a:ext cx="5207000" cy="635000"/>
          </a:xfrm>
          <a:prstGeom prst="rect">
            <a:avLst/>
          </a:prstGeom>
          <a:noFill/>
          <a:ln>
            <a:noFill/>
          </a:ln>
        </p:spPr>
        <p:txBody>
          <a:bodyPr wrap="square" lIns="91440" tIns="45720" rIns="91440" bIns="45720"/>
          <a:lstStyle/>
          <a:p>
            <a:pPr>
              <a:buNone/>
            </a:pPr>
            <a:r>
              <a:rPr lang="en-US" sz="1150" dirty="0">
                <a:solidFill>
                  <a:srgbClr val="333333"/>
                </a:solidFill>
                <a:latin typeface="Calibri"/>
              </a:rPr>
              <a:t>Araçların sigorta ve muayene tarihlerini takip eder. Yaklaşan veya süresi dolan tarihleri otomatik tespit ederek kullanıcıyı uyarır. Çalışan bilgilerini de yönetir.</a:t>
            </a:r>
          </a:p>
        </p:txBody>
      </p:sp>
      <p:sp>
        <p:nvSpPr>
          <p:cNvPr id="54" name="S2"/>
          <p:cNvSpPr>
            <a:spLocks noTextEdit="1"/>
          </p:cNvSpPr>
          <p:nvPr/>
        </p:nvSpPr>
        <p:spPr>
          <a:xfrm>
            <a:off x="3175000" y="1879600"/>
            <a:ext cx="5359400" cy="254000"/>
          </a:xfrm>
          <a:prstGeom prst="rect">
            <a:avLst/>
          </a:prstGeom>
          <a:solidFill>
            <a:srgbClr val="F0F0F0"/>
          </a:solidFill>
          <a:ln>
            <a:noFill/>
          </a:ln>
        </p:spPr>
        <p:txBody>
          <a:bodyPr/>
          <a:lstStyle/>
          <a:p>
            <a:endParaRPr/>
          </a:p>
        </p:txBody>
      </p:sp>
      <p:sp>
        <p:nvSpPr>
          <p:cNvPr id="55" name="T2"/>
          <p:cNvSpPr txBox="1"/>
          <p:nvPr/>
        </p:nvSpPr>
        <p:spPr>
          <a:xfrm>
            <a:off x="3251200" y="18923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Ne Yapılacak?</a:t>
            </a:r>
          </a:p>
        </p:txBody>
      </p:sp>
      <p:sp>
        <p:nvSpPr>
          <p:cNvPr id="230" name="T"/>
          <p:cNvSpPr txBox="1"/>
          <p:nvPr/>
        </p:nvSpPr>
        <p:spPr>
          <a:xfrm>
            <a:off x="3251200" y="21590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Çalışan, sigorta ve muayene veri yapılarını oluştur</a:t>
            </a:r>
          </a:p>
        </p:txBody>
      </p:sp>
      <p:sp>
        <p:nvSpPr>
          <p:cNvPr id="252" name="T"/>
          <p:cNvSpPr txBox="1"/>
          <p:nvPr/>
        </p:nvSpPr>
        <p:spPr>
          <a:xfrm>
            <a:off x="3251200" y="24384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Tüm veri yapılarını tamamla ve ekiple paylaş</a:t>
            </a:r>
          </a:p>
        </p:txBody>
      </p:sp>
      <p:sp>
        <p:nvSpPr>
          <p:cNvPr id="274" name="T"/>
          <p:cNvSpPr txBox="1"/>
          <p:nvPr/>
        </p:nvSpPr>
        <p:spPr>
          <a:xfrm>
            <a:off x="3251200" y="27178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Sigorta ve muayene kontrol fonksiyonlarını yaz</a:t>
            </a:r>
          </a:p>
        </p:txBody>
      </p:sp>
      <p:sp>
        <p:nvSpPr>
          <p:cNvPr id="296" name="T"/>
          <p:cNvSpPr txBox="1"/>
          <p:nvPr/>
        </p:nvSpPr>
        <p:spPr>
          <a:xfrm>
            <a:off x="3251200" y="29972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Yaklaşan tarihleri tespit et, uyarı gönder, testleri yap</a:t>
            </a:r>
          </a:p>
        </p:txBody>
      </p:sp>
      <p:sp>
        <p:nvSpPr>
          <p:cNvPr id="318" name="T"/>
          <p:cNvSpPr txBox="1"/>
          <p:nvPr/>
        </p:nvSpPr>
        <p:spPr>
          <a:xfrm>
            <a:off x="3251200" y="32766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Bildirim sistemini kur: kritik/uyarı/yaklaşan seviyelerini ayarla</a:t>
            </a:r>
          </a:p>
        </p:txBody>
      </p:sp>
      <p:sp>
        <p:nvSpPr>
          <p:cNvPr id="340" name="T"/>
          <p:cNvSpPr txBox="1"/>
          <p:nvPr/>
        </p:nvSpPr>
        <p:spPr>
          <a:xfrm>
            <a:off x="3251200" y="3556000"/>
            <a:ext cx="5207000" cy="254000"/>
          </a:xfrm>
          <a:prstGeom prst="rect">
            <a:avLst/>
          </a:prstGeom>
          <a:noFill/>
          <a:ln>
            <a:noFill/>
          </a:ln>
        </p:spPr>
        <p:txBody>
          <a:bodyPr wrap="square" lIns="91440" tIns="45720" rIns="91440" bIns="45720"/>
          <a:lstStyle/>
          <a:p>
            <a:pPr marL="228600" indent="-228600">
              <a:buFont typeface="Arial"/>
              <a:buChar char="•"/>
            </a:pPr>
            <a:r>
              <a:rPr lang="tr-TR" sz="1050" dirty="0">
                <a:solidFill>
                  <a:srgbClr val="333333"/>
                </a:solidFill>
                <a:latin typeface="Calibri"/>
              </a:rPr>
              <a:t>Mesaj formatlarını ve performans testlerini tamamla</a:t>
            </a:r>
          </a:p>
        </p:txBody>
      </p:sp>
      <p:sp>
        <p:nvSpPr>
          <p:cNvPr id="80" name="S3"/>
          <p:cNvSpPr>
            <a:spLocks noTextEdit="1"/>
          </p:cNvSpPr>
          <p:nvPr/>
        </p:nvSpPr>
        <p:spPr>
          <a:xfrm>
            <a:off x="3175000" y="3860800"/>
            <a:ext cx="5359400" cy="254000"/>
          </a:xfrm>
          <a:prstGeom prst="rect">
            <a:avLst/>
          </a:prstGeom>
          <a:solidFill>
            <a:srgbClr val="F0F0F0"/>
          </a:solidFill>
          <a:ln>
            <a:noFill/>
          </a:ln>
        </p:spPr>
        <p:txBody>
          <a:bodyPr/>
          <a:lstStyle/>
          <a:p>
            <a:endParaRPr/>
          </a:p>
        </p:txBody>
      </p:sp>
      <p:sp>
        <p:nvSpPr>
          <p:cNvPr id="81" name="T3"/>
          <p:cNvSpPr txBox="1"/>
          <p:nvPr/>
        </p:nvSpPr>
        <p:spPr>
          <a:xfrm>
            <a:off x="3251200" y="38735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Temel Mantık</a:t>
            </a:r>
          </a:p>
        </p:txBody>
      </p:sp>
      <p:sp>
        <p:nvSpPr>
          <p:cNvPr id="82" name="L"/>
          <p:cNvSpPr txBox="1"/>
          <p:nvPr/>
        </p:nvSpPr>
        <p:spPr>
          <a:xfrm>
            <a:off x="3251200" y="4114800"/>
            <a:ext cx="5207000" cy="482600"/>
          </a:xfrm>
          <a:prstGeom prst="rect">
            <a:avLst/>
          </a:prstGeom>
          <a:noFill/>
          <a:ln>
            <a:noFill/>
          </a:ln>
        </p:spPr>
        <p:txBody>
          <a:bodyPr wrap="square" lIns="91440" tIns="45720" rIns="91440" bIns="45720"/>
          <a:lstStyle/>
          <a:p>
            <a:pPr>
              <a:buNone/>
            </a:pPr>
            <a:r>
              <a:rPr lang="en-US" sz="1050" dirty="0">
                <a:solidFill>
                  <a:srgbClr val="555555"/>
                </a:solidFill>
                <a:latin typeface="Calibri"/>
              </a:rPr>
              <a:t>Tarih farkı hesaplaması (ChronoUnit/gün) süre kritiklik seviyesini belirler: &lt;3 gün kritik, &lt;7 uyarı, &lt;30 yaklaşan. Singleton tek bildirim noktası sağlar, mesaj tekrarını engeller.</a:t>
            </a:r>
          </a:p>
        </p:txBody>
      </p:sp>
    </p:spTree>
    <p:extLst>
      <p:ext uri="{BB962C8B-B14F-4D97-AF65-F5344CB8AC3E}">
        <p14:creationId xmlns:p14="http://schemas.microsoft.com/office/powerpoint/2010/main" val="195663342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00000"/>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a:solidFill>
                  <a:srgbClr val="2D2D2D"/>
                </a:solidFill>
                <a:latin typeface="Trebuchet MS" pitchFamily="34" charset="0"/>
                <a:ea typeface="Trebuchet MS" pitchFamily="34" charset="-122"/>
                <a:cs typeface="Trebuchet MS" pitchFamily="34" charset="-120"/>
              </a:rPr>
              <a:t>Eray Gok — Veri Yonetimi</a:t>
            </a:r>
            <a:endParaRPr lang="en-US" sz="2600" b="1" dirty="0">
              <a:solidFill>
                <a:srgbClr val="2D2D2D"/>
              </a:solidFill>
            </a:endParaRPr>
          </a:p>
        </p:txBody>
      </p:sp>
      <p:sp>
        <p:nvSpPr>
          <p:cNvPr id="5" name="Shape 2"/>
          <p:cNvSpPr/>
          <p:nvPr/>
        </p:nvSpPr>
        <p:spPr>
          <a:xfrm>
            <a:off x="457200" y="731520"/>
            <a:ext cx="8229600" cy="18288"/>
          </a:xfrm>
          <a:prstGeom prst="rect">
            <a:avLst/>
          </a:prstGeom>
          <a:solidFill>
            <a:srgbClr val="C00000"/>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43" name="Rectangle 42">
            <a:extLst>
              <a:ext uri="{FF2B5EF4-FFF2-40B4-BE49-F238E27FC236}">
                <a16:creationId xmlns:a16="http://schemas.microsoft.com/office/drawing/2014/main" id="{3115FD0A-2319-41E0-B3BF-8B83A13D3E9C}"/>
              </a:ext>
            </a:extLst>
          </p:cNvPr>
          <p:cNvSpPr/>
          <p:nvPr/>
        </p:nvSpPr>
        <p:spPr>
          <a:xfrm>
            <a:off x="457200" y="863600"/>
            <a:ext cx="50800" cy="3733800"/>
          </a:xfrm>
          <a:prstGeom prst="rect">
            <a:avLst/>
          </a:prstGeom>
          <a:solidFill>
            <a:srgbClr val="BF360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4" name="Rectangle 43">
            <a:extLst>
              <a:ext uri="{FF2B5EF4-FFF2-40B4-BE49-F238E27FC236}">
                <a16:creationId xmlns:a16="http://schemas.microsoft.com/office/drawing/2014/main" id="{09E32D3D-2091-4892-BF36-F9A99D5B399A}"/>
              </a:ext>
            </a:extLst>
          </p:cNvPr>
          <p:cNvSpPr/>
          <p:nvPr/>
        </p:nvSpPr>
        <p:spPr>
          <a:xfrm>
            <a:off x="609600" y="863600"/>
            <a:ext cx="2413000" cy="3733800"/>
          </a:xfrm>
          <a:prstGeom prst="rect">
            <a:avLst/>
          </a:prstGeom>
          <a:solidFill>
            <a:srgbClr val="FDC7C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5" name="TextBox 44">
            <a:extLst>
              <a:ext uri="{FF2B5EF4-FFF2-40B4-BE49-F238E27FC236}">
                <a16:creationId xmlns:a16="http://schemas.microsoft.com/office/drawing/2014/main" id="{67750C60-95B3-4EFB-B921-54301E394B9B}"/>
              </a:ext>
            </a:extLst>
          </p:cNvPr>
          <p:cNvSpPr txBox="1"/>
          <p:nvPr/>
        </p:nvSpPr>
        <p:spPr>
          <a:xfrm>
            <a:off x="698500" y="939800"/>
            <a:ext cx="2235200" cy="406400"/>
          </a:xfrm>
          <a:prstGeom prst="rect">
            <a:avLst/>
          </a:prstGeom>
          <a:noFill/>
        </p:spPr>
        <p:txBody>
          <a:bodyPr vertOverflow="overflow" vert="horz" wrap="square" rtlCol="0" anchor="t">
            <a:spAutoFit/>
          </a:bodyPr>
          <a:lstStyle/>
          <a:p>
            <a:pPr algn="l"/>
            <a:r>
              <a:rPr lang="tr-TR" sz="2000" b="1">
                <a:solidFill>
                  <a:srgbClr val="2D2D2D"/>
                </a:solidFill>
              </a:rPr>
              <a:t>Eray Gok</a:t>
            </a:r>
          </a:p>
        </p:txBody>
      </p:sp>
      <p:sp>
        <p:nvSpPr>
          <p:cNvPr id="46" name="TextBox 45">
            <a:extLst>
              <a:ext uri="{FF2B5EF4-FFF2-40B4-BE49-F238E27FC236}">
                <a16:creationId xmlns:a16="http://schemas.microsoft.com/office/drawing/2014/main" id="{8833CAE1-4F15-43ED-96D3-5621B8DAD63F}"/>
              </a:ext>
            </a:extLst>
          </p:cNvPr>
          <p:cNvSpPr txBox="1"/>
          <p:nvPr/>
        </p:nvSpPr>
        <p:spPr>
          <a:xfrm>
            <a:off x="698500" y="1346200"/>
            <a:ext cx="2235200" cy="279400"/>
          </a:xfrm>
          <a:prstGeom prst="rect">
            <a:avLst/>
          </a:prstGeom>
          <a:noFill/>
        </p:spPr>
        <p:txBody>
          <a:bodyPr vertOverflow="overflow" vert="horz" wrap="square" rtlCol="0" anchor="t">
            <a:spAutoFit/>
          </a:bodyPr>
          <a:lstStyle/>
          <a:p>
            <a:pPr algn="l"/>
            <a:r>
              <a:rPr lang="tr-TR" sz="1400">
                <a:solidFill>
                  <a:srgbClr val="BF360C"/>
                </a:solidFill>
              </a:rPr>
              <a:t>BACKEND</a:t>
            </a:r>
          </a:p>
        </p:txBody>
      </p:sp>
      <p:sp>
        <p:nvSpPr>
          <p:cNvPr id="47" name="TextBox 46">
            <a:extLst>
              <a:ext uri="{FF2B5EF4-FFF2-40B4-BE49-F238E27FC236}">
                <a16:creationId xmlns:a16="http://schemas.microsoft.com/office/drawing/2014/main" id="{CF230647-1C5F-4FFA-B2B6-2693513C2EAA}"/>
              </a:ext>
            </a:extLst>
          </p:cNvPr>
          <p:cNvSpPr txBox="1"/>
          <p:nvPr/>
        </p:nvSpPr>
        <p:spPr>
          <a:xfrm>
            <a:off x="698500" y="1625600"/>
            <a:ext cx="2235200" cy="254000"/>
          </a:xfrm>
          <a:prstGeom prst="rect">
            <a:avLst/>
          </a:prstGeom>
          <a:noFill/>
        </p:spPr>
        <p:txBody>
          <a:bodyPr vertOverflow="overflow" vert="horz" wrap="square" rtlCol="0" anchor="t">
            <a:spAutoFit/>
          </a:bodyPr>
          <a:lstStyle/>
          <a:p>
            <a:pPr algn="l"/>
            <a:r>
              <a:rPr lang="tr-TR" sz="1400" dirty="0">
                <a:solidFill>
                  <a:srgbClr val="888888"/>
                </a:solidFill>
              </a:rPr>
              <a:t>feature/veri-yonetim</a:t>
            </a:r>
          </a:p>
        </p:txBody>
      </p:sp>
      <p:sp>
        <p:nvSpPr>
          <p:cNvPr id="48" name="Rectangle 47">
            <a:extLst>
              <a:ext uri="{FF2B5EF4-FFF2-40B4-BE49-F238E27FC236}">
                <a16:creationId xmlns:a16="http://schemas.microsoft.com/office/drawing/2014/main" id="{29F4D000-2458-4971-BF91-99A389C10857}"/>
              </a:ext>
            </a:extLst>
          </p:cNvPr>
          <p:cNvSpPr/>
          <p:nvPr/>
        </p:nvSpPr>
        <p:spPr>
          <a:xfrm>
            <a:off x="698500" y="1930400"/>
            <a:ext cx="2032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9" name="TextBox 48">
            <a:extLst>
              <a:ext uri="{FF2B5EF4-FFF2-40B4-BE49-F238E27FC236}">
                <a16:creationId xmlns:a16="http://schemas.microsoft.com/office/drawing/2014/main" id="{208CEAF2-3975-4A90-A543-565C709981C5}"/>
              </a:ext>
            </a:extLst>
          </p:cNvPr>
          <p:cNvSpPr txBox="1"/>
          <p:nvPr/>
        </p:nvSpPr>
        <p:spPr>
          <a:xfrm>
            <a:off x="698500" y="1993900"/>
            <a:ext cx="2235200" cy="254000"/>
          </a:xfrm>
          <a:prstGeom prst="rect">
            <a:avLst/>
          </a:prstGeom>
          <a:noFill/>
        </p:spPr>
        <p:txBody>
          <a:bodyPr vertOverflow="overflow" vert="horz" wrap="square" rtlCol="0" anchor="t">
            <a:spAutoFit/>
          </a:bodyPr>
          <a:lstStyle/>
          <a:p>
            <a:pPr algn="l"/>
            <a:r>
              <a:rPr lang="tr-TR" sz="1400" b="1">
                <a:solidFill>
                  <a:srgbClr val="666666"/>
                </a:solidFill>
              </a:rPr>
              <a:t>Üstlendiği Bölümler:</a:t>
            </a:r>
          </a:p>
        </p:txBody>
      </p:sp>
      <p:sp>
        <p:nvSpPr>
          <p:cNvPr id="50" name="TextBox 49">
            <a:extLst>
              <a:ext uri="{FF2B5EF4-FFF2-40B4-BE49-F238E27FC236}">
                <a16:creationId xmlns:a16="http://schemas.microsoft.com/office/drawing/2014/main" id="{73DF64CC-EA9A-4FC4-86FF-B88F4D260622}"/>
              </a:ext>
            </a:extLst>
          </p:cNvPr>
          <p:cNvSpPr txBox="1"/>
          <p:nvPr/>
        </p:nvSpPr>
        <p:spPr>
          <a:xfrm>
            <a:off x="762000" y="2273300"/>
            <a:ext cx="2171700" cy="254000"/>
          </a:xfrm>
          <a:prstGeom prst="rect">
            <a:avLst/>
          </a:prstGeom>
          <a:noFill/>
        </p:spPr>
        <p:txBody>
          <a:bodyPr vertOverflow="overflow" vert="horz" wrap="square" rtlCol="0" anchor="t">
            <a:spAutoFit/>
          </a:bodyPr>
          <a:lstStyle/>
          <a:p>
            <a:pPr algn="l"/>
            <a:r>
              <a:rPr lang="tr-TR" sz="1400">
                <a:solidFill>
                  <a:srgbClr val="444444"/>
                </a:solidFill>
              </a:rPr>
              <a:t>Araç listesi veri yapısı</a:t>
            </a:r>
          </a:p>
        </p:txBody>
      </p:sp>
      <p:sp>
        <p:nvSpPr>
          <p:cNvPr id="51" name="TextBox 50">
            <a:extLst>
              <a:ext uri="{FF2B5EF4-FFF2-40B4-BE49-F238E27FC236}">
                <a16:creationId xmlns:a16="http://schemas.microsoft.com/office/drawing/2014/main" id="{05AEC79E-137C-4E69-901F-72D2026E2048}"/>
              </a:ext>
            </a:extLst>
          </p:cNvPr>
          <p:cNvSpPr txBox="1"/>
          <p:nvPr/>
        </p:nvSpPr>
        <p:spPr>
          <a:xfrm>
            <a:off x="762000" y="2552700"/>
            <a:ext cx="2171700" cy="254000"/>
          </a:xfrm>
          <a:prstGeom prst="rect">
            <a:avLst/>
          </a:prstGeom>
          <a:noFill/>
        </p:spPr>
        <p:txBody>
          <a:bodyPr vertOverflow="overflow" vert="horz" wrap="square" rtlCol="0" anchor="t">
            <a:spAutoFit/>
          </a:bodyPr>
          <a:lstStyle/>
          <a:p>
            <a:pPr algn="l"/>
            <a:r>
              <a:rPr lang="tr-TR" sz="1400">
                <a:solidFill>
                  <a:srgbClr val="444444"/>
                </a:solidFill>
              </a:rPr>
              <a:t>Müşteri arama ağacı</a:t>
            </a:r>
          </a:p>
        </p:txBody>
      </p:sp>
      <p:sp>
        <p:nvSpPr>
          <p:cNvPr id="52" name="TextBox 51">
            <a:extLst>
              <a:ext uri="{FF2B5EF4-FFF2-40B4-BE49-F238E27FC236}">
                <a16:creationId xmlns:a16="http://schemas.microsoft.com/office/drawing/2014/main" id="{8E8F4504-9170-4A84-8BA6-6C0A5195A821}"/>
              </a:ext>
            </a:extLst>
          </p:cNvPr>
          <p:cNvSpPr txBox="1"/>
          <p:nvPr/>
        </p:nvSpPr>
        <p:spPr>
          <a:xfrm>
            <a:off x="762000" y="2832100"/>
            <a:ext cx="2171700" cy="254000"/>
          </a:xfrm>
          <a:prstGeom prst="rect">
            <a:avLst/>
          </a:prstGeom>
          <a:noFill/>
        </p:spPr>
        <p:txBody>
          <a:bodyPr vertOverflow="overflow" vert="horz" wrap="square" rtlCol="0" anchor="t">
            <a:spAutoFit/>
          </a:bodyPr>
          <a:lstStyle/>
          <a:p>
            <a:pPr algn="l"/>
            <a:r>
              <a:rPr lang="tr-TR" sz="1400">
                <a:solidFill>
                  <a:srgbClr val="444444"/>
                </a:solidFill>
              </a:rPr>
              <a:t>Araç yönetim merkezi</a:t>
            </a:r>
          </a:p>
        </p:txBody>
      </p:sp>
      <p:sp>
        <p:nvSpPr>
          <p:cNvPr id="53" name="TextBox 52">
            <a:extLst>
              <a:ext uri="{FF2B5EF4-FFF2-40B4-BE49-F238E27FC236}">
                <a16:creationId xmlns:a16="http://schemas.microsoft.com/office/drawing/2014/main" id="{8960D39A-F453-48D8-921C-4D15B2403610}"/>
              </a:ext>
            </a:extLst>
          </p:cNvPr>
          <p:cNvSpPr txBox="1"/>
          <p:nvPr/>
        </p:nvSpPr>
        <p:spPr>
          <a:xfrm>
            <a:off x="762000" y="3111500"/>
            <a:ext cx="2171700" cy="254000"/>
          </a:xfrm>
          <a:prstGeom prst="rect">
            <a:avLst/>
          </a:prstGeom>
          <a:noFill/>
        </p:spPr>
        <p:txBody>
          <a:bodyPr vertOverflow="overflow" vert="horz" wrap="square" rtlCol="0" anchor="t">
            <a:spAutoFit/>
          </a:bodyPr>
          <a:lstStyle/>
          <a:p>
            <a:pPr algn="l"/>
            <a:r>
              <a:rPr lang="tr-TR" sz="1400">
                <a:solidFill>
                  <a:srgbClr val="444444"/>
                </a:solidFill>
              </a:rPr>
              <a:t>Müşteri yönetim merkezi</a:t>
            </a:r>
          </a:p>
        </p:txBody>
      </p:sp>
      <p:sp>
        <p:nvSpPr>
          <p:cNvPr id="54" name="TextBox 53">
            <a:extLst>
              <a:ext uri="{FF2B5EF4-FFF2-40B4-BE49-F238E27FC236}">
                <a16:creationId xmlns:a16="http://schemas.microsoft.com/office/drawing/2014/main" id="{D0AE900E-C455-474D-A2F3-3C01E0750212}"/>
              </a:ext>
            </a:extLst>
          </p:cNvPr>
          <p:cNvSpPr txBox="1"/>
          <p:nvPr/>
        </p:nvSpPr>
        <p:spPr>
          <a:xfrm>
            <a:off x="762000" y="3534664"/>
            <a:ext cx="2171700" cy="254000"/>
          </a:xfrm>
          <a:prstGeom prst="rect">
            <a:avLst/>
          </a:prstGeom>
          <a:noFill/>
        </p:spPr>
        <p:txBody>
          <a:bodyPr vertOverflow="overflow" vert="horz" wrap="square" rtlCol="0" anchor="t">
            <a:spAutoFit/>
          </a:bodyPr>
          <a:lstStyle/>
          <a:p>
            <a:pPr algn="l"/>
            <a:r>
              <a:rPr lang="tr-TR" sz="1400" dirty="0">
                <a:solidFill>
                  <a:srgbClr val="444444"/>
                </a:solidFill>
              </a:rPr>
              <a:t>• Test sinifi</a:t>
            </a:r>
          </a:p>
        </p:txBody>
      </p:sp>
      <p:sp>
        <p:nvSpPr>
          <p:cNvPr id="55" name="Rectangle 54">
            <a:extLst>
              <a:ext uri="{FF2B5EF4-FFF2-40B4-BE49-F238E27FC236}">
                <a16:creationId xmlns:a16="http://schemas.microsoft.com/office/drawing/2014/main" id="{DE4410F4-AB3F-4932-B64C-E8AA30B1E382}"/>
              </a:ext>
            </a:extLst>
          </p:cNvPr>
          <p:cNvSpPr/>
          <p:nvPr/>
        </p:nvSpPr>
        <p:spPr>
          <a:xfrm>
            <a:off x="3175000" y="863600"/>
            <a:ext cx="5359400" cy="37338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6" name="Rectangle 55">
            <a:extLst>
              <a:ext uri="{FF2B5EF4-FFF2-40B4-BE49-F238E27FC236}">
                <a16:creationId xmlns:a16="http://schemas.microsoft.com/office/drawing/2014/main" id="{3C0B540B-2733-459C-953A-3B161FA3250F}"/>
              </a:ext>
            </a:extLst>
          </p:cNvPr>
          <p:cNvSpPr/>
          <p:nvPr/>
        </p:nvSpPr>
        <p:spPr>
          <a:xfrm>
            <a:off x="3175000" y="863600"/>
            <a:ext cx="5359400" cy="330200"/>
          </a:xfrm>
          <a:prstGeom prst="rect">
            <a:avLst/>
          </a:prstGeom>
          <a:solidFill>
            <a:srgbClr val="BF360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7" name="TextBox 56">
            <a:extLst>
              <a:ext uri="{FF2B5EF4-FFF2-40B4-BE49-F238E27FC236}">
                <a16:creationId xmlns:a16="http://schemas.microsoft.com/office/drawing/2014/main" id="{5C73894F-56B3-42F2-84EC-440791C04567}"/>
              </a:ext>
            </a:extLst>
          </p:cNvPr>
          <p:cNvSpPr txBox="1"/>
          <p:nvPr/>
        </p:nvSpPr>
        <p:spPr>
          <a:xfrm>
            <a:off x="3251200" y="889000"/>
            <a:ext cx="5207000" cy="279400"/>
          </a:xfrm>
          <a:prstGeom prst="rect">
            <a:avLst/>
          </a:prstGeom>
          <a:noFill/>
        </p:spPr>
        <p:txBody>
          <a:bodyPr vertOverflow="overflow" vert="horz" wrap="square" rtlCol="0" anchor="t">
            <a:spAutoFit/>
          </a:bodyPr>
          <a:lstStyle/>
          <a:p>
            <a:pPr algn="l"/>
            <a:r>
              <a:rPr lang="tr-TR" sz="1600" b="1">
                <a:solidFill>
                  <a:srgbClr val="FFFFFF"/>
                </a:solidFill>
              </a:rPr>
              <a:t>Gorev Tanimi</a:t>
            </a:r>
          </a:p>
        </p:txBody>
      </p:sp>
      <p:sp>
        <p:nvSpPr>
          <p:cNvPr id="58" name="TextBox 57">
            <a:extLst>
              <a:ext uri="{FF2B5EF4-FFF2-40B4-BE49-F238E27FC236}">
                <a16:creationId xmlns:a16="http://schemas.microsoft.com/office/drawing/2014/main" id="{A9806EB5-3F7A-4646-A8F9-E87130ACFC34}"/>
              </a:ext>
            </a:extLst>
          </p:cNvPr>
          <p:cNvSpPr txBox="1"/>
          <p:nvPr/>
        </p:nvSpPr>
        <p:spPr>
          <a:xfrm>
            <a:off x="3251200" y="1244600"/>
            <a:ext cx="5207000" cy="660400"/>
          </a:xfrm>
          <a:prstGeom prst="rect">
            <a:avLst/>
          </a:prstGeom>
          <a:noFill/>
        </p:spPr>
        <p:txBody>
          <a:bodyPr vertOverflow="overflow" vert="horz" wrap="square" rtlCol="0" anchor="t">
            <a:spAutoFit/>
          </a:bodyPr>
          <a:lstStyle/>
          <a:p>
            <a:pPr algn="l"/>
            <a:r>
              <a:rPr lang="tr-TR" sz="1400">
                <a:solidFill>
                  <a:srgbClr val="333333"/>
                </a:solidFill>
              </a:rPr>
              <a:t>Projenin tüm veri depolama ve yönetim altyapısını kurar. Araç listesi ve müşteri kayıtları için özel veri yapıları yazar. Tüm modüllere veri hizmeti sağlayan merkezi yönetim katmanını oluşturur.</a:t>
            </a:r>
          </a:p>
        </p:txBody>
      </p:sp>
      <p:sp>
        <p:nvSpPr>
          <p:cNvPr id="59" name="Rectangle 58">
            <a:extLst>
              <a:ext uri="{FF2B5EF4-FFF2-40B4-BE49-F238E27FC236}">
                <a16:creationId xmlns:a16="http://schemas.microsoft.com/office/drawing/2014/main" id="{9E99F0C4-12F8-451A-B8AB-4588887E56D3}"/>
              </a:ext>
            </a:extLst>
          </p:cNvPr>
          <p:cNvSpPr/>
          <p:nvPr/>
        </p:nvSpPr>
        <p:spPr>
          <a:xfrm>
            <a:off x="3175000" y="1943100"/>
            <a:ext cx="5359400" cy="279400"/>
          </a:xfrm>
          <a:prstGeom prst="rect">
            <a:avLst/>
          </a:prstGeom>
          <a:solidFill>
            <a:srgbClr val="F0F0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60" name="TextBox 59">
            <a:extLst>
              <a:ext uri="{FF2B5EF4-FFF2-40B4-BE49-F238E27FC236}">
                <a16:creationId xmlns:a16="http://schemas.microsoft.com/office/drawing/2014/main" id="{B10D6794-B315-4CF3-BD06-4F5E9543F133}"/>
              </a:ext>
            </a:extLst>
          </p:cNvPr>
          <p:cNvSpPr txBox="1"/>
          <p:nvPr/>
        </p:nvSpPr>
        <p:spPr>
          <a:xfrm>
            <a:off x="3251200" y="1968500"/>
            <a:ext cx="5207000" cy="323165"/>
          </a:xfrm>
          <a:prstGeom prst="rect">
            <a:avLst/>
          </a:prstGeom>
          <a:noFill/>
        </p:spPr>
        <p:txBody>
          <a:bodyPr vertOverflow="overflow" vert="horz" wrap="square" rtlCol="0" anchor="t">
            <a:spAutoFit/>
          </a:bodyPr>
          <a:lstStyle/>
          <a:p>
            <a:pPr algn="l"/>
            <a:r>
              <a:rPr lang="tr-TR" sz="1500" b="1" dirty="0">
                <a:solidFill>
                  <a:srgbClr val="2D2D2D"/>
                </a:solidFill>
              </a:rPr>
              <a:t>Ne Yapılacak?</a:t>
            </a:r>
          </a:p>
        </p:txBody>
      </p:sp>
      <p:sp>
        <p:nvSpPr>
          <p:cNvPr id="61" name="TextBox 60">
            <a:extLst>
              <a:ext uri="{FF2B5EF4-FFF2-40B4-BE49-F238E27FC236}">
                <a16:creationId xmlns:a16="http://schemas.microsoft.com/office/drawing/2014/main" id="{A25ABFC9-4F79-4A50-B540-4B8017A2FDDD}"/>
              </a:ext>
            </a:extLst>
          </p:cNvPr>
          <p:cNvSpPr txBox="1"/>
          <p:nvPr/>
        </p:nvSpPr>
        <p:spPr>
          <a:xfrm>
            <a:off x="3251200" y="2273300"/>
            <a:ext cx="5207000" cy="276999"/>
          </a:xfrm>
          <a:prstGeom prst="rect">
            <a:avLst/>
          </a:prstGeom>
          <a:noFill/>
        </p:spPr>
        <p:txBody>
          <a:bodyPr vertOverflow="overflow" vert="horz" wrap="square" rtlCol="0" anchor="t">
            <a:spAutoFit/>
          </a:bodyPr>
          <a:lstStyle/>
          <a:p>
            <a:pPr marL="228600" indent="-228600">
              <a:buFont typeface="Arial"/>
              <a:buChar char="•"/>
            </a:pPr>
            <a:r>
              <a:rPr lang="tr-TR" sz="1200" dirty="0">
                <a:solidFill>
                  <a:srgbClr val="333333"/>
                </a:solidFill>
                <a:latin typeface="Calibri"/>
              </a:rPr>
              <a:t>Araç ve müşteri için temel veri yapısını oluştur</a:t>
            </a:r>
          </a:p>
        </p:txBody>
      </p:sp>
      <p:sp>
        <p:nvSpPr>
          <p:cNvPr id="62" name="TextBox 61">
            <a:extLst>
              <a:ext uri="{FF2B5EF4-FFF2-40B4-BE49-F238E27FC236}">
                <a16:creationId xmlns:a16="http://schemas.microsoft.com/office/drawing/2014/main" id="{2D2EEC2D-83A4-4E7B-9870-F2EA8F126A77}"/>
              </a:ext>
            </a:extLst>
          </p:cNvPr>
          <p:cNvSpPr txBox="1"/>
          <p:nvPr/>
        </p:nvSpPr>
        <p:spPr>
          <a:xfrm>
            <a:off x="3251200" y="2578100"/>
            <a:ext cx="5207000" cy="276999"/>
          </a:xfrm>
          <a:prstGeom prst="rect">
            <a:avLst/>
          </a:prstGeom>
          <a:noFill/>
        </p:spPr>
        <p:txBody>
          <a:bodyPr vertOverflow="overflow" vert="horz" wrap="square" rtlCol="0" anchor="t">
            <a:spAutoFit/>
          </a:bodyPr>
          <a:lstStyle/>
          <a:p>
            <a:pPr marL="171450" indent="-171450" algn="l">
              <a:buFont typeface="Arial" panose="020B0604020202020204" pitchFamily="34" charset="0"/>
              <a:buChar char="•"/>
            </a:pPr>
            <a:r>
              <a:rPr lang="tr-TR" sz="1200" dirty="0">
                <a:solidFill>
                  <a:srgbClr val="333333"/>
                </a:solidFill>
              </a:rPr>
              <a:t> Araç listesi ve müşteri ağacı temel fonksiyonlarını yaz</a:t>
            </a:r>
          </a:p>
        </p:txBody>
      </p:sp>
      <p:sp>
        <p:nvSpPr>
          <p:cNvPr id="63" name="TextBox 62">
            <a:extLst>
              <a:ext uri="{FF2B5EF4-FFF2-40B4-BE49-F238E27FC236}">
                <a16:creationId xmlns:a16="http://schemas.microsoft.com/office/drawing/2014/main" id="{C49DEDF6-0161-4ABF-B008-FC97675670B0}"/>
              </a:ext>
            </a:extLst>
          </p:cNvPr>
          <p:cNvSpPr txBox="1"/>
          <p:nvPr/>
        </p:nvSpPr>
        <p:spPr>
          <a:xfrm>
            <a:off x="3251200" y="2882900"/>
            <a:ext cx="5207000" cy="276999"/>
          </a:xfrm>
          <a:prstGeom prst="rect">
            <a:avLst/>
          </a:prstGeom>
          <a:noFill/>
        </p:spPr>
        <p:txBody>
          <a:bodyPr vertOverflow="overflow" vert="horz" wrap="square" rtlCol="0" anchor="t">
            <a:spAutoFit/>
          </a:bodyPr>
          <a:lstStyle/>
          <a:p>
            <a:pPr marL="228600" indent="-228600">
              <a:buFont typeface="Arial"/>
              <a:buChar char="•"/>
            </a:pPr>
            <a:r>
              <a:rPr lang="tr-TR" sz="1200" dirty="0">
                <a:solidFill>
                  <a:srgbClr val="333333"/>
                </a:solidFill>
                <a:latin typeface="Calibri"/>
              </a:rPr>
              <a:t>Araç listesine arama, sıralama ve filtreleme ekle</a:t>
            </a:r>
          </a:p>
        </p:txBody>
      </p:sp>
      <p:sp>
        <p:nvSpPr>
          <p:cNvPr id="64" name="TextBox 63">
            <a:extLst>
              <a:ext uri="{FF2B5EF4-FFF2-40B4-BE49-F238E27FC236}">
                <a16:creationId xmlns:a16="http://schemas.microsoft.com/office/drawing/2014/main" id="{06ADE2AA-690C-4E95-892F-CDF91E3DE06E}"/>
              </a:ext>
            </a:extLst>
          </p:cNvPr>
          <p:cNvSpPr txBox="1"/>
          <p:nvPr/>
        </p:nvSpPr>
        <p:spPr>
          <a:xfrm>
            <a:off x="3251200" y="3184183"/>
            <a:ext cx="5207000" cy="276999"/>
          </a:xfrm>
          <a:prstGeom prst="rect">
            <a:avLst/>
          </a:prstGeom>
          <a:noFill/>
        </p:spPr>
        <p:txBody>
          <a:bodyPr vertOverflow="overflow" vert="horz" wrap="square" rtlCol="0" anchor="t">
            <a:spAutoFit/>
          </a:bodyPr>
          <a:lstStyle/>
          <a:p>
            <a:pPr marL="228600" indent="-228600">
              <a:buFont typeface="Arial"/>
              <a:buChar char="•"/>
            </a:pPr>
            <a:r>
              <a:rPr lang="tr-TR" sz="1200" dirty="0">
                <a:solidFill>
                  <a:srgbClr val="333333"/>
                </a:solidFill>
                <a:latin typeface="Calibri"/>
              </a:rPr>
              <a:t>Veri yapılarını test et, sıralı listeleme ekle</a:t>
            </a:r>
          </a:p>
        </p:txBody>
      </p:sp>
      <p:sp>
        <p:nvSpPr>
          <p:cNvPr id="65" name="TextBox 64">
            <a:extLst>
              <a:ext uri="{FF2B5EF4-FFF2-40B4-BE49-F238E27FC236}">
                <a16:creationId xmlns:a16="http://schemas.microsoft.com/office/drawing/2014/main" id="{817D17D8-C16C-4780-AE74-BA44897A2856}"/>
              </a:ext>
            </a:extLst>
          </p:cNvPr>
          <p:cNvSpPr txBox="1"/>
          <p:nvPr/>
        </p:nvSpPr>
        <p:spPr>
          <a:xfrm>
            <a:off x="3251200" y="3492500"/>
            <a:ext cx="5207000" cy="292388"/>
          </a:xfrm>
          <a:prstGeom prst="rect">
            <a:avLst/>
          </a:prstGeom>
          <a:noFill/>
        </p:spPr>
        <p:txBody>
          <a:bodyPr vertOverflow="overflow" vert="horz" wrap="square" rtlCol="0" anchor="t">
            <a:spAutoFit/>
          </a:bodyPr>
          <a:lstStyle/>
          <a:p>
            <a:pPr algn="l"/>
            <a:r>
              <a:rPr lang="tr-TR" sz="1300" dirty="0">
                <a:solidFill>
                  <a:srgbClr val="333333"/>
                </a:solidFill>
              </a:rPr>
              <a:t>Araç yönetim merkezini tamamla: tüm işlemler + stok raporu</a:t>
            </a:r>
          </a:p>
        </p:txBody>
      </p:sp>
      <p:sp>
        <p:nvSpPr>
          <p:cNvPr id="66" name="TextBox 65">
            <a:extLst>
              <a:ext uri="{FF2B5EF4-FFF2-40B4-BE49-F238E27FC236}">
                <a16:creationId xmlns:a16="http://schemas.microsoft.com/office/drawing/2014/main" id="{F32DCF20-4023-4F68-8AF1-5BF7B99972D8}"/>
              </a:ext>
            </a:extLst>
          </p:cNvPr>
          <p:cNvSpPr txBox="1"/>
          <p:nvPr/>
        </p:nvSpPr>
        <p:spPr>
          <a:xfrm>
            <a:off x="3251200" y="3771900"/>
            <a:ext cx="5207000" cy="292388"/>
          </a:xfrm>
          <a:prstGeom prst="rect">
            <a:avLst/>
          </a:prstGeom>
          <a:noFill/>
        </p:spPr>
        <p:txBody>
          <a:bodyPr vertOverflow="overflow" vert="horz" wrap="square" rtlCol="0" anchor="t">
            <a:spAutoFit/>
          </a:bodyPr>
          <a:lstStyle/>
          <a:p>
            <a:pPr algn="l"/>
            <a:r>
              <a:rPr lang="tr-TR" sz="1300" dirty="0">
                <a:solidFill>
                  <a:srgbClr val="333333"/>
                </a:solidFill>
              </a:rPr>
              <a:t>Müşteri yönetim merkezini tamamla ve testleri yap</a:t>
            </a:r>
          </a:p>
        </p:txBody>
      </p:sp>
      <p:sp>
        <p:nvSpPr>
          <p:cNvPr id="67" name="Rectangle 66">
            <a:extLst>
              <a:ext uri="{FF2B5EF4-FFF2-40B4-BE49-F238E27FC236}">
                <a16:creationId xmlns:a16="http://schemas.microsoft.com/office/drawing/2014/main" id="{C9940364-3916-4DD9-8D7F-A55E8DD33350}"/>
              </a:ext>
            </a:extLst>
          </p:cNvPr>
          <p:cNvSpPr/>
          <p:nvPr/>
        </p:nvSpPr>
        <p:spPr>
          <a:xfrm>
            <a:off x="3175000" y="4127500"/>
            <a:ext cx="5359400" cy="279400"/>
          </a:xfrm>
          <a:prstGeom prst="rect">
            <a:avLst/>
          </a:prstGeom>
          <a:solidFill>
            <a:srgbClr val="F0F0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68" name="TextBox 67">
            <a:extLst>
              <a:ext uri="{FF2B5EF4-FFF2-40B4-BE49-F238E27FC236}">
                <a16:creationId xmlns:a16="http://schemas.microsoft.com/office/drawing/2014/main" id="{64F2D9F3-1D0B-4CAE-8789-77AC3C657F40}"/>
              </a:ext>
            </a:extLst>
          </p:cNvPr>
          <p:cNvSpPr txBox="1"/>
          <p:nvPr/>
        </p:nvSpPr>
        <p:spPr>
          <a:xfrm>
            <a:off x="3251200" y="4152900"/>
            <a:ext cx="5207000" cy="254000"/>
          </a:xfrm>
          <a:prstGeom prst="rect">
            <a:avLst/>
          </a:prstGeom>
          <a:noFill/>
        </p:spPr>
        <p:txBody>
          <a:bodyPr vertOverflow="overflow" vert="horz" wrap="square" rtlCol="0" anchor="t">
            <a:spAutoFit/>
          </a:bodyPr>
          <a:lstStyle/>
          <a:p>
            <a:pPr algn="l"/>
            <a:r>
              <a:rPr lang="tr-TR" sz="1500" b="1">
                <a:solidFill>
                  <a:srgbClr val="2D2D2D"/>
                </a:solidFill>
              </a:rPr>
              <a:t>Temel Mantik</a:t>
            </a:r>
          </a:p>
        </p:txBody>
      </p:sp>
      <p:sp>
        <p:nvSpPr>
          <p:cNvPr id="69" name="TextBox 68">
            <a:extLst>
              <a:ext uri="{FF2B5EF4-FFF2-40B4-BE49-F238E27FC236}">
                <a16:creationId xmlns:a16="http://schemas.microsoft.com/office/drawing/2014/main" id="{7125B4A2-DB55-45E0-9C52-BD8501ACA5AC}"/>
              </a:ext>
            </a:extLst>
          </p:cNvPr>
          <p:cNvSpPr txBox="1"/>
          <p:nvPr/>
        </p:nvSpPr>
        <p:spPr>
          <a:xfrm>
            <a:off x="3251200" y="4432300"/>
            <a:ext cx="5207000" cy="276999"/>
          </a:xfrm>
          <a:prstGeom prst="rect">
            <a:avLst/>
          </a:prstGeom>
          <a:noFill/>
        </p:spPr>
        <p:txBody>
          <a:bodyPr vertOverflow="overflow" vert="horz" wrap="square" rtlCol="0" anchor="t">
            <a:spAutoFit/>
          </a:bodyPr>
          <a:lstStyle/>
          <a:p>
            <a:pPr marL="228600" indent="-228600">
              <a:buFont typeface="Arial"/>
              <a:buChar char="•"/>
            </a:pPr>
            <a:r>
              <a:rPr lang="tr-TR" sz="1200" dirty="0">
                <a:solidFill>
                  <a:srgbClr val="555555"/>
                </a:solidFill>
                <a:latin typeface="Calibri"/>
              </a:rPr>
              <a:t>Araç ve müşteri için temel veri yapısını oluştur</a:t>
            </a:r>
          </a:p>
        </p:txBody>
      </p:sp>
    </p:spTree>
    <p:extLst>
      <p:ext uri="{BB962C8B-B14F-4D97-AF65-F5344CB8AC3E}">
        <p14:creationId xmlns:p14="http://schemas.microsoft.com/office/powerpoint/2010/main" val="165770473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Tamamlanan Çalışmalar — Gereksinimler</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1005840"/>
            <a:ext cx="3840480" cy="1645920"/>
          </a:xfrm>
          <a:prstGeom prst="rect">
            <a:avLst/>
          </a:prstGeom>
          <a:solidFill>
            <a:srgbClr val="FFF3E8"/>
          </a:solidFill>
          <a:ln/>
          <a:effectLst>
            <a:outerShdw blurRad="50800" dist="25400" dir="8100000" algn="bl" rotWithShape="0">
              <a:srgbClr val="000000">
                <a:alpha val="10000"/>
              </a:srgbClr>
            </a:outerShdw>
          </a:effectLst>
        </p:spPr>
        <p:txBody>
          <a:bodyPr/>
          <a:lstStyle/>
          <a:p>
            <a:endParaRPr lang="tr-TR"/>
          </a:p>
        </p:txBody>
      </p:sp>
      <p:sp>
        <p:nvSpPr>
          <p:cNvPr id="8" name="Text 5"/>
          <p:cNvSpPr/>
          <p:nvPr/>
        </p:nvSpPr>
        <p:spPr>
          <a:xfrm>
            <a:off x="731520" y="1097280"/>
            <a:ext cx="3291840" cy="320040"/>
          </a:xfrm>
          <a:prstGeom prst="rect">
            <a:avLst/>
          </a:prstGeom>
          <a:noFill/>
          <a:ln/>
        </p:spPr>
        <p:txBody>
          <a:bodyPr wrap="square" lIns="0" tIns="0" rIns="0" bIns="0" rtlCol="0" anchor="ctr"/>
          <a:lstStyle/>
          <a:p>
            <a:pPr marL="0" indent="0">
              <a:buNone/>
            </a:pPr>
            <a:r>
              <a:rPr lang="en-US" sz="1600" b="1" dirty="0">
                <a:solidFill>
                  <a:srgbClr val="2D2D2D"/>
                </a:solidFill>
                <a:latin typeface="Trebuchet MS" pitchFamily="34" charset="0"/>
                <a:ea typeface="Trebuchet MS" pitchFamily="34" charset="-122"/>
                <a:cs typeface="Trebuchet MS" pitchFamily="34" charset="-120"/>
              </a:rPr>
              <a:t>IEEE 830 SRS Belgesi</a:t>
            </a:r>
            <a:endParaRPr lang="en-US" sz="1600" dirty="0"/>
          </a:p>
        </p:txBody>
      </p:sp>
      <p:sp>
        <p:nvSpPr>
          <p:cNvPr id="9" name="Text 6"/>
          <p:cNvSpPr/>
          <p:nvPr/>
        </p:nvSpPr>
        <p:spPr>
          <a:xfrm>
            <a:off x="731520" y="1463040"/>
            <a:ext cx="1371600" cy="731520"/>
          </a:xfrm>
          <a:prstGeom prst="rect">
            <a:avLst/>
          </a:prstGeom>
          <a:noFill/>
          <a:ln/>
        </p:spPr>
        <p:txBody>
          <a:bodyPr wrap="square" lIns="0" tIns="0" rIns="0" bIns="0" rtlCol="0" anchor="ctr"/>
          <a:lstStyle/>
          <a:p>
            <a:pPr marL="0" indent="0">
              <a:buNone/>
            </a:pPr>
            <a:r>
              <a:rPr lang="en-US" sz="4800" b="1" dirty="0">
                <a:solidFill>
                  <a:srgbClr val="E87722"/>
                </a:solidFill>
                <a:latin typeface="Trebuchet MS" pitchFamily="34" charset="0"/>
                <a:ea typeface="Trebuchet MS" pitchFamily="34" charset="-122"/>
                <a:cs typeface="Trebuchet MS" pitchFamily="34" charset="-120"/>
              </a:rPr>
              <a:t>43+</a:t>
            </a:r>
            <a:endParaRPr lang="en-US" sz="4800" dirty="0"/>
          </a:p>
        </p:txBody>
      </p:sp>
      <p:sp>
        <p:nvSpPr>
          <p:cNvPr id="10" name="Text 7"/>
          <p:cNvSpPr/>
          <p:nvPr/>
        </p:nvSpPr>
        <p:spPr>
          <a:xfrm>
            <a:off x="2103120" y="1737360"/>
            <a:ext cx="1371600" cy="365760"/>
          </a:xfrm>
          <a:prstGeom prst="rect">
            <a:avLst/>
          </a:prstGeom>
          <a:noFill/>
          <a:ln/>
        </p:spPr>
        <p:txBody>
          <a:bodyPr wrap="square" lIns="0" tIns="0" rIns="0" bIns="0" rtlCol="0" anchor="ctr"/>
          <a:lstStyle/>
          <a:p>
            <a:pPr marL="0" indent="0">
              <a:buNone/>
            </a:pPr>
            <a:r>
              <a:rPr lang="en-US" sz="1400" dirty="0">
                <a:solidFill>
                  <a:srgbClr val="666666"/>
                </a:solidFill>
                <a:latin typeface="Calibri" pitchFamily="34" charset="0"/>
                <a:ea typeface="Calibri" pitchFamily="34" charset="-122"/>
                <a:cs typeface="Calibri" pitchFamily="34" charset="-120"/>
              </a:rPr>
              <a:t>sayfa</a:t>
            </a:r>
            <a:endParaRPr lang="en-US" sz="1400" dirty="0"/>
          </a:p>
        </p:txBody>
      </p:sp>
      <p:sp>
        <p:nvSpPr>
          <p:cNvPr id="11" name="Shape 8"/>
          <p:cNvSpPr/>
          <p:nvPr/>
        </p:nvSpPr>
        <p:spPr>
          <a:xfrm>
            <a:off x="4754880" y="1005840"/>
            <a:ext cx="3931920" cy="10058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2" name="Text 9"/>
          <p:cNvSpPr/>
          <p:nvPr/>
        </p:nvSpPr>
        <p:spPr>
          <a:xfrm>
            <a:off x="4937760" y="1097280"/>
            <a:ext cx="914400" cy="548640"/>
          </a:xfrm>
          <a:prstGeom prst="rect">
            <a:avLst/>
          </a:prstGeom>
          <a:noFill/>
          <a:ln/>
        </p:spPr>
        <p:txBody>
          <a:bodyPr wrap="square" lIns="0" tIns="0" rIns="0" bIns="0" rtlCol="0" anchor="ctr"/>
          <a:lstStyle/>
          <a:p>
            <a:pPr marL="0" indent="0" algn="ctr">
              <a:buNone/>
            </a:pPr>
            <a:r>
              <a:rPr lang="en-US" sz="3200" b="1" dirty="0">
                <a:solidFill>
                  <a:srgbClr val="E87722"/>
                </a:solidFill>
                <a:latin typeface="Trebuchet MS" pitchFamily="34" charset="0"/>
                <a:ea typeface="Trebuchet MS" pitchFamily="34" charset="-122"/>
                <a:cs typeface="Trebuchet MS" pitchFamily="34" charset="-120"/>
              </a:rPr>
              <a:t>24</a:t>
            </a:r>
            <a:endParaRPr lang="en-US" sz="3200" dirty="0"/>
          </a:p>
        </p:txBody>
      </p:sp>
      <p:sp>
        <p:nvSpPr>
          <p:cNvPr id="13" name="Text 10"/>
          <p:cNvSpPr/>
          <p:nvPr/>
        </p:nvSpPr>
        <p:spPr>
          <a:xfrm>
            <a:off x="5943600" y="1097280"/>
            <a:ext cx="2560320" cy="32004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Fonksiyonel Gereksinim</a:t>
            </a:r>
            <a:endParaRPr lang="en-US" sz="1400" dirty="0"/>
          </a:p>
        </p:txBody>
      </p:sp>
      <p:sp>
        <p:nvSpPr>
          <p:cNvPr id="14" name="Text 11"/>
          <p:cNvSpPr/>
          <p:nvPr/>
        </p:nvSpPr>
        <p:spPr>
          <a:xfrm>
            <a:off x="5943600" y="1463040"/>
            <a:ext cx="2560320" cy="2743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FR-101 → FR-604</a:t>
            </a:r>
            <a:endParaRPr lang="en-US" sz="1100" dirty="0"/>
          </a:p>
        </p:txBody>
      </p:sp>
      <p:sp>
        <p:nvSpPr>
          <p:cNvPr id="15" name="Shape 12"/>
          <p:cNvSpPr/>
          <p:nvPr/>
        </p:nvSpPr>
        <p:spPr>
          <a:xfrm>
            <a:off x="4754880" y="2240280"/>
            <a:ext cx="3931920" cy="10058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6" name="Text 13"/>
          <p:cNvSpPr/>
          <p:nvPr/>
        </p:nvSpPr>
        <p:spPr>
          <a:xfrm>
            <a:off x="4937760" y="2331720"/>
            <a:ext cx="914400" cy="548640"/>
          </a:xfrm>
          <a:prstGeom prst="rect">
            <a:avLst/>
          </a:prstGeom>
          <a:noFill/>
          <a:ln/>
        </p:spPr>
        <p:txBody>
          <a:bodyPr wrap="square" lIns="0" tIns="0" rIns="0" bIns="0" rtlCol="0" anchor="ctr"/>
          <a:lstStyle/>
          <a:p>
            <a:pPr marL="0" indent="0" algn="ctr">
              <a:buNone/>
            </a:pPr>
            <a:r>
              <a:rPr lang="en-US" sz="3200" b="1" dirty="0">
                <a:solidFill>
                  <a:srgbClr val="E87722"/>
                </a:solidFill>
                <a:latin typeface="Trebuchet MS" pitchFamily="34" charset="0"/>
                <a:ea typeface="Trebuchet MS" pitchFamily="34" charset="-122"/>
                <a:cs typeface="Trebuchet MS" pitchFamily="34" charset="-120"/>
              </a:rPr>
              <a:t>6</a:t>
            </a:r>
            <a:endParaRPr lang="en-US" sz="3200" dirty="0"/>
          </a:p>
        </p:txBody>
      </p:sp>
      <p:sp>
        <p:nvSpPr>
          <p:cNvPr id="17" name="Text 14"/>
          <p:cNvSpPr/>
          <p:nvPr/>
        </p:nvSpPr>
        <p:spPr>
          <a:xfrm>
            <a:off x="5943600" y="2331720"/>
            <a:ext cx="2560320" cy="32004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Fonksiyonel Olmayan</a:t>
            </a:r>
            <a:endParaRPr lang="en-US" sz="1400" dirty="0"/>
          </a:p>
        </p:txBody>
      </p:sp>
      <p:sp>
        <p:nvSpPr>
          <p:cNvPr id="18" name="Text 15"/>
          <p:cNvSpPr/>
          <p:nvPr/>
        </p:nvSpPr>
        <p:spPr>
          <a:xfrm>
            <a:off x="5943600" y="2697480"/>
            <a:ext cx="2560320" cy="2743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Performans, Güvenlik, ...</a:t>
            </a:r>
            <a:endParaRPr lang="en-US" sz="1100" dirty="0"/>
          </a:p>
        </p:txBody>
      </p:sp>
      <p:sp>
        <p:nvSpPr>
          <p:cNvPr id="19" name="Shape 16"/>
          <p:cNvSpPr/>
          <p:nvPr/>
        </p:nvSpPr>
        <p:spPr>
          <a:xfrm>
            <a:off x="4754880" y="3474720"/>
            <a:ext cx="3931920" cy="10058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0" name="Text 17"/>
          <p:cNvSpPr/>
          <p:nvPr/>
        </p:nvSpPr>
        <p:spPr>
          <a:xfrm>
            <a:off x="4937760" y="3566160"/>
            <a:ext cx="914400" cy="548640"/>
          </a:xfrm>
          <a:prstGeom prst="rect">
            <a:avLst/>
          </a:prstGeom>
          <a:noFill/>
          <a:ln/>
        </p:spPr>
        <p:txBody>
          <a:bodyPr wrap="square" lIns="0" tIns="0" rIns="0" bIns="0" rtlCol="0" anchor="ctr"/>
          <a:lstStyle/>
          <a:p>
            <a:pPr marL="0" indent="0" algn="ctr">
              <a:buNone/>
            </a:pPr>
            <a:r>
              <a:rPr lang="en-US" sz="3200" b="1" dirty="0">
                <a:solidFill>
                  <a:srgbClr val="E87722"/>
                </a:solidFill>
                <a:latin typeface="Trebuchet MS" pitchFamily="34" charset="0"/>
                <a:ea typeface="Trebuchet MS" pitchFamily="34" charset="-122"/>
                <a:cs typeface="Trebuchet MS" pitchFamily="34" charset="-120"/>
              </a:rPr>
              <a:t>✓</a:t>
            </a:r>
            <a:endParaRPr lang="en-US" sz="3200" dirty="0"/>
          </a:p>
        </p:txBody>
      </p:sp>
      <p:sp>
        <p:nvSpPr>
          <p:cNvPr id="21" name="Text 18"/>
          <p:cNvSpPr/>
          <p:nvPr/>
        </p:nvSpPr>
        <p:spPr>
          <a:xfrm>
            <a:off x="5943600" y="3566160"/>
            <a:ext cx="2560320" cy="32004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Sözde Gereksinimler</a:t>
            </a:r>
            <a:endParaRPr lang="en-US" sz="1400" dirty="0"/>
          </a:p>
        </p:txBody>
      </p:sp>
      <p:sp>
        <p:nvSpPr>
          <p:cNvPr id="22" name="Text 19"/>
          <p:cNvSpPr/>
          <p:nvPr/>
        </p:nvSpPr>
        <p:spPr>
          <a:xfrm>
            <a:off x="5943600" y="3931920"/>
            <a:ext cx="2560320" cy="2743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Tanımlandı</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Tamamlanan Çalışmalar — UML</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1005840"/>
            <a:ext cx="3200400" cy="3474720"/>
          </a:xfrm>
          <a:prstGeom prst="rect">
            <a:avLst/>
          </a:prstGeom>
          <a:solidFill>
            <a:srgbClr val="FFF3E8"/>
          </a:solidFill>
          <a:ln/>
          <a:effectLst>
            <a:outerShdw blurRad="50800" dist="25400" dir="8100000" algn="bl" rotWithShape="0">
              <a:srgbClr val="000000">
                <a:alpha val="10000"/>
              </a:srgbClr>
            </a:outerShdw>
          </a:effectLst>
        </p:spPr>
        <p:txBody>
          <a:bodyPr/>
          <a:lstStyle/>
          <a:p>
            <a:endParaRPr lang="tr-TR"/>
          </a:p>
        </p:txBody>
      </p:sp>
      <p:sp>
        <p:nvSpPr>
          <p:cNvPr id="8" name="Text 5"/>
          <p:cNvSpPr/>
          <p:nvPr/>
        </p:nvSpPr>
        <p:spPr>
          <a:xfrm>
            <a:off x="640080" y="1188720"/>
            <a:ext cx="2834640" cy="914400"/>
          </a:xfrm>
          <a:prstGeom prst="rect">
            <a:avLst/>
          </a:prstGeom>
          <a:noFill/>
          <a:ln/>
        </p:spPr>
        <p:txBody>
          <a:bodyPr wrap="square" lIns="0" tIns="0" rIns="0" bIns="0" rtlCol="0" anchor="ctr"/>
          <a:lstStyle/>
          <a:p>
            <a:pPr marL="0" indent="0" algn="ctr">
              <a:buNone/>
            </a:pPr>
            <a:r>
              <a:rPr lang="en-US" sz="6400" b="1" dirty="0">
                <a:solidFill>
                  <a:srgbClr val="E87722"/>
                </a:solidFill>
                <a:latin typeface="Trebuchet MS" pitchFamily="34" charset="0"/>
                <a:ea typeface="Trebuchet MS" pitchFamily="34" charset="-122"/>
                <a:cs typeface="Trebuchet MS" pitchFamily="34" charset="-120"/>
              </a:rPr>
              <a:t>22</a:t>
            </a:r>
            <a:endParaRPr lang="en-US" sz="6400" dirty="0"/>
          </a:p>
        </p:txBody>
      </p:sp>
      <p:sp>
        <p:nvSpPr>
          <p:cNvPr id="9" name="Text 6"/>
          <p:cNvSpPr/>
          <p:nvPr/>
        </p:nvSpPr>
        <p:spPr>
          <a:xfrm>
            <a:off x="640080" y="2103120"/>
            <a:ext cx="2834640" cy="365760"/>
          </a:xfrm>
          <a:prstGeom prst="rect">
            <a:avLst/>
          </a:prstGeom>
          <a:noFill/>
          <a:ln/>
        </p:spPr>
        <p:txBody>
          <a:bodyPr wrap="square" lIns="0" tIns="0" rIns="0" bIns="0" rtlCol="0" anchor="ctr"/>
          <a:lstStyle/>
          <a:p>
            <a:pPr marL="0" indent="0" algn="ctr">
              <a:buNone/>
            </a:pPr>
            <a:r>
              <a:rPr lang="en-US" sz="1400" b="1" dirty="0">
                <a:solidFill>
                  <a:srgbClr val="2D2D2D"/>
                </a:solidFill>
                <a:latin typeface="Calibri" pitchFamily="34" charset="0"/>
                <a:ea typeface="Calibri" pitchFamily="34" charset="-122"/>
                <a:cs typeface="Calibri" pitchFamily="34" charset="-120"/>
              </a:rPr>
              <a:t>Kullanım Durumu (Use Case)</a:t>
            </a:r>
            <a:endParaRPr lang="en-US" sz="1400" dirty="0"/>
          </a:p>
        </p:txBody>
      </p:sp>
      <p:sp>
        <p:nvSpPr>
          <p:cNvPr id="10" name="Text 7"/>
          <p:cNvSpPr/>
          <p:nvPr/>
        </p:nvSpPr>
        <p:spPr>
          <a:xfrm>
            <a:off x="640080" y="2514600"/>
            <a:ext cx="2834640" cy="640080"/>
          </a:xfrm>
          <a:prstGeom prst="rect">
            <a:avLst/>
          </a:prstGeom>
          <a:noFill/>
          <a:ln/>
        </p:spPr>
        <p:txBody>
          <a:bodyPr wrap="square" lIns="0" tIns="0" rIns="0" bIns="0" rtlCol="0" anchor="ctr"/>
          <a:lstStyle/>
          <a:p>
            <a:pPr marL="0" indent="0" algn="ctr">
              <a:buNone/>
            </a:pPr>
            <a:r>
              <a:rPr lang="en-US" sz="1100" dirty="0">
                <a:solidFill>
                  <a:srgbClr val="666666"/>
                </a:solidFill>
                <a:latin typeface="Calibri" pitchFamily="34" charset="0"/>
                <a:ea typeface="Calibri" pitchFamily="34" charset="-122"/>
                <a:cs typeface="Calibri" pitchFamily="34" charset="-120"/>
              </a:rPr>
              <a:t>Her biri alternatif akışlar ve istisnai durumlarla detaylandırılmıştır</a:t>
            </a:r>
            <a:endParaRPr lang="en-US" sz="1100" dirty="0"/>
          </a:p>
        </p:txBody>
      </p:sp>
      <p:sp>
        <p:nvSpPr>
          <p:cNvPr id="11" name="Shape 8"/>
          <p:cNvSpPr/>
          <p:nvPr/>
        </p:nvSpPr>
        <p:spPr>
          <a:xfrm>
            <a:off x="4023360" y="1005840"/>
            <a:ext cx="4663440" cy="685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2" name="Text 9"/>
          <p:cNvSpPr/>
          <p:nvPr/>
        </p:nvSpPr>
        <p:spPr>
          <a:xfrm>
            <a:off x="4206240" y="1051560"/>
            <a:ext cx="731520" cy="548640"/>
          </a:xfrm>
          <a:prstGeom prst="rect">
            <a:avLst/>
          </a:prstGeom>
          <a:noFill/>
          <a:ln/>
        </p:spPr>
        <p:txBody>
          <a:bodyPr wrap="square" lIns="0" tIns="0" rIns="0" bIns="0" rtlCol="0" anchor="ctr"/>
          <a:lstStyle/>
          <a:p>
            <a:pPr marL="0" indent="0" algn="ctr">
              <a:buNone/>
            </a:pPr>
            <a:r>
              <a:rPr lang="en-US" sz="2800" b="1" dirty="0">
                <a:solidFill>
                  <a:srgbClr val="E87722"/>
                </a:solidFill>
                <a:latin typeface="Trebuchet MS" pitchFamily="34" charset="0"/>
                <a:ea typeface="Trebuchet MS" pitchFamily="34" charset="-122"/>
                <a:cs typeface="Trebuchet MS" pitchFamily="34" charset="-120"/>
              </a:rPr>
              <a:t>25+</a:t>
            </a:r>
            <a:endParaRPr lang="en-US" sz="2800" dirty="0"/>
          </a:p>
        </p:txBody>
      </p:sp>
      <p:sp>
        <p:nvSpPr>
          <p:cNvPr id="13" name="Text 10"/>
          <p:cNvSpPr/>
          <p:nvPr/>
        </p:nvSpPr>
        <p:spPr>
          <a:xfrm>
            <a:off x="5029200" y="1051560"/>
            <a:ext cx="3474720" cy="320040"/>
          </a:xfrm>
          <a:prstGeom prst="rect">
            <a:avLst/>
          </a:prstGeom>
          <a:noFill/>
          <a:ln/>
        </p:spPr>
        <p:txBody>
          <a:bodyPr wrap="square" lIns="0" tIns="0" rIns="0" bIns="0" rtlCol="0" anchor="ctr"/>
          <a:lstStyle/>
          <a:p>
            <a:pPr marL="0" indent="0">
              <a:buNone/>
            </a:pPr>
            <a:r>
              <a:rPr lang="en-US" sz="1300" b="1" dirty="0">
                <a:solidFill>
                  <a:srgbClr val="2D2D2D"/>
                </a:solidFill>
                <a:latin typeface="Calibri" pitchFamily="34" charset="0"/>
                <a:ea typeface="Calibri" pitchFamily="34" charset="-122"/>
                <a:cs typeface="Calibri" pitchFamily="34" charset="-120"/>
              </a:rPr>
              <a:t>Sınıf Diyagramı</a:t>
            </a:r>
            <a:endParaRPr lang="en-US" sz="1300" dirty="0"/>
          </a:p>
        </p:txBody>
      </p:sp>
      <p:sp>
        <p:nvSpPr>
          <p:cNvPr id="14" name="Text 11"/>
          <p:cNvSpPr/>
          <p:nvPr/>
        </p:nvSpPr>
        <p:spPr>
          <a:xfrm>
            <a:off x="5029200" y="1353312"/>
            <a:ext cx="347472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25+ sınıf, 15 ilişki detaylı tablo</a:t>
            </a:r>
            <a:endParaRPr lang="en-US" sz="1000" dirty="0"/>
          </a:p>
        </p:txBody>
      </p:sp>
      <p:sp>
        <p:nvSpPr>
          <p:cNvPr id="15" name="Shape 12"/>
          <p:cNvSpPr/>
          <p:nvPr/>
        </p:nvSpPr>
        <p:spPr>
          <a:xfrm>
            <a:off x="4023360" y="1874520"/>
            <a:ext cx="4663440" cy="685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6" name="Text 13"/>
          <p:cNvSpPr/>
          <p:nvPr/>
        </p:nvSpPr>
        <p:spPr>
          <a:xfrm>
            <a:off x="4206240" y="1920240"/>
            <a:ext cx="731520" cy="548640"/>
          </a:xfrm>
          <a:prstGeom prst="rect">
            <a:avLst/>
          </a:prstGeom>
          <a:noFill/>
          <a:ln/>
        </p:spPr>
        <p:txBody>
          <a:bodyPr wrap="square" lIns="0" tIns="0" rIns="0" bIns="0" rtlCol="0" anchor="ctr"/>
          <a:lstStyle/>
          <a:p>
            <a:pPr marL="0" indent="0" algn="ctr">
              <a:buNone/>
            </a:pPr>
            <a:r>
              <a:rPr lang="en-US" sz="2800" b="1" dirty="0">
                <a:solidFill>
                  <a:srgbClr val="E87722"/>
                </a:solidFill>
                <a:latin typeface="Trebuchet MS" pitchFamily="34" charset="0"/>
                <a:ea typeface="Trebuchet MS" pitchFamily="34" charset="-122"/>
                <a:cs typeface="Trebuchet MS" pitchFamily="34" charset="-120"/>
              </a:rPr>
              <a:t>4</a:t>
            </a:r>
            <a:endParaRPr lang="en-US" sz="2800" dirty="0"/>
          </a:p>
        </p:txBody>
      </p:sp>
      <p:sp>
        <p:nvSpPr>
          <p:cNvPr id="17" name="Text 14"/>
          <p:cNvSpPr/>
          <p:nvPr/>
        </p:nvSpPr>
        <p:spPr>
          <a:xfrm>
            <a:off x="5029200" y="1920240"/>
            <a:ext cx="3474720" cy="320040"/>
          </a:xfrm>
          <a:prstGeom prst="rect">
            <a:avLst/>
          </a:prstGeom>
          <a:noFill/>
          <a:ln/>
        </p:spPr>
        <p:txBody>
          <a:bodyPr wrap="square" lIns="0" tIns="0" rIns="0" bIns="0" rtlCol="0" anchor="ctr"/>
          <a:lstStyle/>
          <a:p>
            <a:pPr marL="0" indent="0">
              <a:buNone/>
            </a:pPr>
            <a:r>
              <a:rPr lang="en-US" sz="1300" b="1" dirty="0">
                <a:solidFill>
                  <a:srgbClr val="2D2D2D"/>
                </a:solidFill>
                <a:latin typeface="Calibri" pitchFamily="34" charset="0"/>
                <a:ea typeface="Calibri" pitchFamily="34" charset="-122"/>
                <a:cs typeface="Calibri" pitchFamily="34" charset="-120"/>
              </a:rPr>
              <a:t>Durum Diyagramı</a:t>
            </a:r>
            <a:endParaRPr lang="en-US" sz="1300" dirty="0"/>
          </a:p>
        </p:txBody>
      </p:sp>
      <p:sp>
        <p:nvSpPr>
          <p:cNvPr id="18" name="Text 15"/>
          <p:cNvSpPr/>
          <p:nvPr/>
        </p:nvSpPr>
        <p:spPr>
          <a:xfrm>
            <a:off x="5029200" y="2221992"/>
            <a:ext cx="347472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State machine modelleri</a:t>
            </a:r>
            <a:endParaRPr lang="en-US" sz="1000" dirty="0"/>
          </a:p>
        </p:txBody>
      </p:sp>
      <p:sp>
        <p:nvSpPr>
          <p:cNvPr id="19" name="Shape 16"/>
          <p:cNvSpPr/>
          <p:nvPr/>
        </p:nvSpPr>
        <p:spPr>
          <a:xfrm>
            <a:off x="4023360" y="2743200"/>
            <a:ext cx="4663440" cy="685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0" name="Text 17"/>
          <p:cNvSpPr/>
          <p:nvPr/>
        </p:nvSpPr>
        <p:spPr>
          <a:xfrm>
            <a:off x="4206240" y="2788920"/>
            <a:ext cx="731520" cy="548640"/>
          </a:xfrm>
          <a:prstGeom prst="rect">
            <a:avLst/>
          </a:prstGeom>
          <a:noFill/>
          <a:ln/>
        </p:spPr>
        <p:txBody>
          <a:bodyPr wrap="square" lIns="0" tIns="0" rIns="0" bIns="0" rtlCol="0" anchor="ctr"/>
          <a:lstStyle/>
          <a:p>
            <a:pPr marL="0" indent="0" algn="ctr">
              <a:buNone/>
            </a:pPr>
            <a:r>
              <a:rPr lang="en-US" sz="2800" b="1" dirty="0">
                <a:solidFill>
                  <a:srgbClr val="E87722"/>
                </a:solidFill>
                <a:latin typeface="Trebuchet MS" pitchFamily="34" charset="0"/>
                <a:ea typeface="Trebuchet MS" pitchFamily="34" charset="-122"/>
                <a:cs typeface="Trebuchet MS" pitchFamily="34" charset="-120"/>
              </a:rPr>
              <a:t>3</a:t>
            </a:r>
            <a:endParaRPr lang="en-US" sz="2800" dirty="0"/>
          </a:p>
        </p:txBody>
      </p:sp>
      <p:sp>
        <p:nvSpPr>
          <p:cNvPr id="21" name="Text 18"/>
          <p:cNvSpPr/>
          <p:nvPr/>
        </p:nvSpPr>
        <p:spPr>
          <a:xfrm>
            <a:off x="5029200" y="2788920"/>
            <a:ext cx="3474720" cy="320040"/>
          </a:xfrm>
          <a:prstGeom prst="rect">
            <a:avLst/>
          </a:prstGeom>
          <a:noFill/>
          <a:ln/>
        </p:spPr>
        <p:txBody>
          <a:bodyPr wrap="square" lIns="0" tIns="0" rIns="0" bIns="0" rtlCol="0" anchor="ctr"/>
          <a:lstStyle/>
          <a:p>
            <a:pPr marL="0" indent="0">
              <a:buNone/>
            </a:pPr>
            <a:r>
              <a:rPr lang="en-US" sz="1300" b="1" dirty="0">
                <a:solidFill>
                  <a:srgbClr val="2D2D2D"/>
                </a:solidFill>
                <a:latin typeface="Calibri" pitchFamily="34" charset="0"/>
                <a:ea typeface="Calibri" pitchFamily="34" charset="-122"/>
                <a:cs typeface="Calibri" pitchFamily="34" charset="-120"/>
              </a:rPr>
              <a:t>Aktivite Diyagramı</a:t>
            </a:r>
            <a:endParaRPr lang="en-US" sz="1300" dirty="0"/>
          </a:p>
        </p:txBody>
      </p:sp>
      <p:sp>
        <p:nvSpPr>
          <p:cNvPr id="22" name="Text 19"/>
          <p:cNvSpPr/>
          <p:nvPr/>
        </p:nvSpPr>
        <p:spPr>
          <a:xfrm>
            <a:off x="5029200" y="3090672"/>
            <a:ext cx="347472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İş akışı modelleri</a:t>
            </a:r>
            <a:endParaRPr lang="en-US" sz="1000" dirty="0"/>
          </a:p>
        </p:txBody>
      </p:sp>
      <p:sp>
        <p:nvSpPr>
          <p:cNvPr id="23" name="Shape 20"/>
          <p:cNvSpPr/>
          <p:nvPr/>
        </p:nvSpPr>
        <p:spPr>
          <a:xfrm>
            <a:off x="4023360" y="3611880"/>
            <a:ext cx="4663440" cy="685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4" name="Text 21"/>
          <p:cNvSpPr/>
          <p:nvPr/>
        </p:nvSpPr>
        <p:spPr>
          <a:xfrm>
            <a:off x="4206240" y="3657600"/>
            <a:ext cx="731520" cy="548640"/>
          </a:xfrm>
          <a:prstGeom prst="rect">
            <a:avLst/>
          </a:prstGeom>
          <a:noFill/>
          <a:ln/>
        </p:spPr>
        <p:txBody>
          <a:bodyPr wrap="square" lIns="0" tIns="0" rIns="0" bIns="0" rtlCol="0" anchor="ctr"/>
          <a:lstStyle/>
          <a:p>
            <a:pPr marL="0" indent="0" algn="ctr">
              <a:buNone/>
            </a:pPr>
            <a:r>
              <a:rPr lang="en-US" sz="2800" b="1" dirty="0">
                <a:solidFill>
                  <a:srgbClr val="E87722"/>
                </a:solidFill>
                <a:latin typeface="Trebuchet MS" pitchFamily="34" charset="0"/>
                <a:ea typeface="Trebuchet MS" pitchFamily="34" charset="-122"/>
                <a:cs typeface="Trebuchet MS" pitchFamily="34" charset="-120"/>
              </a:rPr>
              <a:t>3</a:t>
            </a:r>
            <a:endParaRPr lang="en-US" sz="2800" dirty="0"/>
          </a:p>
        </p:txBody>
      </p:sp>
      <p:sp>
        <p:nvSpPr>
          <p:cNvPr id="25" name="Text 22"/>
          <p:cNvSpPr/>
          <p:nvPr/>
        </p:nvSpPr>
        <p:spPr>
          <a:xfrm>
            <a:off x="5029200" y="3657600"/>
            <a:ext cx="3474720" cy="320040"/>
          </a:xfrm>
          <a:prstGeom prst="rect">
            <a:avLst/>
          </a:prstGeom>
          <a:noFill/>
          <a:ln/>
        </p:spPr>
        <p:txBody>
          <a:bodyPr wrap="square" lIns="0" tIns="0" rIns="0" bIns="0" rtlCol="0" anchor="ctr"/>
          <a:lstStyle/>
          <a:p>
            <a:pPr marL="0" indent="0">
              <a:buNone/>
            </a:pPr>
            <a:r>
              <a:rPr lang="en-US" sz="1300" b="1" dirty="0">
                <a:solidFill>
                  <a:srgbClr val="2D2D2D"/>
                </a:solidFill>
                <a:latin typeface="Calibri" pitchFamily="34" charset="0"/>
                <a:ea typeface="Calibri" pitchFamily="34" charset="-122"/>
                <a:cs typeface="Calibri" pitchFamily="34" charset="-120"/>
              </a:rPr>
              <a:t>Sıra Diyagramı</a:t>
            </a:r>
            <a:endParaRPr lang="en-US" sz="1300" dirty="0"/>
          </a:p>
        </p:txBody>
      </p:sp>
      <p:sp>
        <p:nvSpPr>
          <p:cNvPr id="26" name="Text 23"/>
          <p:cNvSpPr/>
          <p:nvPr/>
        </p:nvSpPr>
        <p:spPr>
          <a:xfrm>
            <a:off x="5029200" y="3959352"/>
            <a:ext cx="347472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Nesne etkileşim senaryoları</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Kullanıcı Arayüzü Tasarımı</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Text 4"/>
          <p:cNvSpPr/>
          <p:nvPr/>
        </p:nvSpPr>
        <p:spPr>
          <a:xfrm>
            <a:off x="457200" y="837301"/>
            <a:ext cx="8229600" cy="282097"/>
          </a:xfrm>
          <a:prstGeom prst="rect">
            <a:avLst/>
          </a:prstGeom>
          <a:noFill/>
          <a:ln/>
        </p:spPr>
        <p:txBody>
          <a:bodyPr wrap="square" lIns="0" tIns="0" rIns="0" bIns="0" rtlCol="0" anchor="ctr"/>
          <a:lstStyle/>
          <a:p>
            <a:pPr marL="0" indent="0">
              <a:buNone/>
            </a:pPr>
            <a:r>
              <a:rPr lang="en-US" sz="1400" dirty="0">
                <a:solidFill>
                  <a:srgbClr val="666666"/>
                </a:solidFill>
                <a:latin typeface="Calibri" pitchFamily="34" charset="0"/>
                <a:ea typeface="Calibri" pitchFamily="34" charset="-122"/>
                <a:cs typeface="Calibri" pitchFamily="34" charset="-120"/>
              </a:rPr>
              <a:t>8 adet modern masaüstü GUI mockup tasarlandı</a:t>
            </a:r>
            <a:endParaRPr lang="en-US" sz="1400" dirty="0"/>
          </a:p>
        </p:txBody>
      </p:sp>
      <p:sp>
        <p:nvSpPr>
          <p:cNvPr id="8" name="Shape 5"/>
          <p:cNvSpPr/>
          <p:nvPr/>
        </p:nvSpPr>
        <p:spPr>
          <a:xfrm>
            <a:off x="457200" y="141732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9" name="Shape 6"/>
          <p:cNvSpPr/>
          <p:nvPr/>
        </p:nvSpPr>
        <p:spPr>
          <a:xfrm>
            <a:off x="457200" y="1417320"/>
            <a:ext cx="1920240" cy="145288"/>
          </a:xfrm>
          <a:prstGeom prst="rect">
            <a:avLst/>
          </a:prstGeom>
          <a:solidFill>
            <a:srgbClr val="E87722"/>
          </a:solidFill>
          <a:ln/>
        </p:spPr>
        <p:txBody>
          <a:bodyPr/>
          <a:lstStyle/>
          <a:p>
            <a:endParaRPr lang="tr-TR"/>
          </a:p>
        </p:txBody>
      </p:sp>
      <p:sp>
        <p:nvSpPr>
          <p:cNvPr id="10" name="Shape 7"/>
          <p:cNvSpPr/>
          <p:nvPr/>
        </p:nvSpPr>
        <p:spPr>
          <a:xfrm>
            <a:off x="566928" y="1490472"/>
            <a:ext cx="128016" cy="128016"/>
          </a:xfrm>
          <a:prstGeom prst="ellipse">
            <a:avLst/>
          </a:prstGeom>
          <a:solidFill>
            <a:srgbClr val="FFFFFF"/>
          </a:solidFill>
          <a:ln/>
        </p:spPr>
        <p:txBody>
          <a:bodyPr/>
          <a:lstStyle/>
          <a:p>
            <a:endParaRPr lang="tr-TR"/>
          </a:p>
        </p:txBody>
      </p:sp>
      <p:sp>
        <p:nvSpPr>
          <p:cNvPr id="11" name="Shape 8"/>
          <p:cNvSpPr/>
          <p:nvPr/>
        </p:nvSpPr>
        <p:spPr>
          <a:xfrm>
            <a:off x="704088" y="1490472"/>
            <a:ext cx="128016" cy="128016"/>
          </a:xfrm>
          <a:prstGeom prst="ellipse">
            <a:avLst/>
          </a:prstGeom>
          <a:solidFill>
            <a:srgbClr val="FFFFFF"/>
          </a:solidFill>
          <a:ln/>
        </p:spPr>
        <p:txBody>
          <a:bodyPr/>
          <a:lstStyle/>
          <a:p>
            <a:endParaRPr lang="tr-TR"/>
          </a:p>
        </p:txBody>
      </p:sp>
      <p:sp>
        <p:nvSpPr>
          <p:cNvPr id="12" name="Shape 9"/>
          <p:cNvSpPr/>
          <p:nvPr/>
        </p:nvSpPr>
        <p:spPr>
          <a:xfrm>
            <a:off x="841248" y="1490472"/>
            <a:ext cx="128016" cy="128016"/>
          </a:xfrm>
          <a:prstGeom prst="ellipse">
            <a:avLst/>
          </a:prstGeom>
          <a:solidFill>
            <a:srgbClr val="FFFFFF"/>
          </a:solidFill>
          <a:ln/>
        </p:spPr>
        <p:txBody>
          <a:bodyPr/>
          <a:lstStyle/>
          <a:p>
            <a:endParaRPr lang="tr-TR"/>
          </a:p>
        </p:txBody>
      </p:sp>
      <p:sp>
        <p:nvSpPr>
          <p:cNvPr id="14" name="Shape 11"/>
          <p:cNvSpPr/>
          <p:nvPr/>
        </p:nvSpPr>
        <p:spPr>
          <a:xfrm>
            <a:off x="2606040" y="141732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5" name="Shape 12"/>
          <p:cNvSpPr/>
          <p:nvPr/>
        </p:nvSpPr>
        <p:spPr>
          <a:xfrm>
            <a:off x="2606040" y="1417320"/>
            <a:ext cx="1920240" cy="274320"/>
          </a:xfrm>
          <a:prstGeom prst="rect">
            <a:avLst/>
          </a:prstGeom>
          <a:solidFill>
            <a:srgbClr val="E87722"/>
          </a:solidFill>
          <a:ln/>
        </p:spPr>
        <p:txBody>
          <a:bodyPr/>
          <a:lstStyle/>
          <a:p>
            <a:endParaRPr lang="tr-TR"/>
          </a:p>
        </p:txBody>
      </p:sp>
      <p:sp>
        <p:nvSpPr>
          <p:cNvPr id="16" name="Shape 13"/>
          <p:cNvSpPr/>
          <p:nvPr/>
        </p:nvSpPr>
        <p:spPr>
          <a:xfrm>
            <a:off x="2715768" y="1490472"/>
            <a:ext cx="128016" cy="128016"/>
          </a:xfrm>
          <a:prstGeom prst="ellipse">
            <a:avLst/>
          </a:prstGeom>
          <a:solidFill>
            <a:srgbClr val="FFFFFF"/>
          </a:solidFill>
          <a:ln/>
        </p:spPr>
        <p:txBody>
          <a:bodyPr/>
          <a:lstStyle/>
          <a:p>
            <a:endParaRPr lang="tr-TR"/>
          </a:p>
        </p:txBody>
      </p:sp>
      <p:sp>
        <p:nvSpPr>
          <p:cNvPr id="17" name="Shape 14"/>
          <p:cNvSpPr/>
          <p:nvPr/>
        </p:nvSpPr>
        <p:spPr>
          <a:xfrm>
            <a:off x="2852928" y="1490472"/>
            <a:ext cx="128016" cy="128016"/>
          </a:xfrm>
          <a:prstGeom prst="ellipse">
            <a:avLst/>
          </a:prstGeom>
          <a:solidFill>
            <a:srgbClr val="FFFFFF"/>
          </a:solidFill>
          <a:ln/>
        </p:spPr>
        <p:txBody>
          <a:bodyPr/>
          <a:lstStyle/>
          <a:p>
            <a:endParaRPr lang="tr-TR"/>
          </a:p>
        </p:txBody>
      </p:sp>
      <p:sp>
        <p:nvSpPr>
          <p:cNvPr id="18" name="Shape 15"/>
          <p:cNvSpPr/>
          <p:nvPr/>
        </p:nvSpPr>
        <p:spPr>
          <a:xfrm>
            <a:off x="2990088" y="1490472"/>
            <a:ext cx="128016" cy="128016"/>
          </a:xfrm>
          <a:prstGeom prst="ellipse">
            <a:avLst/>
          </a:prstGeom>
          <a:solidFill>
            <a:srgbClr val="FFFFFF"/>
          </a:solidFill>
          <a:ln/>
        </p:spPr>
        <p:txBody>
          <a:bodyPr/>
          <a:lstStyle/>
          <a:p>
            <a:endParaRPr lang="tr-TR"/>
          </a:p>
        </p:txBody>
      </p:sp>
      <p:sp>
        <p:nvSpPr>
          <p:cNvPr id="20" name="Shape 17"/>
          <p:cNvSpPr/>
          <p:nvPr/>
        </p:nvSpPr>
        <p:spPr>
          <a:xfrm>
            <a:off x="4754880" y="141732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1" name="Shape 18"/>
          <p:cNvSpPr/>
          <p:nvPr/>
        </p:nvSpPr>
        <p:spPr>
          <a:xfrm>
            <a:off x="4747260" y="1410990"/>
            <a:ext cx="1920240" cy="274320"/>
          </a:xfrm>
          <a:prstGeom prst="rect">
            <a:avLst/>
          </a:prstGeom>
          <a:solidFill>
            <a:srgbClr val="E87722"/>
          </a:solidFill>
          <a:ln/>
        </p:spPr>
        <p:txBody>
          <a:bodyPr/>
          <a:lstStyle/>
          <a:p>
            <a:endParaRPr lang="tr-TR"/>
          </a:p>
        </p:txBody>
      </p:sp>
      <p:sp>
        <p:nvSpPr>
          <p:cNvPr id="22" name="Shape 19"/>
          <p:cNvSpPr/>
          <p:nvPr/>
        </p:nvSpPr>
        <p:spPr>
          <a:xfrm>
            <a:off x="4864608" y="1490472"/>
            <a:ext cx="128016" cy="128016"/>
          </a:xfrm>
          <a:prstGeom prst="ellipse">
            <a:avLst/>
          </a:prstGeom>
          <a:solidFill>
            <a:srgbClr val="FFFFFF"/>
          </a:solidFill>
          <a:ln/>
        </p:spPr>
        <p:txBody>
          <a:bodyPr/>
          <a:lstStyle/>
          <a:p>
            <a:endParaRPr lang="tr-TR"/>
          </a:p>
        </p:txBody>
      </p:sp>
      <p:sp>
        <p:nvSpPr>
          <p:cNvPr id="23" name="Shape 20"/>
          <p:cNvSpPr/>
          <p:nvPr/>
        </p:nvSpPr>
        <p:spPr>
          <a:xfrm>
            <a:off x="5001768" y="1490472"/>
            <a:ext cx="128016" cy="128016"/>
          </a:xfrm>
          <a:prstGeom prst="ellipse">
            <a:avLst/>
          </a:prstGeom>
          <a:solidFill>
            <a:srgbClr val="FFFFFF"/>
          </a:solidFill>
          <a:ln/>
        </p:spPr>
        <p:txBody>
          <a:bodyPr/>
          <a:lstStyle/>
          <a:p>
            <a:endParaRPr lang="tr-TR"/>
          </a:p>
        </p:txBody>
      </p:sp>
      <p:sp>
        <p:nvSpPr>
          <p:cNvPr id="24" name="Shape 21"/>
          <p:cNvSpPr/>
          <p:nvPr/>
        </p:nvSpPr>
        <p:spPr>
          <a:xfrm>
            <a:off x="5138928" y="1490472"/>
            <a:ext cx="128016" cy="128016"/>
          </a:xfrm>
          <a:prstGeom prst="ellipse">
            <a:avLst/>
          </a:prstGeom>
          <a:solidFill>
            <a:srgbClr val="FFFFFF"/>
          </a:solidFill>
          <a:ln/>
        </p:spPr>
        <p:txBody>
          <a:bodyPr/>
          <a:lstStyle/>
          <a:p>
            <a:endParaRPr lang="tr-TR"/>
          </a:p>
        </p:txBody>
      </p:sp>
      <p:sp>
        <p:nvSpPr>
          <p:cNvPr id="26" name="Shape 23"/>
          <p:cNvSpPr/>
          <p:nvPr/>
        </p:nvSpPr>
        <p:spPr>
          <a:xfrm>
            <a:off x="6903720" y="141732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7" name="Shape 24"/>
          <p:cNvSpPr/>
          <p:nvPr/>
        </p:nvSpPr>
        <p:spPr>
          <a:xfrm>
            <a:off x="6903720" y="1417320"/>
            <a:ext cx="1920240" cy="274320"/>
          </a:xfrm>
          <a:prstGeom prst="rect">
            <a:avLst/>
          </a:prstGeom>
          <a:solidFill>
            <a:srgbClr val="E87722"/>
          </a:solidFill>
          <a:ln/>
        </p:spPr>
        <p:txBody>
          <a:bodyPr/>
          <a:lstStyle/>
          <a:p>
            <a:endParaRPr lang="tr-TR"/>
          </a:p>
        </p:txBody>
      </p:sp>
      <p:sp>
        <p:nvSpPr>
          <p:cNvPr id="28" name="Shape 25"/>
          <p:cNvSpPr/>
          <p:nvPr/>
        </p:nvSpPr>
        <p:spPr>
          <a:xfrm>
            <a:off x="7013448" y="1490472"/>
            <a:ext cx="128016" cy="128016"/>
          </a:xfrm>
          <a:prstGeom prst="ellipse">
            <a:avLst/>
          </a:prstGeom>
          <a:solidFill>
            <a:srgbClr val="FFFFFF"/>
          </a:solidFill>
          <a:ln/>
        </p:spPr>
        <p:txBody>
          <a:bodyPr/>
          <a:lstStyle/>
          <a:p>
            <a:endParaRPr lang="tr-TR"/>
          </a:p>
        </p:txBody>
      </p:sp>
      <p:sp>
        <p:nvSpPr>
          <p:cNvPr id="29" name="Shape 26"/>
          <p:cNvSpPr/>
          <p:nvPr/>
        </p:nvSpPr>
        <p:spPr>
          <a:xfrm>
            <a:off x="7150608" y="1490472"/>
            <a:ext cx="128016" cy="128016"/>
          </a:xfrm>
          <a:prstGeom prst="ellipse">
            <a:avLst/>
          </a:prstGeom>
          <a:solidFill>
            <a:srgbClr val="FFFFFF"/>
          </a:solidFill>
          <a:ln/>
        </p:spPr>
        <p:txBody>
          <a:bodyPr/>
          <a:lstStyle/>
          <a:p>
            <a:endParaRPr lang="tr-TR"/>
          </a:p>
        </p:txBody>
      </p:sp>
      <p:sp>
        <p:nvSpPr>
          <p:cNvPr id="30" name="Shape 27"/>
          <p:cNvSpPr/>
          <p:nvPr/>
        </p:nvSpPr>
        <p:spPr>
          <a:xfrm>
            <a:off x="7287768" y="1490472"/>
            <a:ext cx="128016" cy="128016"/>
          </a:xfrm>
          <a:prstGeom prst="ellipse">
            <a:avLst/>
          </a:prstGeom>
          <a:solidFill>
            <a:srgbClr val="FFFFFF"/>
          </a:solidFill>
          <a:ln/>
        </p:spPr>
        <p:txBody>
          <a:bodyPr/>
          <a:lstStyle/>
          <a:p>
            <a:endParaRPr lang="tr-TR"/>
          </a:p>
        </p:txBody>
      </p:sp>
      <p:sp>
        <p:nvSpPr>
          <p:cNvPr id="32" name="Shape 29"/>
          <p:cNvSpPr/>
          <p:nvPr/>
        </p:nvSpPr>
        <p:spPr>
          <a:xfrm>
            <a:off x="457200" y="306324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3" name="Shape 30"/>
          <p:cNvSpPr/>
          <p:nvPr/>
        </p:nvSpPr>
        <p:spPr>
          <a:xfrm>
            <a:off x="457200" y="3063240"/>
            <a:ext cx="1920240" cy="274320"/>
          </a:xfrm>
          <a:prstGeom prst="rect">
            <a:avLst/>
          </a:prstGeom>
          <a:solidFill>
            <a:srgbClr val="E87722"/>
          </a:solidFill>
          <a:ln/>
        </p:spPr>
        <p:txBody>
          <a:bodyPr/>
          <a:lstStyle/>
          <a:p>
            <a:endParaRPr lang="tr-TR"/>
          </a:p>
        </p:txBody>
      </p:sp>
      <p:sp>
        <p:nvSpPr>
          <p:cNvPr id="34" name="Shape 31"/>
          <p:cNvSpPr/>
          <p:nvPr/>
        </p:nvSpPr>
        <p:spPr>
          <a:xfrm>
            <a:off x="566928" y="3136392"/>
            <a:ext cx="128016" cy="128016"/>
          </a:xfrm>
          <a:prstGeom prst="ellipse">
            <a:avLst/>
          </a:prstGeom>
          <a:solidFill>
            <a:srgbClr val="FFFFFF"/>
          </a:solidFill>
          <a:ln/>
        </p:spPr>
        <p:txBody>
          <a:bodyPr/>
          <a:lstStyle/>
          <a:p>
            <a:endParaRPr lang="tr-TR"/>
          </a:p>
        </p:txBody>
      </p:sp>
      <p:sp>
        <p:nvSpPr>
          <p:cNvPr id="35" name="Shape 32"/>
          <p:cNvSpPr/>
          <p:nvPr/>
        </p:nvSpPr>
        <p:spPr>
          <a:xfrm>
            <a:off x="704088" y="3136392"/>
            <a:ext cx="128016" cy="128016"/>
          </a:xfrm>
          <a:prstGeom prst="ellipse">
            <a:avLst/>
          </a:prstGeom>
          <a:solidFill>
            <a:srgbClr val="FFFFFF"/>
          </a:solidFill>
          <a:ln/>
        </p:spPr>
        <p:txBody>
          <a:bodyPr/>
          <a:lstStyle/>
          <a:p>
            <a:endParaRPr lang="tr-TR"/>
          </a:p>
        </p:txBody>
      </p:sp>
      <p:sp>
        <p:nvSpPr>
          <p:cNvPr id="36" name="Shape 33"/>
          <p:cNvSpPr/>
          <p:nvPr/>
        </p:nvSpPr>
        <p:spPr>
          <a:xfrm>
            <a:off x="841248" y="3136392"/>
            <a:ext cx="128016" cy="128016"/>
          </a:xfrm>
          <a:prstGeom prst="ellipse">
            <a:avLst/>
          </a:prstGeom>
          <a:solidFill>
            <a:srgbClr val="FFFFFF"/>
          </a:solidFill>
          <a:ln/>
        </p:spPr>
        <p:txBody>
          <a:bodyPr/>
          <a:lstStyle/>
          <a:p>
            <a:endParaRPr lang="tr-TR"/>
          </a:p>
        </p:txBody>
      </p:sp>
      <p:sp>
        <p:nvSpPr>
          <p:cNvPr id="38" name="Shape 35"/>
          <p:cNvSpPr/>
          <p:nvPr/>
        </p:nvSpPr>
        <p:spPr>
          <a:xfrm>
            <a:off x="2606040" y="306324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9" name="Shape 36"/>
          <p:cNvSpPr/>
          <p:nvPr/>
        </p:nvSpPr>
        <p:spPr>
          <a:xfrm>
            <a:off x="2606040" y="3063240"/>
            <a:ext cx="1920240" cy="274320"/>
          </a:xfrm>
          <a:prstGeom prst="rect">
            <a:avLst/>
          </a:prstGeom>
          <a:solidFill>
            <a:srgbClr val="E87722"/>
          </a:solidFill>
          <a:ln/>
        </p:spPr>
        <p:txBody>
          <a:bodyPr/>
          <a:lstStyle/>
          <a:p>
            <a:endParaRPr lang="tr-TR"/>
          </a:p>
        </p:txBody>
      </p:sp>
      <p:sp>
        <p:nvSpPr>
          <p:cNvPr id="40" name="Shape 37"/>
          <p:cNvSpPr/>
          <p:nvPr/>
        </p:nvSpPr>
        <p:spPr>
          <a:xfrm>
            <a:off x="2715768" y="3136392"/>
            <a:ext cx="128016" cy="128016"/>
          </a:xfrm>
          <a:prstGeom prst="ellipse">
            <a:avLst/>
          </a:prstGeom>
          <a:solidFill>
            <a:srgbClr val="FFFFFF"/>
          </a:solidFill>
          <a:ln/>
        </p:spPr>
        <p:txBody>
          <a:bodyPr/>
          <a:lstStyle/>
          <a:p>
            <a:endParaRPr lang="tr-TR"/>
          </a:p>
        </p:txBody>
      </p:sp>
      <p:sp>
        <p:nvSpPr>
          <p:cNvPr id="41" name="Shape 38"/>
          <p:cNvSpPr/>
          <p:nvPr/>
        </p:nvSpPr>
        <p:spPr>
          <a:xfrm>
            <a:off x="2852928" y="3136392"/>
            <a:ext cx="128016" cy="128016"/>
          </a:xfrm>
          <a:prstGeom prst="ellipse">
            <a:avLst/>
          </a:prstGeom>
          <a:solidFill>
            <a:srgbClr val="FFFFFF"/>
          </a:solidFill>
          <a:ln/>
        </p:spPr>
        <p:txBody>
          <a:bodyPr/>
          <a:lstStyle/>
          <a:p>
            <a:endParaRPr lang="tr-TR"/>
          </a:p>
        </p:txBody>
      </p:sp>
      <p:sp>
        <p:nvSpPr>
          <p:cNvPr id="42" name="Shape 39"/>
          <p:cNvSpPr/>
          <p:nvPr/>
        </p:nvSpPr>
        <p:spPr>
          <a:xfrm>
            <a:off x="2990088" y="3136392"/>
            <a:ext cx="128016" cy="128016"/>
          </a:xfrm>
          <a:prstGeom prst="ellipse">
            <a:avLst/>
          </a:prstGeom>
          <a:solidFill>
            <a:srgbClr val="FFFFFF"/>
          </a:solidFill>
          <a:ln/>
        </p:spPr>
        <p:txBody>
          <a:bodyPr/>
          <a:lstStyle/>
          <a:p>
            <a:endParaRPr lang="tr-TR"/>
          </a:p>
        </p:txBody>
      </p:sp>
      <p:sp>
        <p:nvSpPr>
          <p:cNvPr id="44" name="Shape 41"/>
          <p:cNvSpPr/>
          <p:nvPr/>
        </p:nvSpPr>
        <p:spPr>
          <a:xfrm>
            <a:off x="4754880" y="306324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45" name="Shape 42"/>
          <p:cNvSpPr/>
          <p:nvPr/>
        </p:nvSpPr>
        <p:spPr>
          <a:xfrm>
            <a:off x="4754880" y="3063240"/>
            <a:ext cx="1920240" cy="274320"/>
          </a:xfrm>
          <a:prstGeom prst="rect">
            <a:avLst/>
          </a:prstGeom>
          <a:solidFill>
            <a:srgbClr val="E87722"/>
          </a:solidFill>
          <a:ln/>
        </p:spPr>
        <p:txBody>
          <a:bodyPr/>
          <a:lstStyle/>
          <a:p>
            <a:endParaRPr lang="tr-TR"/>
          </a:p>
        </p:txBody>
      </p:sp>
      <p:sp>
        <p:nvSpPr>
          <p:cNvPr id="46" name="Shape 43"/>
          <p:cNvSpPr/>
          <p:nvPr/>
        </p:nvSpPr>
        <p:spPr>
          <a:xfrm>
            <a:off x="4864608" y="3136392"/>
            <a:ext cx="128016" cy="128016"/>
          </a:xfrm>
          <a:prstGeom prst="ellipse">
            <a:avLst/>
          </a:prstGeom>
          <a:solidFill>
            <a:srgbClr val="FFFFFF"/>
          </a:solidFill>
          <a:ln/>
        </p:spPr>
        <p:txBody>
          <a:bodyPr/>
          <a:lstStyle/>
          <a:p>
            <a:endParaRPr lang="tr-TR"/>
          </a:p>
        </p:txBody>
      </p:sp>
      <p:sp>
        <p:nvSpPr>
          <p:cNvPr id="47" name="Shape 44"/>
          <p:cNvSpPr/>
          <p:nvPr/>
        </p:nvSpPr>
        <p:spPr>
          <a:xfrm>
            <a:off x="5001768" y="3136392"/>
            <a:ext cx="128016" cy="128016"/>
          </a:xfrm>
          <a:prstGeom prst="ellipse">
            <a:avLst/>
          </a:prstGeom>
          <a:solidFill>
            <a:srgbClr val="FFFFFF"/>
          </a:solidFill>
          <a:ln/>
        </p:spPr>
        <p:txBody>
          <a:bodyPr/>
          <a:lstStyle/>
          <a:p>
            <a:endParaRPr lang="tr-TR"/>
          </a:p>
        </p:txBody>
      </p:sp>
      <p:sp>
        <p:nvSpPr>
          <p:cNvPr id="48" name="Shape 45"/>
          <p:cNvSpPr/>
          <p:nvPr/>
        </p:nvSpPr>
        <p:spPr>
          <a:xfrm>
            <a:off x="5138928" y="3136392"/>
            <a:ext cx="128016" cy="128016"/>
          </a:xfrm>
          <a:prstGeom prst="ellipse">
            <a:avLst/>
          </a:prstGeom>
          <a:solidFill>
            <a:srgbClr val="FFFFFF"/>
          </a:solidFill>
          <a:ln/>
        </p:spPr>
        <p:txBody>
          <a:bodyPr/>
          <a:lstStyle/>
          <a:p>
            <a:endParaRPr lang="tr-TR"/>
          </a:p>
        </p:txBody>
      </p:sp>
      <p:sp>
        <p:nvSpPr>
          <p:cNvPr id="50" name="Shape 47"/>
          <p:cNvSpPr/>
          <p:nvPr/>
        </p:nvSpPr>
        <p:spPr>
          <a:xfrm>
            <a:off x="6903720" y="306324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51" name="Shape 48"/>
          <p:cNvSpPr/>
          <p:nvPr/>
        </p:nvSpPr>
        <p:spPr>
          <a:xfrm>
            <a:off x="6903720" y="3063240"/>
            <a:ext cx="1920240" cy="274320"/>
          </a:xfrm>
          <a:prstGeom prst="rect">
            <a:avLst/>
          </a:prstGeom>
          <a:solidFill>
            <a:srgbClr val="E87722"/>
          </a:solidFill>
          <a:ln/>
        </p:spPr>
        <p:txBody>
          <a:bodyPr/>
          <a:lstStyle/>
          <a:p>
            <a:endParaRPr lang="tr-TR"/>
          </a:p>
        </p:txBody>
      </p:sp>
      <p:sp>
        <p:nvSpPr>
          <p:cNvPr id="52" name="Shape 49"/>
          <p:cNvSpPr/>
          <p:nvPr/>
        </p:nvSpPr>
        <p:spPr>
          <a:xfrm>
            <a:off x="7013448" y="3136392"/>
            <a:ext cx="128016" cy="128016"/>
          </a:xfrm>
          <a:prstGeom prst="ellipse">
            <a:avLst/>
          </a:prstGeom>
          <a:solidFill>
            <a:srgbClr val="FFFFFF"/>
          </a:solidFill>
          <a:ln/>
        </p:spPr>
        <p:txBody>
          <a:bodyPr/>
          <a:lstStyle/>
          <a:p>
            <a:endParaRPr lang="tr-TR"/>
          </a:p>
        </p:txBody>
      </p:sp>
      <p:sp>
        <p:nvSpPr>
          <p:cNvPr id="53" name="Shape 50"/>
          <p:cNvSpPr/>
          <p:nvPr/>
        </p:nvSpPr>
        <p:spPr>
          <a:xfrm>
            <a:off x="7150608" y="3136392"/>
            <a:ext cx="128016" cy="128016"/>
          </a:xfrm>
          <a:prstGeom prst="ellipse">
            <a:avLst/>
          </a:prstGeom>
          <a:solidFill>
            <a:srgbClr val="FFFFFF"/>
          </a:solidFill>
          <a:ln/>
        </p:spPr>
        <p:txBody>
          <a:bodyPr/>
          <a:lstStyle/>
          <a:p>
            <a:endParaRPr lang="tr-TR"/>
          </a:p>
        </p:txBody>
      </p:sp>
      <p:sp>
        <p:nvSpPr>
          <p:cNvPr id="54" name="Shape 51"/>
          <p:cNvSpPr/>
          <p:nvPr/>
        </p:nvSpPr>
        <p:spPr>
          <a:xfrm>
            <a:off x="7287768" y="3136392"/>
            <a:ext cx="128016" cy="128016"/>
          </a:xfrm>
          <a:prstGeom prst="ellipse">
            <a:avLst/>
          </a:prstGeom>
          <a:solidFill>
            <a:srgbClr val="FFFFFF"/>
          </a:solidFill>
          <a:ln/>
        </p:spPr>
        <p:txBody>
          <a:bodyPr/>
          <a:lstStyle/>
          <a:p>
            <a:endParaRPr lang="tr-TR"/>
          </a:p>
        </p:txBody>
      </p:sp>
      <p:sp>
        <p:nvSpPr>
          <p:cNvPr id="56" name="Text 53"/>
          <p:cNvSpPr/>
          <p:nvPr/>
        </p:nvSpPr>
        <p:spPr>
          <a:xfrm>
            <a:off x="457200" y="4572000"/>
            <a:ext cx="8229600" cy="228600"/>
          </a:xfrm>
          <a:prstGeom prst="rect">
            <a:avLst/>
          </a:prstGeom>
          <a:noFill/>
          <a:ln/>
        </p:spPr>
        <p:txBody>
          <a:bodyPr wrap="square" lIns="0" tIns="0" rIns="0" bIns="0" rtlCol="0" anchor="ctr"/>
          <a:lstStyle/>
          <a:p>
            <a:pPr marL="0" indent="0">
              <a:buNone/>
            </a:pPr>
            <a:r>
              <a:rPr lang="en-US" sz="1000" i="1" dirty="0">
                <a:solidFill>
                  <a:srgbClr val="999999"/>
                </a:solidFill>
                <a:latin typeface="Calibri" pitchFamily="34" charset="0"/>
                <a:ea typeface="Calibri" pitchFamily="34" charset="-122"/>
                <a:cs typeface="Calibri" pitchFamily="34" charset="-120"/>
              </a:rPr>
              <a:t>Not: Mockup görselleri proje dokümanlarında ve GitHub'da mevcuttur.</a:t>
            </a:r>
            <a:endParaRPr lang="en-US" sz="1000" dirty="0"/>
          </a:p>
        </p:txBody>
      </p:sp>
      <p:pic>
        <p:nvPicPr>
          <p:cNvPr id="57" name="Picture 56">
            <a:extLst>
              <a:ext uri="{FF2B5EF4-FFF2-40B4-BE49-F238E27FC236}">
                <a16:creationId xmlns:a16="http://schemas.microsoft.com/office/drawing/2014/main" id="{77A4018A-88B8-622B-248A-142A898B28A9}"/>
              </a:ext>
            </a:extLst>
          </p:cNvPr>
          <p:cNvPicPr>
            <a:picLocks/>
          </p:cNvPicPr>
          <p:nvPr/>
        </p:nvPicPr>
        <p:blipFill>
          <a:blip r:embed="rId4"/>
          <a:stretch>
            <a:fillRect/>
          </a:stretch>
        </p:blipFill>
        <p:spPr>
          <a:xfrm>
            <a:off x="243840" y="1371600"/>
            <a:ext cx="2131060" cy="1422400"/>
          </a:xfrm>
          <a:prstGeom prst="rect">
            <a:avLst/>
          </a:prstGeom>
        </p:spPr>
      </p:pic>
      <p:pic>
        <p:nvPicPr>
          <p:cNvPr id="58" name="Picture 57">
            <a:extLst>
              <a:ext uri="{FF2B5EF4-FFF2-40B4-BE49-F238E27FC236}">
                <a16:creationId xmlns:a16="http://schemas.microsoft.com/office/drawing/2014/main" id="{836556D8-5514-AD22-1CE9-68EDF03E4006}"/>
              </a:ext>
            </a:extLst>
          </p:cNvPr>
          <p:cNvPicPr>
            <a:picLocks/>
          </p:cNvPicPr>
          <p:nvPr/>
        </p:nvPicPr>
        <p:blipFill>
          <a:blip r:embed="rId5"/>
          <a:stretch>
            <a:fillRect/>
          </a:stretch>
        </p:blipFill>
        <p:spPr>
          <a:xfrm>
            <a:off x="2437911" y="1363863"/>
            <a:ext cx="2095500" cy="1422400"/>
          </a:xfrm>
          <a:prstGeom prst="rect">
            <a:avLst/>
          </a:prstGeom>
        </p:spPr>
      </p:pic>
      <p:pic>
        <p:nvPicPr>
          <p:cNvPr id="59" name="Picture 58">
            <a:extLst>
              <a:ext uri="{FF2B5EF4-FFF2-40B4-BE49-F238E27FC236}">
                <a16:creationId xmlns:a16="http://schemas.microsoft.com/office/drawing/2014/main" id="{426F7F7F-D79A-8685-A99C-62A09A1EC604}"/>
              </a:ext>
            </a:extLst>
          </p:cNvPr>
          <p:cNvPicPr>
            <a:picLocks/>
          </p:cNvPicPr>
          <p:nvPr/>
        </p:nvPicPr>
        <p:blipFill>
          <a:blip r:embed="rId6"/>
          <a:stretch>
            <a:fillRect/>
          </a:stretch>
        </p:blipFill>
        <p:spPr>
          <a:xfrm>
            <a:off x="4572000" y="1371600"/>
            <a:ext cx="2103120" cy="1422400"/>
          </a:xfrm>
          <a:prstGeom prst="rect">
            <a:avLst/>
          </a:prstGeom>
        </p:spPr>
      </p:pic>
      <p:pic>
        <p:nvPicPr>
          <p:cNvPr id="60" name="Picture 59">
            <a:extLst>
              <a:ext uri="{FF2B5EF4-FFF2-40B4-BE49-F238E27FC236}">
                <a16:creationId xmlns:a16="http://schemas.microsoft.com/office/drawing/2014/main" id="{EF32E326-CC36-55EA-AAD7-ACC310CC30FA}"/>
              </a:ext>
            </a:extLst>
          </p:cNvPr>
          <p:cNvPicPr>
            <a:picLocks/>
          </p:cNvPicPr>
          <p:nvPr/>
        </p:nvPicPr>
        <p:blipFill>
          <a:blip r:embed="rId7"/>
          <a:stretch>
            <a:fillRect/>
          </a:stretch>
        </p:blipFill>
        <p:spPr>
          <a:xfrm>
            <a:off x="6682740" y="1399032"/>
            <a:ext cx="2217420" cy="1394968"/>
          </a:xfrm>
          <a:prstGeom prst="rect">
            <a:avLst/>
          </a:prstGeom>
        </p:spPr>
      </p:pic>
      <p:pic>
        <p:nvPicPr>
          <p:cNvPr id="61" name="Picture 60">
            <a:extLst>
              <a:ext uri="{FF2B5EF4-FFF2-40B4-BE49-F238E27FC236}">
                <a16:creationId xmlns:a16="http://schemas.microsoft.com/office/drawing/2014/main" id="{82A44203-FDBE-B546-F223-AE1750F509FE}"/>
              </a:ext>
            </a:extLst>
          </p:cNvPr>
          <p:cNvPicPr>
            <a:picLocks/>
          </p:cNvPicPr>
          <p:nvPr/>
        </p:nvPicPr>
        <p:blipFill>
          <a:blip r:embed="rId8"/>
          <a:stretch>
            <a:fillRect/>
          </a:stretch>
        </p:blipFill>
        <p:spPr>
          <a:xfrm>
            <a:off x="243840" y="3050540"/>
            <a:ext cx="2131060" cy="1381760"/>
          </a:xfrm>
          <a:prstGeom prst="rect">
            <a:avLst/>
          </a:prstGeom>
        </p:spPr>
      </p:pic>
      <p:pic>
        <p:nvPicPr>
          <p:cNvPr id="62" name="Picture 61">
            <a:extLst>
              <a:ext uri="{FF2B5EF4-FFF2-40B4-BE49-F238E27FC236}">
                <a16:creationId xmlns:a16="http://schemas.microsoft.com/office/drawing/2014/main" id="{EFF71E30-457F-340A-BC81-FEAC8D5BD7CA}"/>
              </a:ext>
            </a:extLst>
          </p:cNvPr>
          <p:cNvPicPr>
            <a:picLocks/>
          </p:cNvPicPr>
          <p:nvPr/>
        </p:nvPicPr>
        <p:blipFill>
          <a:blip r:embed="rId9"/>
          <a:stretch>
            <a:fillRect/>
          </a:stretch>
        </p:blipFill>
        <p:spPr>
          <a:xfrm>
            <a:off x="2382520" y="3055620"/>
            <a:ext cx="2143760" cy="1407160"/>
          </a:xfrm>
          <a:prstGeom prst="rect">
            <a:avLst/>
          </a:prstGeom>
        </p:spPr>
      </p:pic>
      <p:pic>
        <p:nvPicPr>
          <p:cNvPr id="63" name="Picture 62">
            <a:extLst>
              <a:ext uri="{FF2B5EF4-FFF2-40B4-BE49-F238E27FC236}">
                <a16:creationId xmlns:a16="http://schemas.microsoft.com/office/drawing/2014/main" id="{9BB28028-65DD-E741-726D-90D83E531D29}"/>
              </a:ext>
            </a:extLst>
          </p:cNvPr>
          <p:cNvPicPr>
            <a:picLocks/>
          </p:cNvPicPr>
          <p:nvPr/>
        </p:nvPicPr>
        <p:blipFill>
          <a:blip r:embed="rId10"/>
          <a:stretch>
            <a:fillRect/>
          </a:stretch>
        </p:blipFill>
        <p:spPr>
          <a:xfrm>
            <a:off x="4561840" y="3025140"/>
            <a:ext cx="2113280" cy="1407160"/>
          </a:xfrm>
          <a:prstGeom prst="rect">
            <a:avLst/>
          </a:prstGeom>
        </p:spPr>
      </p:pic>
      <p:pic>
        <p:nvPicPr>
          <p:cNvPr id="64" name="Picture 63">
            <a:extLst>
              <a:ext uri="{FF2B5EF4-FFF2-40B4-BE49-F238E27FC236}">
                <a16:creationId xmlns:a16="http://schemas.microsoft.com/office/drawing/2014/main" id="{D7740FA0-11EF-5805-A2A1-CA06BA7A53DA}"/>
              </a:ext>
            </a:extLst>
          </p:cNvPr>
          <p:cNvPicPr>
            <a:picLocks/>
          </p:cNvPicPr>
          <p:nvPr/>
        </p:nvPicPr>
        <p:blipFill>
          <a:blip r:embed="rId11"/>
          <a:stretch>
            <a:fillRect/>
          </a:stretch>
        </p:blipFill>
        <p:spPr>
          <a:xfrm>
            <a:off x="6777228" y="3063240"/>
            <a:ext cx="2122932" cy="1369060"/>
          </a:xfrm>
          <a:prstGeom prst="rect">
            <a:avLst/>
          </a:prstGeom>
        </p:spPr>
      </p:pic>
      <p:sp>
        <p:nvSpPr>
          <p:cNvPr id="100" name="Label 100"/>
          <p:cNvSpPr txBox="1"/>
          <p:nvPr/>
        </p:nvSpPr>
        <p:spPr>
          <a:xfrm>
            <a:off x="368300" y="1128659"/>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Ana Sayfa</a:t>
            </a:r>
          </a:p>
        </p:txBody>
      </p:sp>
      <p:sp>
        <p:nvSpPr>
          <p:cNvPr id="101" name="Label 101"/>
          <p:cNvSpPr txBox="1"/>
          <p:nvPr/>
        </p:nvSpPr>
        <p:spPr>
          <a:xfrm>
            <a:off x="2526811" y="1156599"/>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Araç Listesi</a:t>
            </a:r>
          </a:p>
        </p:txBody>
      </p:sp>
      <p:sp>
        <p:nvSpPr>
          <p:cNvPr id="102" name="Label 102"/>
          <p:cNvSpPr txBox="1"/>
          <p:nvPr/>
        </p:nvSpPr>
        <p:spPr>
          <a:xfrm>
            <a:off x="4622311" y="1131043"/>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Araç Ekleme</a:t>
            </a:r>
          </a:p>
        </p:txBody>
      </p:sp>
      <p:sp>
        <p:nvSpPr>
          <p:cNvPr id="103" name="Label 103"/>
          <p:cNvSpPr txBox="1"/>
          <p:nvPr/>
        </p:nvSpPr>
        <p:spPr>
          <a:xfrm>
            <a:off x="6813550" y="1131043"/>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Müşteri Yönetimi</a:t>
            </a:r>
          </a:p>
        </p:txBody>
      </p:sp>
      <p:sp>
        <p:nvSpPr>
          <p:cNvPr id="104" name="Label 104"/>
          <p:cNvSpPr txBox="1"/>
          <p:nvPr/>
        </p:nvSpPr>
        <p:spPr>
          <a:xfrm>
            <a:off x="424180" y="2826512"/>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Satış İşlemleri</a:t>
            </a:r>
          </a:p>
        </p:txBody>
      </p:sp>
      <p:sp>
        <p:nvSpPr>
          <p:cNvPr id="105" name="Label 105"/>
          <p:cNvSpPr txBox="1"/>
          <p:nvPr/>
        </p:nvSpPr>
        <p:spPr>
          <a:xfrm>
            <a:off x="2567940" y="2809240"/>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Ekspertiz</a:t>
            </a:r>
          </a:p>
        </p:txBody>
      </p:sp>
      <p:sp>
        <p:nvSpPr>
          <p:cNvPr id="106" name="Label 106"/>
          <p:cNvSpPr txBox="1"/>
          <p:nvPr/>
        </p:nvSpPr>
        <p:spPr>
          <a:xfrm>
            <a:off x="4719320" y="2802382"/>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Sigorta Takibi</a:t>
            </a:r>
          </a:p>
        </p:txBody>
      </p:sp>
      <p:sp>
        <p:nvSpPr>
          <p:cNvPr id="107" name="Label 107"/>
          <p:cNvSpPr txBox="1"/>
          <p:nvPr/>
        </p:nvSpPr>
        <p:spPr>
          <a:xfrm>
            <a:off x="6827520" y="2828192"/>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Raporlama</a:t>
            </a:r>
          </a:p>
        </p:txBody>
      </p:sp>
    </p:spTree>
    <p:extLst>
      <p:ext uri="{BB962C8B-B14F-4D97-AF65-F5344CB8AC3E}">
        <p14:creationId xmlns:p14="http://schemas.microsoft.com/office/powerpoint/2010/main" val="211428984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09AC50-2AAD-447E-A3E6-709AFED0808D}"/>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CA602E87-7498-438D-9781-7F8AD1BC9176}"/>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511DF0B7-3A4F-4F66-8A00-FC5EC9420784}"/>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Ana Sayfa — Dashboard</a:t>
            </a:r>
          </a:p>
        </p:txBody>
      </p:sp>
      <p:sp>
        <p:nvSpPr>
          <p:cNvPr id="5" name="TextBox 4">
            <a:extLst>
              <a:ext uri="{FF2B5EF4-FFF2-40B4-BE49-F238E27FC236}">
                <a16:creationId xmlns:a16="http://schemas.microsoft.com/office/drawing/2014/main" id="{6909FBBF-E6AC-4077-B940-3BB5EF3F652A}"/>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Anlık performans özeti ve hızlı erişim merkezi</a:t>
            </a:r>
          </a:p>
        </p:txBody>
      </p:sp>
      <p:sp>
        <p:nvSpPr>
          <p:cNvPr id="6" name="Rectangle 5">
            <a:extLst>
              <a:ext uri="{FF2B5EF4-FFF2-40B4-BE49-F238E27FC236}">
                <a16:creationId xmlns:a16="http://schemas.microsoft.com/office/drawing/2014/main" id="{14CD360E-9D65-4012-A747-B44051D73021}"/>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E052E6FF-1B63-478C-BC84-1F718EC011AD}"/>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FC631CB0-C3B5-42D9-AC9F-F22C2F0EA333}"/>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E1A01C8C-3132-4D51-B0B3-F7E349DEA435}"/>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8956EB9F-2A75-4E58-812B-A2C2BD519468}"/>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B4DB2511-4B68-48D6-8C34-8492CFF1C55E}"/>
              </a:ext>
            </a:extLst>
          </p:cNvPr>
          <p:cNvSpPr txBox="1"/>
          <p:nvPr/>
        </p:nvSpPr>
        <p:spPr>
          <a:xfrm>
            <a:off x="660400" y="1320800"/>
            <a:ext cx="3708400" cy="307777"/>
          </a:xfrm>
          <a:prstGeom prst="rect">
            <a:avLst/>
          </a:prstGeom>
          <a:noFill/>
        </p:spPr>
        <p:txBody>
          <a:bodyPr vertOverflow="overflow" vert="horz" wrap="square" rtlCol="0" anchor="t">
            <a:spAutoFit/>
          </a:bodyPr>
          <a:lstStyle/>
          <a:p>
            <a:pPr algn="l"/>
            <a:r>
              <a:rPr lang="tr-TR" sz="1400" dirty="0">
                <a:solidFill>
                  <a:srgbClr val="333333"/>
                </a:solidFill>
              </a:rPr>
              <a:t>▸ araç stoğu, aylık satış ve müşteri sayısı </a:t>
            </a:r>
          </a:p>
        </p:txBody>
      </p:sp>
      <p:sp>
        <p:nvSpPr>
          <p:cNvPr id="12" name="TextBox 11">
            <a:extLst>
              <a:ext uri="{FF2B5EF4-FFF2-40B4-BE49-F238E27FC236}">
                <a16:creationId xmlns:a16="http://schemas.microsoft.com/office/drawing/2014/main" id="{F3063817-E975-4FA9-A45C-0084844E7D57}"/>
              </a:ext>
            </a:extLst>
          </p:cNvPr>
          <p:cNvSpPr txBox="1"/>
          <p:nvPr/>
        </p:nvSpPr>
        <p:spPr>
          <a:xfrm>
            <a:off x="660400" y="1688297"/>
            <a:ext cx="3708400" cy="523220"/>
          </a:xfrm>
          <a:prstGeom prst="rect">
            <a:avLst/>
          </a:prstGeom>
          <a:noFill/>
        </p:spPr>
        <p:txBody>
          <a:bodyPr vertOverflow="overflow" vert="horz" wrap="square" rtlCol="0" anchor="t">
            <a:spAutoFit/>
          </a:bodyPr>
          <a:lstStyle/>
          <a:p>
            <a:pPr algn="l"/>
            <a:r>
              <a:rPr lang="tr-TR" sz="1400" dirty="0">
                <a:solidFill>
                  <a:srgbClr val="333333"/>
                </a:solidFill>
              </a:rPr>
              <a:t>▸ Son  satışları listeleyen tablo (araç, müşteri, fiyat, tarih)</a:t>
            </a:r>
          </a:p>
        </p:txBody>
      </p:sp>
      <p:sp>
        <p:nvSpPr>
          <p:cNvPr id="13" name="TextBox 12">
            <a:extLst>
              <a:ext uri="{FF2B5EF4-FFF2-40B4-BE49-F238E27FC236}">
                <a16:creationId xmlns:a16="http://schemas.microsoft.com/office/drawing/2014/main" id="{04564F55-870A-4C36-9609-A4B048483941}"/>
              </a:ext>
            </a:extLst>
          </p:cNvPr>
          <p:cNvSpPr txBox="1"/>
          <p:nvPr/>
        </p:nvSpPr>
        <p:spPr>
          <a:xfrm>
            <a:off x="660400" y="2243418"/>
            <a:ext cx="3708400" cy="508000"/>
          </a:xfrm>
          <a:prstGeom prst="rect">
            <a:avLst/>
          </a:prstGeom>
          <a:noFill/>
        </p:spPr>
        <p:txBody>
          <a:bodyPr vertOverflow="overflow" vert="horz" wrap="square" rtlCol="0" anchor="t">
            <a:spAutoFit/>
          </a:bodyPr>
          <a:lstStyle/>
          <a:p>
            <a:pPr algn="l"/>
            <a:r>
              <a:rPr lang="tr-TR" sz="1400">
                <a:solidFill>
                  <a:srgbClr val="333333"/>
                </a:solidFill>
              </a:rPr>
              <a:t>▸ Hızlı İşlemler: Yeni Araç, Yeni Satış, Ekspertiz, Müşteri Ekle</a:t>
            </a:r>
          </a:p>
        </p:txBody>
      </p:sp>
      <p:sp>
        <p:nvSpPr>
          <p:cNvPr id="14" name="TextBox 13">
            <a:extLst>
              <a:ext uri="{FF2B5EF4-FFF2-40B4-BE49-F238E27FC236}">
                <a16:creationId xmlns:a16="http://schemas.microsoft.com/office/drawing/2014/main" id="{0D943433-1C2E-4574-86BA-34D81F046C5C}"/>
              </a:ext>
            </a:extLst>
          </p:cNvPr>
          <p:cNvSpPr txBox="1"/>
          <p:nvPr/>
        </p:nvSpPr>
        <p:spPr>
          <a:xfrm>
            <a:off x="660400" y="2786966"/>
            <a:ext cx="3708400" cy="508000"/>
          </a:xfrm>
          <a:prstGeom prst="rect">
            <a:avLst/>
          </a:prstGeom>
          <a:noFill/>
        </p:spPr>
        <p:txBody>
          <a:bodyPr vertOverflow="overflow" vert="horz" wrap="square" rtlCol="0" anchor="t">
            <a:spAutoFit/>
          </a:bodyPr>
          <a:lstStyle/>
          <a:p>
            <a:pPr algn="l"/>
            <a:r>
              <a:rPr lang="tr-TR" sz="1400">
                <a:solidFill>
                  <a:srgbClr val="333333"/>
                </a:solidFill>
              </a:rPr>
              <a:t>▸ Bildirim akışı: sigorta/muayene uyarıları ve tamamlanan satışlar</a:t>
            </a:r>
          </a:p>
        </p:txBody>
      </p:sp>
      <p:sp>
        <p:nvSpPr>
          <p:cNvPr id="15" name="Rectangle 14">
            <a:extLst>
              <a:ext uri="{FF2B5EF4-FFF2-40B4-BE49-F238E27FC236}">
                <a16:creationId xmlns:a16="http://schemas.microsoft.com/office/drawing/2014/main" id="{61C158E8-3AE5-4BEB-A29D-5752DEB015A4}"/>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6" name="Rectangle 15">
            <a:extLst>
              <a:ext uri="{FF2B5EF4-FFF2-40B4-BE49-F238E27FC236}">
                <a16:creationId xmlns:a16="http://schemas.microsoft.com/office/drawing/2014/main" id="{FC30DF11-CE96-4F14-ADC4-AE46AEB5FB3F}"/>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TextBox 16">
            <a:extLst>
              <a:ext uri="{FF2B5EF4-FFF2-40B4-BE49-F238E27FC236}">
                <a16:creationId xmlns:a16="http://schemas.microsoft.com/office/drawing/2014/main" id="{443D53E8-6668-494A-8CAE-48EF950D6C32}"/>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Nasıl Çalışıyor?</a:t>
            </a:r>
          </a:p>
        </p:txBody>
      </p:sp>
      <p:sp>
        <p:nvSpPr>
          <p:cNvPr id="18" name="Rectangle 17">
            <a:extLst>
              <a:ext uri="{FF2B5EF4-FFF2-40B4-BE49-F238E27FC236}">
                <a16:creationId xmlns:a16="http://schemas.microsoft.com/office/drawing/2014/main" id="{CBB5FD0D-4AA7-40BD-84DE-3547442D63D5}"/>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9" name="TextBox 18">
            <a:extLst>
              <a:ext uri="{FF2B5EF4-FFF2-40B4-BE49-F238E27FC236}">
                <a16:creationId xmlns:a16="http://schemas.microsoft.com/office/drawing/2014/main" id="{B21EE57F-74E0-4B91-ACBC-8947BACC55D4}"/>
              </a:ext>
            </a:extLst>
          </p:cNvPr>
          <p:cNvSpPr txBox="1"/>
          <p:nvPr/>
        </p:nvSpPr>
        <p:spPr>
          <a:xfrm>
            <a:off x="4648200" y="1231900"/>
            <a:ext cx="3835400" cy="646331"/>
          </a:xfrm>
          <a:prstGeom prst="rect">
            <a:avLst/>
          </a:prstGeom>
          <a:noFill/>
        </p:spPr>
        <p:txBody>
          <a:bodyPr vertOverflow="overflow" vert="horz" wrap="square" rtlCol="0" anchor="t">
            <a:spAutoFit/>
          </a:bodyPr>
          <a:lstStyle/>
          <a:p>
            <a:pPr algn="l"/>
            <a:r>
              <a:rPr lang="tr-TR" sz="1200" dirty="0">
                <a:solidFill>
                  <a:srgbClr val="333333"/>
                </a:solidFill>
              </a:rPr>
              <a:t>Açılışta araç </a:t>
            </a:r>
            <a:r>
              <a:rPr lang="tr-TR" sz="1200" dirty="0" err="1">
                <a:solidFill>
                  <a:srgbClr val="333333"/>
                </a:solidFill>
              </a:rPr>
              <a:t>stoğu</a:t>
            </a:r>
            <a:r>
              <a:rPr lang="tr-TR" sz="1200" dirty="0">
                <a:solidFill>
                  <a:srgbClr val="333333"/>
                </a:solidFill>
              </a:rPr>
              <a:t>, aylık satış sayısı ve müşteri bilgileri bir arada gösterilir. Yaklaşan sigorta/muayene tarihleri ve son satışlar otomatik olarak listelenir.</a:t>
            </a:r>
          </a:p>
        </p:txBody>
      </p:sp>
      <p:sp>
        <p:nvSpPr>
          <p:cNvPr id="22" name="Rectangle 21">
            <a:extLst>
              <a:ext uri="{FF2B5EF4-FFF2-40B4-BE49-F238E27FC236}">
                <a16:creationId xmlns:a16="http://schemas.microsoft.com/office/drawing/2014/main" id="{15F5184C-14E6-4C74-BF8F-68F9DFAC89AB}"/>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3" name="TextBox 22">
            <a:extLst>
              <a:ext uri="{FF2B5EF4-FFF2-40B4-BE49-F238E27FC236}">
                <a16:creationId xmlns:a16="http://schemas.microsoft.com/office/drawing/2014/main" id="{F87C8F2A-C5AC-43F6-BCAF-11DEB3051B18}"/>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5" name="Picture 24">
            <a:extLst>
              <a:ext uri="{FF2B5EF4-FFF2-40B4-BE49-F238E27FC236}">
                <a16:creationId xmlns:a16="http://schemas.microsoft.com/office/drawing/2014/main" id="{22836579-F593-1DDB-2F24-84ECCFF01F46}"/>
              </a:ext>
            </a:extLst>
          </p:cNvPr>
          <p:cNvPicPr>
            <a:picLocks noChangeAspect="1"/>
          </p:cNvPicPr>
          <p:nvPr/>
        </p:nvPicPr>
        <p:blipFill>
          <a:blip r:embed="rId2"/>
          <a:stretch>
            <a:fillRect/>
          </a:stretch>
        </p:blipFill>
        <p:spPr>
          <a:xfrm>
            <a:off x="4648200" y="1890931"/>
            <a:ext cx="4279468" cy="2757269"/>
          </a:xfrm>
          <a:prstGeom prst="rect">
            <a:avLst/>
          </a:prstGeom>
        </p:spPr>
      </p:pic>
    </p:spTree>
    <p:extLst>
      <p:ext uri="{BB962C8B-B14F-4D97-AF65-F5344CB8AC3E}">
        <p14:creationId xmlns:p14="http://schemas.microsoft.com/office/powerpoint/2010/main" val="177175284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B67C22-71BE-4B29-B514-48E3B93E4088}"/>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5E747867-47DB-43C0-A22D-9205A02ED638}"/>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dirty="0"/>
          </a:p>
        </p:txBody>
      </p:sp>
      <p:sp>
        <p:nvSpPr>
          <p:cNvPr id="4" name="TextBox 3">
            <a:extLst>
              <a:ext uri="{FF2B5EF4-FFF2-40B4-BE49-F238E27FC236}">
                <a16:creationId xmlns:a16="http://schemas.microsoft.com/office/drawing/2014/main" id="{08AB40FB-802C-4197-9969-5A88735FBED7}"/>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Araç Yönetimi — Stok Listesi</a:t>
            </a:r>
          </a:p>
        </p:txBody>
      </p:sp>
      <p:sp>
        <p:nvSpPr>
          <p:cNvPr id="5" name="TextBox 4">
            <a:extLst>
              <a:ext uri="{FF2B5EF4-FFF2-40B4-BE49-F238E27FC236}">
                <a16:creationId xmlns:a16="http://schemas.microsoft.com/office/drawing/2014/main" id="{843BD62C-2829-4B42-9629-A2E673FCAA25}"/>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Tüm araçları filtreleyin, yönetin ve takip edin</a:t>
            </a:r>
          </a:p>
        </p:txBody>
      </p:sp>
      <p:sp>
        <p:nvSpPr>
          <p:cNvPr id="6" name="Rectangle 5">
            <a:extLst>
              <a:ext uri="{FF2B5EF4-FFF2-40B4-BE49-F238E27FC236}">
                <a16:creationId xmlns:a16="http://schemas.microsoft.com/office/drawing/2014/main" id="{B65B5120-4375-4EAF-9675-8A87D10C50E2}"/>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2C7E810C-7FA7-4F80-99B8-61E63F120511}"/>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3C443D87-5066-41FB-82CA-5F503976BE21}"/>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71B965A7-E408-4D4A-8EE3-88108CF9E44F}"/>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E045FA93-F5AA-47BF-AF4B-E7FCA7FC7BEA}"/>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5A2C5C80-7B82-4E70-A550-96A8A56E571B}"/>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Marka/model arama ve tip filtresi (Tümü/Otomobil/SUV/Ticari/Motosiklet)</a:t>
            </a:r>
          </a:p>
        </p:txBody>
      </p:sp>
      <p:sp>
        <p:nvSpPr>
          <p:cNvPr id="12" name="TextBox 11">
            <a:extLst>
              <a:ext uri="{FF2B5EF4-FFF2-40B4-BE49-F238E27FC236}">
                <a16:creationId xmlns:a16="http://schemas.microsoft.com/office/drawing/2014/main" id="{B9092E88-436D-4848-9911-B255F01990A0}"/>
              </a:ext>
            </a:extLst>
          </p:cNvPr>
          <p:cNvSpPr txBox="1"/>
          <p:nvPr/>
        </p:nvSpPr>
        <p:spPr>
          <a:xfrm>
            <a:off x="660400" y="1879600"/>
            <a:ext cx="3708400" cy="508000"/>
          </a:xfrm>
          <a:prstGeom prst="rect">
            <a:avLst/>
          </a:prstGeom>
          <a:noFill/>
        </p:spPr>
        <p:txBody>
          <a:bodyPr vertOverflow="overflow" vert="horz" wrap="square" rtlCol="0" anchor="t">
            <a:spAutoFit/>
          </a:bodyPr>
          <a:lstStyle/>
          <a:p>
            <a:pPr algn="l"/>
            <a:r>
              <a:rPr lang="tr-TR" sz="1400">
                <a:solidFill>
                  <a:srgbClr val="333333"/>
                </a:solidFill>
              </a:rPr>
              <a:t>▸ Araç detayları: marka, tip, yıl, km, fiyat, plaka, durum ve puan</a:t>
            </a:r>
          </a:p>
        </p:txBody>
      </p:sp>
      <p:sp>
        <p:nvSpPr>
          <p:cNvPr id="13" name="TextBox 12">
            <a:extLst>
              <a:ext uri="{FF2B5EF4-FFF2-40B4-BE49-F238E27FC236}">
                <a16:creationId xmlns:a16="http://schemas.microsoft.com/office/drawing/2014/main" id="{8AB94A52-A2A6-4272-AB62-4766F92E6316}"/>
              </a:ext>
            </a:extLst>
          </p:cNvPr>
          <p:cNvSpPr txBox="1"/>
          <p:nvPr/>
        </p:nvSpPr>
        <p:spPr>
          <a:xfrm>
            <a:off x="660400" y="2438400"/>
            <a:ext cx="3708400" cy="508000"/>
          </a:xfrm>
          <a:prstGeom prst="rect">
            <a:avLst/>
          </a:prstGeom>
          <a:noFill/>
        </p:spPr>
        <p:txBody>
          <a:bodyPr vertOverflow="overflow" vert="horz" wrap="square" rtlCol="0" anchor="t">
            <a:spAutoFit/>
          </a:bodyPr>
          <a:lstStyle/>
          <a:p>
            <a:pPr algn="l"/>
            <a:r>
              <a:rPr lang="tr-TR" sz="1400">
                <a:solidFill>
                  <a:srgbClr val="333333"/>
                </a:solidFill>
              </a:rPr>
              <a:t>▸ Durum renk kodları: Satışta (yeşil), Rezerve (turuncu), Serviste (mavi), Satıldı (kırmızı)</a:t>
            </a:r>
          </a:p>
        </p:txBody>
      </p:sp>
      <p:sp>
        <p:nvSpPr>
          <p:cNvPr id="14" name="TextBox 13">
            <a:extLst>
              <a:ext uri="{FF2B5EF4-FFF2-40B4-BE49-F238E27FC236}">
                <a16:creationId xmlns:a16="http://schemas.microsoft.com/office/drawing/2014/main" id="{087E9C76-CF86-4419-9F77-D1667C510C3E}"/>
              </a:ext>
            </a:extLst>
          </p:cNvPr>
          <p:cNvSpPr txBox="1"/>
          <p:nvPr/>
        </p:nvSpPr>
        <p:spPr>
          <a:xfrm>
            <a:off x="647700" y="2984500"/>
            <a:ext cx="3708400" cy="307777"/>
          </a:xfrm>
          <a:prstGeom prst="rect">
            <a:avLst/>
          </a:prstGeom>
          <a:noFill/>
        </p:spPr>
        <p:txBody>
          <a:bodyPr vertOverflow="overflow" vert="horz" wrap="square" rtlCol="0" anchor="t">
            <a:spAutoFit/>
          </a:bodyPr>
          <a:lstStyle/>
          <a:p>
            <a:pPr algn="l"/>
            <a:r>
              <a:rPr lang="tr-TR" sz="1400" dirty="0">
                <a:solidFill>
                  <a:srgbClr val="333333"/>
                </a:solidFill>
              </a:rPr>
              <a:t>▸ Sayfalama</a:t>
            </a:r>
          </a:p>
        </p:txBody>
      </p:sp>
      <p:sp>
        <p:nvSpPr>
          <p:cNvPr id="15" name="Rectangle 14">
            <a:extLst>
              <a:ext uri="{FF2B5EF4-FFF2-40B4-BE49-F238E27FC236}">
                <a16:creationId xmlns:a16="http://schemas.microsoft.com/office/drawing/2014/main" id="{EAFE81EA-7028-44CC-8FF2-F3C20357DB04}"/>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6" name="Rectangle 15">
            <a:extLst>
              <a:ext uri="{FF2B5EF4-FFF2-40B4-BE49-F238E27FC236}">
                <a16:creationId xmlns:a16="http://schemas.microsoft.com/office/drawing/2014/main" id="{CCC3AD1E-E512-4E5E-917E-13C12D8D1AEA}"/>
              </a:ext>
            </a:extLst>
          </p:cNvPr>
          <p:cNvSpPr/>
          <p:nvPr/>
        </p:nvSpPr>
        <p:spPr>
          <a:xfrm>
            <a:off x="4648200" y="863600"/>
            <a:ext cx="4038600" cy="3556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TextBox 16">
            <a:extLst>
              <a:ext uri="{FF2B5EF4-FFF2-40B4-BE49-F238E27FC236}">
                <a16:creationId xmlns:a16="http://schemas.microsoft.com/office/drawing/2014/main" id="{5C11EFE8-5F9D-420B-A9F8-EC6012EB5816}"/>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Nasıl Çalışıyor?</a:t>
            </a:r>
          </a:p>
        </p:txBody>
      </p:sp>
      <p:sp>
        <p:nvSpPr>
          <p:cNvPr id="18" name="Rectangle 17">
            <a:extLst>
              <a:ext uri="{FF2B5EF4-FFF2-40B4-BE49-F238E27FC236}">
                <a16:creationId xmlns:a16="http://schemas.microsoft.com/office/drawing/2014/main" id="{69795CAA-8141-4AC1-A26D-24DE2840A401}"/>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9" name="TextBox 18">
            <a:extLst>
              <a:ext uri="{FF2B5EF4-FFF2-40B4-BE49-F238E27FC236}">
                <a16:creationId xmlns:a16="http://schemas.microsoft.com/office/drawing/2014/main" id="{CA886D64-BB6D-439D-B2ED-BE5C529C58BD}"/>
              </a:ext>
            </a:extLst>
          </p:cNvPr>
          <p:cNvSpPr txBox="1"/>
          <p:nvPr/>
        </p:nvSpPr>
        <p:spPr>
          <a:xfrm>
            <a:off x="4731871" y="1290917"/>
            <a:ext cx="3835400" cy="646331"/>
          </a:xfrm>
          <a:prstGeom prst="rect">
            <a:avLst/>
          </a:prstGeom>
          <a:noFill/>
        </p:spPr>
        <p:txBody>
          <a:bodyPr vertOverflow="overflow" vert="horz" wrap="square" rtlCol="0" anchor="t">
            <a:spAutoFit/>
          </a:bodyPr>
          <a:lstStyle/>
          <a:p>
            <a:pPr algn="l"/>
            <a:r>
              <a:rPr lang="tr-TR" sz="1200" dirty="0">
                <a:solidFill>
                  <a:srgbClr val="333333"/>
                </a:solidFill>
              </a:rPr>
              <a:t>Kullanıcı marka, model veya tipe göre arama yapabilir. Araçlar tabloda renkli durum etiketleriyle gösterilir: satışta, rezerve, serviste veya satıldı.</a:t>
            </a:r>
          </a:p>
        </p:txBody>
      </p:sp>
      <p:sp>
        <p:nvSpPr>
          <p:cNvPr id="22" name="Rectangle 21">
            <a:extLst>
              <a:ext uri="{FF2B5EF4-FFF2-40B4-BE49-F238E27FC236}">
                <a16:creationId xmlns:a16="http://schemas.microsoft.com/office/drawing/2014/main" id="{FD512999-FC7B-4132-B20B-D03BA7DF35C4}"/>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3" name="TextBox 22">
            <a:extLst>
              <a:ext uri="{FF2B5EF4-FFF2-40B4-BE49-F238E27FC236}">
                <a16:creationId xmlns:a16="http://schemas.microsoft.com/office/drawing/2014/main" id="{D37A1003-91CA-4B06-B21F-311BD52840DB}"/>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5" name="Picture 24">
            <a:extLst>
              <a:ext uri="{FF2B5EF4-FFF2-40B4-BE49-F238E27FC236}">
                <a16:creationId xmlns:a16="http://schemas.microsoft.com/office/drawing/2014/main" id="{35617530-114F-BD55-CAFC-6275C96B54A0}"/>
              </a:ext>
            </a:extLst>
          </p:cNvPr>
          <p:cNvPicPr>
            <a:picLocks noChangeAspect="1"/>
          </p:cNvPicPr>
          <p:nvPr/>
        </p:nvPicPr>
        <p:blipFill>
          <a:blip r:embed="rId2"/>
          <a:stretch>
            <a:fillRect/>
          </a:stretch>
        </p:blipFill>
        <p:spPr>
          <a:xfrm>
            <a:off x="4648200" y="1904999"/>
            <a:ext cx="4200378" cy="2743202"/>
          </a:xfrm>
          <a:prstGeom prst="rect">
            <a:avLst/>
          </a:prstGeom>
        </p:spPr>
      </p:pic>
    </p:spTree>
    <p:extLst>
      <p:ext uri="{BB962C8B-B14F-4D97-AF65-F5344CB8AC3E}">
        <p14:creationId xmlns:p14="http://schemas.microsoft.com/office/powerpoint/2010/main" val="331252833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13C78B-E49D-437E-AEE9-D569182B3D9F}"/>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5EB0A22E-926A-4244-A7DA-030E5C506BA0}"/>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F7AD815B-DBA9-46E3-9A84-CD182D35A7CE}"/>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Araç Ekleme — Yeni Araç Formu</a:t>
            </a:r>
          </a:p>
        </p:txBody>
      </p:sp>
      <p:sp>
        <p:nvSpPr>
          <p:cNvPr id="5" name="TextBox 4">
            <a:extLst>
              <a:ext uri="{FF2B5EF4-FFF2-40B4-BE49-F238E27FC236}">
                <a16:creationId xmlns:a16="http://schemas.microsoft.com/office/drawing/2014/main" id="{A3860409-32F9-4630-927F-70D522A726E9}"/>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Stoka yeni araç kaydı ve fiyat hesabı</a:t>
            </a:r>
          </a:p>
        </p:txBody>
      </p:sp>
      <p:sp>
        <p:nvSpPr>
          <p:cNvPr id="6" name="Rectangle 5">
            <a:extLst>
              <a:ext uri="{FF2B5EF4-FFF2-40B4-BE49-F238E27FC236}">
                <a16:creationId xmlns:a16="http://schemas.microsoft.com/office/drawing/2014/main" id="{CAA49235-416E-4C7B-A477-F2F429F004D7}"/>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4C0CEAA7-CC8B-4947-A4AC-351F8B808DFF}"/>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42F29A5B-F3B5-41B2-BF07-2F430354268D}"/>
              </a:ext>
            </a:extLst>
          </p:cNvPr>
          <p:cNvSpPr/>
          <p:nvPr/>
        </p:nvSpPr>
        <p:spPr>
          <a:xfrm>
            <a:off x="457200" y="863600"/>
            <a:ext cx="50800" cy="3810000"/>
          </a:xfrm>
          <a:prstGeom prst="rect">
            <a:avLst/>
          </a:prstGeom>
          <a:solidFill>
            <a:schemeClr val="accent2"/>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433CB24C-DDEA-4ABB-88EE-B8B9DFCF357E}"/>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70EED213-7B8E-4FD1-AE83-BC09A9ABEED4}"/>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359EABAF-C88F-4219-8597-525DFCF7B082}"/>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Araç tipi seçimi: Otomobil / SUV / Ticari / Motosiklet tab'ları</a:t>
            </a:r>
          </a:p>
        </p:txBody>
      </p:sp>
      <p:sp>
        <p:nvSpPr>
          <p:cNvPr id="12" name="TextBox 11">
            <a:extLst>
              <a:ext uri="{FF2B5EF4-FFF2-40B4-BE49-F238E27FC236}">
                <a16:creationId xmlns:a16="http://schemas.microsoft.com/office/drawing/2014/main" id="{8A6484D6-5E0E-4DEB-B173-41F3D5D73E3D}"/>
              </a:ext>
            </a:extLst>
          </p:cNvPr>
          <p:cNvSpPr txBox="1"/>
          <p:nvPr/>
        </p:nvSpPr>
        <p:spPr>
          <a:xfrm>
            <a:off x="660400" y="1879600"/>
            <a:ext cx="3708400" cy="508000"/>
          </a:xfrm>
          <a:prstGeom prst="rect">
            <a:avLst/>
          </a:prstGeom>
          <a:noFill/>
        </p:spPr>
        <p:txBody>
          <a:bodyPr vertOverflow="overflow" vert="horz" wrap="square" rtlCol="0" anchor="t">
            <a:spAutoFit/>
          </a:bodyPr>
          <a:lstStyle/>
          <a:p>
            <a:pPr algn="l"/>
            <a:r>
              <a:rPr lang="tr-TR" sz="1400">
                <a:solidFill>
                  <a:srgbClr val="333333"/>
                </a:solidFill>
              </a:rPr>
              <a:t>▸ Temel Bilgiler: Marka, Model, Yıl, KM, Plaka, Şasi No, Renk</a:t>
            </a:r>
          </a:p>
        </p:txBody>
      </p:sp>
      <p:sp>
        <p:nvSpPr>
          <p:cNvPr id="13" name="TextBox 12">
            <a:extLst>
              <a:ext uri="{FF2B5EF4-FFF2-40B4-BE49-F238E27FC236}">
                <a16:creationId xmlns:a16="http://schemas.microsoft.com/office/drawing/2014/main" id="{7186039D-6BD2-4C18-A02F-97208D2FCAEB}"/>
              </a:ext>
            </a:extLst>
          </p:cNvPr>
          <p:cNvSpPr txBox="1"/>
          <p:nvPr/>
        </p:nvSpPr>
        <p:spPr>
          <a:xfrm>
            <a:off x="660400" y="2438400"/>
            <a:ext cx="3708400" cy="508000"/>
          </a:xfrm>
          <a:prstGeom prst="rect">
            <a:avLst/>
          </a:prstGeom>
          <a:noFill/>
        </p:spPr>
        <p:txBody>
          <a:bodyPr vertOverflow="overflow" vert="horz" wrap="square" rtlCol="0" anchor="t">
            <a:spAutoFit/>
          </a:bodyPr>
          <a:lstStyle/>
          <a:p>
            <a:pPr algn="l"/>
            <a:r>
              <a:rPr lang="tr-TR" sz="1400">
                <a:solidFill>
                  <a:srgbClr val="333333"/>
                </a:solidFill>
              </a:rPr>
              <a:t>▸ Yakıt Tipi ve Vites Tipi açılır menüleri</a:t>
            </a:r>
          </a:p>
        </p:txBody>
      </p:sp>
      <p:sp>
        <p:nvSpPr>
          <p:cNvPr id="14" name="TextBox 13">
            <a:extLst>
              <a:ext uri="{FF2B5EF4-FFF2-40B4-BE49-F238E27FC236}">
                <a16:creationId xmlns:a16="http://schemas.microsoft.com/office/drawing/2014/main" id="{487FF817-57E3-414E-A232-BEF1B1F265F2}"/>
              </a:ext>
            </a:extLst>
          </p:cNvPr>
          <p:cNvSpPr txBox="1"/>
          <p:nvPr/>
        </p:nvSpPr>
        <p:spPr>
          <a:xfrm>
            <a:off x="660400" y="2829123"/>
            <a:ext cx="3708400" cy="508000"/>
          </a:xfrm>
          <a:prstGeom prst="rect">
            <a:avLst/>
          </a:prstGeom>
          <a:noFill/>
        </p:spPr>
        <p:txBody>
          <a:bodyPr vertOverflow="overflow" vert="horz" wrap="square" rtlCol="0" anchor="t">
            <a:spAutoFit/>
          </a:bodyPr>
          <a:lstStyle/>
          <a:p>
            <a:pPr algn="l"/>
            <a:r>
              <a:rPr lang="tr-TR" sz="1400" dirty="0">
                <a:solidFill>
                  <a:srgbClr val="333333"/>
                </a:solidFill>
              </a:rPr>
              <a:t>▸ Fiyat Bilgileri: Alış Fiyatı, Satış Fiyatı → otomatik Tahmini Kâr hesabı</a:t>
            </a:r>
          </a:p>
        </p:txBody>
      </p:sp>
      <p:sp>
        <p:nvSpPr>
          <p:cNvPr id="15" name="TextBox 14">
            <a:extLst>
              <a:ext uri="{FF2B5EF4-FFF2-40B4-BE49-F238E27FC236}">
                <a16:creationId xmlns:a16="http://schemas.microsoft.com/office/drawing/2014/main" id="{19B84810-6602-45F0-AF7A-890CA8FA9B89}"/>
              </a:ext>
            </a:extLst>
          </p:cNvPr>
          <p:cNvSpPr txBox="1"/>
          <p:nvPr/>
        </p:nvSpPr>
        <p:spPr>
          <a:xfrm>
            <a:off x="660400" y="3390900"/>
            <a:ext cx="3708400" cy="508000"/>
          </a:xfrm>
          <a:prstGeom prst="rect">
            <a:avLst/>
          </a:prstGeom>
          <a:noFill/>
        </p:spPr>
        <p:txBody>
          <a:bodyPr vertOverflow="overflow" vert="horz" wrap="square" rtlCol="0" anchor="t">
            <a:spAutoFit/>
          </a:bodyPr>
          <a:lstStyle/>
          <a:p>
            <a:pPr algn="l"/>
            <a:r>
              <a:rPr lang="tr-TR" sz="1400">
                <a:solidFill>
                  <a:srgbClr val="333333"/>
                </a:solidFill>
              </a:rPr>
              <a:t>▸ Otomobile Özgü: Kasa Tipi, Kapı Sayısı, Sunroof checkbox</a:t>
            </a:r>
          </a:p>
        </p:txBody>
      </p:sp>
      <p:sp>
        <p:nvSpPr>
          <p:cNvPr id="16" name="Rectangle 15">
            <a:extLst>
              <a:ext uri="{FF2B5EF4-FFF2-40B4-BE49-F238E27FC236}">
                <a16:creationId xmlns:a16="http://schemas.microsoft.com/office/drawing/2014/main" id="{236F6B6E-5949-4AF6-B33F-10A06BDE1F38}"/>
              </a:ext>
            </a:extLst>
          </p:cNvPr>
          <p:cNvSpPr/>
          <p:nvPr/>
        </p:nvSpPr>
        <p:spPr>
          <a:xfrm>
            <a:off x="4648200" y="9017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19A8789E-635A-40A5-8A78-F21233919630}"/>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4BCE8CD9-CB59-438E-8283-FEB07C0576A5}"/>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Nasıl Çalışıyor?</a:t>
            </a:r>
          </a:p>
        </p:txBody>
      </p:sp>
      <p:sp>
        <p:nvSpPr>
          <p:cNvPr id="19" name="Rectangle 18">
            <a:extLst>
              <a:ext uri="{FF2B5EF4-FFF2-40B4-BE49-F238E27FC236}">
                <a16:creationId xmlns:a16="http://schemas.microsoft.com/office/drawing/2014/main" id="{917E546D-C25F-49D2-A3B6-10001BFA3B85}"/>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73C32615-51AC-4D9E-B778-DBC9111475CE}"/>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Araç tipi seçildiğinde o tipe özel alanlar otomatik görünür. Alış ve satış fiyatı girildiğinde sistem tahmini kârı anında hesaplar.</a:t>
            </a:r>
          </a:p>
        </p:txBody>
      </p:sp>
      <p:sp>
        <p:nvSpPr>
          <p:cNvPr id="23" name="Rectangle 22">
            <a:extLst>
              <a:ext uri="{FF2B5EF4-FFF2-40B4-BE49-F238E27FC236}">
                <a16:creationId xmlns:a16="http://schemas.microsoft.com/office/drawing/2014/main" id="{17FB038C-A01F-4B06-8EB4-3630BD82CFF8}"/>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81C6F4B7-96A7-4C34-B06A-51AE00DC2A31}"/>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6" name="Picture 25">
            <a:extLst>
              <a:ext uri="{FF2B5EF4-FFF2-40B4-BE49-F238E27FC236}">
                <a16:creationId xmlns:a16="http://schemas.microsoft.com/office/drawing/2014/main" id="{70CC90E6-4111-9772-5E2E-3528BDFB5FAE}"/>
              </a:ext>
            </a:extLst>
          </p:cNvPr>
          <p:cNvPicPr>
            <a:picLocks noChangeAspect="1"/>
          </p:cNvPicPr>
          <p:nvPr/>
        </p:nvPicPr>
        <p:blipFill>
          <a:blip r:embed="rId2"/>
          <a:srcRect r="3774"/>
          <a:stretch>
            <a:fillRect/>
          </a:stretch>
        </p:blipFill>
        <p:spPr>
          <a:xfrm>
            <a:off x="4648200" y="2037126"/>
            <a:ext cx="4038600" cy="2537851"/>
          </a:xfrm>
          <a:prstGeom prst="rect">
            <a:avLst/>
          </a:prstGeom>
        </p:spPr>
      </p:pic>
    </p:spTree>
    <p:extLst>
      <p:ext uri="{BB962C8B-B14F-4D97-AF65-F5344CB8AC3E}">
        <p14:creationId xmlns:p14="http://schemas.microsoft.com/office/powerpoint/2010/main" val="248109563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4FEDA5-2670-478B-B6E5-45BF73DB505B}"/>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D4875960-9F6F-481A-BC34-D04246654C44}"/>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3458AA80-44B6-47B9-8D5E-04861AEE1B18}"/>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Satış İşlemleri — Yeni Satış</a:t>
            </a:r>
          </a:p>
        </p:txBody>
      </p:sp>
      <p:sp>
        <p:nvSpPr>
          <p:cNvPr id="5" name="TextBox 4">
            <a:extLst>
              <a:ext uri="{FF2B5EF4-FFF2-40B4-BE49-F238E27FC236}">
                <a16:creationId xmlns:a16="http://schemas.microsoft.com/office/drawing/2014/main" id="{39981282-84C2-40E7-B6DC-32A8538EBA1A}"/>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4 adımlı satış akışı</a:t>
            </a:r>
          </a:p>
        </p:txBody>
      </p:sp>
      <p:sp>
        <p:nvSpPr>
          <p:cNvPr id="6" name="Rectangle 5">
            <a:extLst>
              <a:ext uri="{FF2B5EF4-FFF2-40B4-BE49-F238E27FC236}">
                <a16:creationId xmlns:a16="http://schemas.microsoft.com/office/drawing/2014/main" id="{CE08F998-8A87-4ECB-9D7E-43BC559F1182}"/>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86C54770-3701-4AA0-B65B-984783783863}"/>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EE185F3B-6799-4288-B728-CB6008CE7512}"/>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A1049FCF-3F99-4DEC-B297-A5E9F41BF024}"/>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B8E8A584-3FAC-42B6-9058-53AB6B3FE193}"/>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134814B5-0E44-41F6-B74B-709ABA3DB2E0}"/>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Adım 1: Araç Seç — stoktan filtreli seçim</a:t>
            </a:r>
          </a:p>
        </p:txBody>
      </p:sp>
      <p:sp>
        <p:nvSpPr>
          <p:cNvPr id="12" name="TextBox 11">
            <a:extLst>
              <a:ext uri="{FF2B5EF4-FFF2-40B4-BE49-F238E27FC236}">
                <a16:creationId xmlns:a16="http://schemas.microsoft.com/office/drawing/2014/main" id="{F12783DC-2524-4CA7-9A0F-05A8488200B3}"/>
              </a:ext>
            </a:extLst>
          </p:cNvPr>
          <p:cNvSpPr txBox="1"/>
          <p:nvPr/>
        </p:nvSpPr>
        <p:spPr>
          <a:xfrm>
            <a:off x="660400" y="1758037"/>
            <a:ext cx="3708400" cy="508000"/>
          </a:xfrm>
          <a:prstGeom prst="rect">
            <a:avLst/>
          </a:prstGeom>
          <a:noFill/>
        </p:spPr>
        <p:txBody>
          <a:bodyPr vertOverflow="overflow" vert="horz" wrap="square" rtlCol="0" anchor="t">
            <a:spAutoFit/>
          </a:bodyPr>
          <a:lstStyle/>
          <a:p>
            <a:pPr algn="l"/>
            <a:r>
              <a:rPr lang="tr-TR" sz="1400" dirty="0">
                <a:solidFill>
                  <a:srgbClr val="333333"/>
                </a:solidFill>
              </a:rPr>
              <a:t>▸ Adım 2: Müşteri Seç — müşteri listesinden hızlı arama</a:t>
            </a:r>
          </a:p>
        </p:txBody>
      </p:sp>
      <p:sp>
        <p:nvSpPr>
          <p:cNvPr id="13" name="TextBox 12">
            <a:extLst>
              <a:ext uri="{FF2B5EF4-FFF2-40B4-BE49-F238E27FC236}">
                <a16:creationId xmlns:a16="http://schemas.microsoft.com/office/drawing/2014/main" id="{2822634C-8E88-4AA2-AD7E-2A75814E8CF4}"/>
              </a:ext>
            </a:extLst>
          </p:cNvPr>
          <p:cNvSpPr txBox="1"/>
          <p:nvPr/>
        </p:nvSpPr>
        <p:spPr>
          <a:xfrm>
            <a:off x="660400" y="2354937"/>
            <a:ext cx="3708400" cy="508000"/>
          </a:xfrm>
          <a:prstGeom prst="rect">
            <a:avLst/>
          </a:prstGeom>
          <a:noFill/>
        </p:spPr>
        <p:txBody>
          <a:bodyPr vertOverflow="overflow" vert="horz" wrap="square" rtlCol="0" anchor="t">
            <a:spAutoFit/>
          </a:bodyPr>
          <a:lstStyle/>
          <a:p>
            <a:pPr algn="l"/>
            <a:r>
              <a:rPr lang="tr-TR" sz="1400" dirty="0">
                <a:solidFill>
                  <a:srgbClr val="333333"/>
                </a:solidFill>
              </a:rPr>
              <a:t>▸ Adım 3: Fiyat Belirle — satış fiyatı ve ödeme şekli</a:t>
            </a:r>
          </a:p>
        </p:txBody>
      </p:sp>
      <p:sp>
        <p:nvSpPr>
          <p:cNvPr id="14" name="TextBox 13">
            <a:extLst>
              <a:ext uri="{FF2B5EF4-FFF2-40B4-BE49-F238E27FC236}">
                <a16:creationId xmlns:a16="http://schemas.microsoft.com/office/drawing/2014/main" id="{20DC0C59-E818-45FE-968A-8DE2A528C980}"/>
              </a:ext>
            </a:extLst>
          </p:cNvPr>
          <p:cNvSpPr txBox="1"/>
          <p:nvPr/>
        </p:nvSpPr>
        <p:spPr>
          <a:xfrm>
            <a:off x="660400" y="2926437"/>
            <a:ext cx="3708400" cy="523220"/>
          </a:xfrm>
          <a:prstGeom prst="rect">
            <a:avLst/>
          </a:prstGeom>
          <a:noFill/>
        </p:spPr>
        <p:txBody>
          <a:bodyPr vertOverflow="overflow" vert="horz" wrap="square" rtlCol="0" anchor="t">
            <a:spAutoFit/>
          </a:bodyPr>
          <a:lstStyle/>
          <a:p>
            <a:pPr algn="l"/>
            <a:r>
              <a:rPr lang="tr-TR" sz="1400" dirty="0">
                <a:solidFill>
                  <a:srgbClr val="333333"/>
                </a:solidFill>
              </a:rPr>
              <a:t>▸ Adım 4: Onayla — satış özeti (brüt kâr, kâr marjı)</a:t>
            </a:r>
          </a:p>
        </p:txBody>
      </p:sp>
      <p:sp>
        <p:nvSpPr>
          <p:cNvPr id="15" name="TextBox 14">
            <a:extLst>
              <a:ext uri="{FF2B5EF4-FFF2-40B4-BE49-F238E27FC236}">
                <a16:creationId xmlns:a16="http://schemas.microsoft.com/office/drawing/2014/main" id="{7A6DB671-BA4D-42BA-9712-D1CD5B1B5794}"/>
              </a:ext>
            </a:extLst>
          </p:cNvPr>
          <p:cNvSpPr txBox="1"/>
          <p:nvPr/>
        </p:nvSpPr>
        <p:spPr>
          <a:xfrm>
            <a:off x="660400" y="3504287"/>
            <a:ext cx="3708400" cy="508000"/>
          </a:xfrm>
          <a:prstGeom prst="rect">
            <a:avLst/>
          </a:prstGeom>
          <a:noFill/>
        </p:spPr>
        <p:txBody>
          <a:bodyPr vertOverflow="overflow" vert="horz" wrap="square" rtlCol="0" anchor="t">
            <a:spAutoFit/>
          </a:bodyPr>
          <a:lstStyle/>
          <a:p>
            <a:pPr algn="l"/>
            <a:r>
              <a:rPr lang="tr-TR" sz="1400" dirty="0">
                <a:solidFill>
                  <a:srgbClr val="333333"/>
                </a:solidFill>
              </a:rPr>
              <a:t>▸ Satış onaylandığında sıraya alınır ve sırayla işlenir</a:t>
            </a:r>
          </a:p>
        </p:txBody>
      </p:sp>
      <p:sp>
        <p:nvSpPr>
          <p:cNvPr id="16" name="Rectangle 15">
            <a:extLst>
              <a:ext uri="{FF2B5EF4-FFF2-40B4-BE49-F238E27FC236}">
                <a16:creationId xmlns:a16="http://schemas.microsoft.com/office/drawing/2014/main" id="{3BF1C0C1-BBD2-4216-962C-8B9327C04E36}"/>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AE9AA238-1865-408C-B68E-9781D35630D1}"/>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27A552F0-3433-40CE-8E08-4ED497083EB0}"/>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Nasıl Çalışıyor?</a:t>
            </a:r>
          </a:p>
        </p:txBody>
      </p:sp>
      <p:sp>
        <p:nvSpPr>
          <p:cNvPr id="19" name="Rectangle 18">
            <a:extLst>
              <a:ext uri="{FF2B5EF4-FFF2-40B4-BE49-F238E27FC236}">
                <a16:creationId xmlns:a16="http://schemas.microsoft.com/office/drawing/2014/main" id="{724C5A74-F197-413A-9550-9768410E42FA}"/>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6FA1B1E6-B021-4730-A24A-FF9030AFEA38}"/>
              </a:ext>
            </a:extLst>
          </p:cNvPr>
          <p:cNvSpPr txBox="1"/>
          <p:nvPr/>
        </p:nvSpPr>
        <p:spPr>
          <a:xfrm>
            <a:off x="4749800" y="1320800"/>
            <a:ext cx="3835400" cy="646331"/>
          </a:xfrm>
          <a:prstGeom prst="rect">
            <a:avLst/>
          </a:prstGeom>
          <a:noFill/>
        </p:spPr>
        <p:txBody>
          <a:bodyPr vertOverflow="overflow" vert="horz" wrap="square" rtlCol="0" anchor="t">
            <a:spAutoFit/>
          </a:bodyPr>
          <a:lstStyle/>
          <a:p>
            <a:pPr algn="l"/>
            <a:r>
              <a:rPr lang="tr-TR" sz="1200" dirty="0">
                <a:solidFill>
                  <a:srgbClr val="333333"/>
                </a:solidFill>
              </a:rPr>
              <a:t>Satış işlemi 4 adımda tamamlanır: araç seç, müşteri seç, fiyat belirle, onayla. Onay verildiğinde araç </a:t>
            </a:r>
            <a:r>
              <a:rPr lang="tr-TR" sz="1200" dirty="0" err="1">
                <a:solidFill>
                  <a:srgbClr val="333333"/>
                </a:solidFill>
              </a:rPr>
              <a:t>stoğu</a:t>
            </a:r>
            <a:r>
              <a:rPr lang="tr-TR" sz="1200" dirty="0">
                <a:solidFill>
                  <a:srgbClr val="333333"/>
                </a:solidFill>
              </a:rPr>
              <a:t> güncellenir, satış kaydedilir ve kâr hesaplanır.</a:t>
            </a:r>
          </a:p>
        </p:txBody>
      </p:sp>
      <p:sp>
        <p:nvSpPr>
          <p:cNvPr id="23" name="Rectangle 22">
            <a:extLst>
              <a:ext uri="{FF2B5EF4-FFF2-40B4-BE49-F238E27FC236}">
                <a16:creationId xmlns:a16="http://schemas.microsoft.com/office/drawing/2014/main" id="{367CD219-7197-4C42-B1FF-E007550CFDBA}"/>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AD8731CE-0ACB-412A-8B56-DD45E962B53D}"/>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6" name="Picture 25">
            <a:extLst>
              <a:ext uri="{FF2B5EF4-FFF2-40B4-BE49-F238E27FC236}">
                <a16:creationId xmlns:a16="http://schemas.microsoft.com/office/drawing/2014/main" id="{E7362675-9979-EA66-29B3-818E2A2D507F}"/>
              </a:ext>
            </a:extLst>
          </p:cNvPr>
          <p:cNvPicPr>
            <a:picLocks noChangeAspect="1"/>
          </p:cNvPicPr>
          <p:nvPr/>
        </p:nvPicPr>
        <p:blipFill>
          <a:blip r:embed="rId2"/>
          <a:stretch>
            <a:fillRect/>
          </a:stretch>
        </p:blipFill>
        <p:spPr>
          <a:xfrm>
            <a:off x="4749801" y="2082018"/>
            <a:ext cx="3937000" cy="2566182"/>
          </a:xfrm>
          <a:prstGeom prst="rect">
            <a:avLst/>
          </a:prstGeom>
        </p:spPr>
      </p:pic>
    </p:spTree>
    <p:extLst>
      <p:ext uri="{BB962C8B-B14F-4D97-AF65-F5344CB8AC3E}">
        <p14:creationId xmlns:p14="http://schemas.microsoft.com/office/powerpoint/2010/main" val="317737914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0BBC5A-4D0C-46EA-B735-0356114C3553}"/>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30A1D8F9-EF97-495F-8FD6-4BEA6FBAF145}"/>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E5CB726F-28FC-46CA-8049-C86910D3785D}"/>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Raporlama — Gelir Gider &amp; Performans</a:t>
            </a:r>
          </a:p>
        </p:txBody>
      </p:sp>
      <p:sp>
        <p:nvSpPr>
          <p:cNvPr id="5" name="TextBox 4">
            <a:extLst>
              <a:ext uri="{FF2B5EF4-FFF2-40B4-BE49-F238E27FC236}">
                <a16:creationId xmlns:a16="http://schemas.microsoft.com/office/drawing/2014/main" id="{DFC5C7DD-D1FC-4327-9BC9-969B10CC9189}"/>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Dönemsel finansal analiz ve marka istatistikleri</a:t>
            </a:r>
          </a:p>
        </p:txBody>
      </p:sp>
      <p:sp>
        <p:nvSpPr>
          <p:cNvPr id="6" name="Rectangle 5">
            <a:extLst>
              <a:ext uri="{FF2B5EF4-FFF2-40B4-BE49-F238E27FC236}">
                <a16:creationId xmlns:a16="http://schemas.microsoft.com/office/drawing/2014/main" id="{620D85EE-5A3D-42AE-92E8-C69194185FE3}"/>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300D4265-F6FB-488B-9F6F-F9DCF34DF0BD}"/>
              </a:ext>
            </a:extLst>
          </p:cNvPr>
          <p:cNvSpPr/>
          <p:nvPr/>
        </p:nvSpPr>
        <p:spPr>
          <a:xfrm>
            <a:off x="457200" y="8763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40DDBE27-0554-48B3-8046-D4F8A0834801}"/>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ACCAE1ED-7C80-40AC-8E44-BC806E3801DA}"/>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BE4FD3C3-3CFC-421E-B2A2-299A938540CD}"/>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F437D59D-C410-4573-8E5B-1E08C46A3E30}"/>
              </a:ext>
            </a:extLst>
          </p:cNvPr>
          <p:cNvSpPr txBox="1"/>
          <p:nvPr/>
        </p:nvSpPr>
        <p:spPr>
          <a:xfrm>
            <a:off x="660400" y="1320800"/>
            <a:ext cx="3708400" cy="307777"/>
          </a:xfrm>
          <a:prstGeom prst="rect">
            <a:avLst/>
          </a:prstGeom>
          <a:noFill/>
        </p:spPr>
        <p:txBody>
          <a:bodyPr vertOverflow="overflow" vert="horz" wrap="square" rtlCol="0" anchor="t">
            <a:spAutoFit/>
          </a:bodyPr>
          <a:lstStyle/>
          <a:p>
            <a:pPr algn="l"/>
            <a:r>
              <a:rPr lang="tr-TR" sz="1400" dirty="0">
                <a:solidFill>
                  <a:srgbClr val="333333"/>
                </a:solidFill>
              </a:rPr>
              <a:t>▸ Tarih aralığı seçimi ile rapor oluşturma </a:t>
            </a:r>
          </a:p>
        </p:txBody>
      </p:sp>
      <p:sp>
        <p:nvSpPr>
          <p:cNvPr id="12" name="TextBox 11">
            <a:extLst>
              <a:ext uri="{FF2B5EF4-FFF2-40B4-BE49-F238E27FC236}">
                <a16:creationId xmlns:a16="http://schemas.microsoft.com/office/drawing/2014/main" id="{0695A151-DB35-498B-86C8-F0F58B820848}"/>
              </a:ext>
            </a:extLst>
          </p:cNvPr>
          <p:cNvSpPr txBox="1"/>
          <p:nvPr/>
        </p:nvSpPr>
        <p:spPr>
          <a:xfrm>
            <a:off x="660400" y="1767702"/>
            <a:ext cx="3708400" cy="307777"/>
          </a:xfrm>
          <a:prstGeom prst="rect">
            <a:avLst/>
          </a:prstGeom>
          <a:noFill/>
        </p:spPr>
        <p:txBody>
          <a:bodyPr vertOverflow="overflow" vert="horz" wrap="square" rtlCol="0" anchor="t">
            <a:spAutoFit/>
          </a:bodyPr>
          <a:lstStyle/>
          <a:p>
            <a:pPr algn="l"/>
            <a:r>
              <a:rPr lang="tr-TR" sz="1400" dirty="0">
                <a:solidFill>
                  <a:srgbClr val="333333"/>
                </a:solidFill>
              </a:rPr>
              <a:t>▸ Kartlar: Toplam Gelir,Gider,Net Kâr,Kâr Marjı</a:t>
            </a:r>
          </a:p>
        </p:txBody>
      </p:sp>
      <p:sp>
        <p:nvSpPr>
          <p:cNvPr id="13" name="TextBox 12">
            <a:extLst>
              <a:ext uri="{FF2B5EF4-FFF2-40B4-BE49-F238E27FC236}">
                <a16:creationId xmlns:a16="http://schemas.microsoft.com/office/drawing/2014/main" id="{BDF79B73-8343-4F19-BE12-2A48026E0ACC}"/>
              </a:ext>
            </a:extLst>
          </p:cNvPr>
          <p:cNvSpPr txBox="1"/>
          <p:nvPr/>
        </p:nvSpPr>
        <p:spPr>
          <a:xfrm>
            <a:off x="660400" y="2197899"/>
            <a:ext cx="3708400" cy="307777"/>
          </a:xfrm>
          <a:prstGeom prst="rect">
            <a:avLst/>
          </a:prstGeom>
          <a:noFill/>
        </p:spPr>
        <p:txBody>
          <a:bodyPr vertOverflow="overflow" vert="horz" wrap="square" rtlCol="0" anchor="t">
            <a:spAutoFit/>
          </a:bodyPr>
          <a:lstStyle/>
          <a:p>
            <a:pPr algn="l"/>
            <a:r>
              <a:rPr lang="tr-TR" sz="1400" dirty="0">
                <a:solidFill>
                  <a:srgbClr val="333333"/>
                </a:solidFill>
              </a:rPr>
              <a:t>▸ Aylık Gelir-Gider çubuk grafiği </a:t>
            </a:r>
          </a:p>
        </p:txBody>
      </p:sp>
      <p:sp>
        <p:nvSpPr>
          <p:cNvPr id="14" name="TextBox 13">
            <a:extLst>
              <a:ext uri="{FF2B5EF4-FFF2-40B4-BE49-F238E27FC236}">
                <a16:creationId xmlns:a16="http://schemas.microsoft.com/office/drawing/2014/main" id="{CAFC2873-3CBF-44F3-AFF3-34A00C8D47F3}"/>
              </a:ext>
            </a:extLst>
          </p:cNvPr>
          <p:cNvSpPr txBox="1"/>
          <p:nvPr/>
        </p:nvSpPr>
        <p:spPr>
          <a:xfrm>
            <a:off x="660400" y="2637825"/>
            <a:ext cx="3708400" cy="508000"/>
          </a:xfrm>
          <a:prstGeom prst="rect">
            <a:avLst/>
          </a:prstGeom>
          <a:noFill/>
        </p:spPr>
        <p:txBody>
          <a:bodyPr vertOverflow="overflow" vert="horz" wrap="square" rtlCol="0" anchor="t">
            <a:spAutoFit/>
          </a:bodyPr>
          <a:lstStyle/>
          <a:p>
            <a:pPr algn="l"/>
            <a:r>
              <a:rPr lang="tr-TR" sz="1400" dirty="0">
                <a:solidFill>
                  <a:srgbClr val="333333"/>
                </a:solidFill>
              </a:rPr>
              <a:t>▸ Çalışan Performansı: satış sayısı + toplam kâr sıralaması</a:t>
            </a:r>
          </a:p>
        </p:txBody>
      </p:sp>
      <p:sp>
        <p:nvSpPr>
          <p:cNvPr id="15" name="TextBox 14">
            <a:extLst>
              <a:ext uri="{FF2B5EF4-FFF2-40B4-BE49-F238E27FC236}">
                <a16:creationId xmlns:a16="http://schemas.microsoft.com/office/drawing/2014/main" id="{6EFF6DE9-2276-4ADD-AEFD-3FC70504532D}"/>
              </a:ext>
            </a:extLst>
          </p:cNvPr>
          <p:cNvSpPr txBox="1"/>
          <p:nvPr/>
        </p:nvSpPr>
        <p:spPr>
          <a:xfrm>
            <a:off x="660400" y="3184537"/>
            <a:ext cx="3708400" cy="508000"/>
          </a:xfrm>
          <a:prstGeom prst="rect">
            <a:avLst/>
          </a:prstGeom>
          <a:noFill/>
        </p:spPr>
        <p:txBody>
          <a:bodyPr vertOverflow="overflow" vert="horz" wrap="square" rtlCol="0" anchor="t">
            <a:spAutoFit/>
          </a:bodyPr>
          <a:lstStyle/>
          <a:p>
            <a:pPr algn="l"/>
            <a:r>
              <a:rPr lang="tr-TR" sz="1400" dirty="0">
                <a:solidFill>
                  <a:srgbClr val="333333"/>
                </a:solidFill>
              </a:rPr>
              <a:t>▸ Marka İstatistikleri: stok, satılan, ort. satış süresi, ort. kâr, oran</a:t>
            </a:r>
          </a:p>
        </p:txBody>
      </p:sp>
      <p:sp>
        <p:nvSpPr>
          <p:cNvPr id="16" name="Rectangle 15">
            <a:extLst>
              <a:ext uri="{FF2B5EF4-FFF2-40B4-BE49-F238E27FC236}">
                <a16:creationId xmlns:a16="http://schemas.microsoft.com/office/drawing/2014/main" id="{D92EDF1B-6AE6-47E6-9C0D-8B7CD69F5441}"/>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56A5903E-3D20-48DB-80EE-3E667BFAC537}"/>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99144675-79A2-4416-8247-BCA84142DECE}"/>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a:solidFill>
                  <a:srgbClr val="FFFFFF"/>
                </a:solidFill>
              </a:rPr>
              <a:t>Nasıl Çalışıyor?</a:t>
            </a:r>
          </a:p>
        </p:txBody>
      </p:sp>
      <p:sp>
        <p:nvSpPr>
          <p:cNvPr id="19" name="Rectangle 18">
            <a:extLst>
              <a:ext uri="{FF2B5EF4-FFF2-40B4-BE49-F238E27FC236}">
                <a16:creationId xmlns:a16="http://schemas.microsoft.com/office/drawing/2014/main" id="{7ECE3F34-27B7-4B85-AEAD-A9D98E9E7830}"/>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0AF357E2-6194-4BA8-8AAC-890FB14562AF}"/>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Seçilen tarih aralığına göre toplam gelir, gider ve net kâr hesaplanır. Çalışan performansı ve marka bazlı satış istatistikleri de görüntülenebilir.</a:t>
            </a:r>
          </a:p>
        </p:txBody>
      </p:sp>
      <p:sp>
        <p:nvSpPr>
          <p:cNvPr id="23" name="Rectangle 22">
            <a:extLst>
              <a:ext uri="{FF2B5EF4-FFF2-40B4-BE49-F238E27FC236}">
                <a16:creationId xmlns:a16="http://schemas.microsoft.com/office/drawing/2014/main" id="{F492A9FD-5309-4619-866B-2E45FCB9D5B5}"/>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58BAC3EB-D985-4C88-A6A7-0A3F44A8844C}"/>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6" name="Picture 25">
            <a:extLst>
              <a:ext uri="{FF2B5EF4-FFF2-40B4-BE49-F238E27FC236}">
                <a16:creationId xmlns:a16="http://schemas.microsoft.com/office/drawing/2014/main" id="{DAA419DC-B043-D378-935C-CCD0EA5F71A2}"/>
              </a:ext>
            </a:extLst>
          </p:cNvPr>
          <p:cNvPicPr>
            <a:picLocks noChangeAspect="1"/>
          </p:cNvPicPr>
          <p:nvPr/>
        </p:nvPicPr>
        <p:blipFill>
          <a:blip r:embed="rId2"/>
          <a:stretch>
            <a:fillRect/>
          </a:stretch>
        </p:blipFill>
        <p:spPr>
          <a:xfrm>
            <a:off x="4698609" y="2264898"/>
            <a:ext cx="3988191" cy="2347279"/>
          </a:xfrm>
          <a:prstGeom prst="rect">
            <a:avLst/>
          </a:prstGeom>
        </p:spPr>
      </p:pic>
    </p:spTree>
    <p:extLst>
      <p:ext uri="{BB962C8B-B14F-4D97-AF65-F5344CB8AC3E}">
        <p14:creationId xmlns:p14="http://schemas.microsoft.com/office/powerpoint/2010/main" val="316342827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B2AB0E-2F99-405F-A452-F7B448D07186}"/>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81245459-B17A-4A18-A3C5-5E08D7CF2D2F}"/>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500097BB-E203-4EF2-B58F-3ECD77E3A78E}"/>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Sigorta &amp; Muayene Takibi</a:t>
            </a:r>
          </a:p>
        </p:txBody>
      </p:sp>
      <p:sp>
        <p:nvSpPr>
          <p:cNvPr id="5" name="TextBox 4">
            <a:extLst>
              <a:ext uri="{FF2B5EF4-FFF2-40B4-BE49-F238E27FC236}">
                <a16:creationId xmlns:a16="http://schemas.microsoft.com/office/drawing/2014/main" id="{180078EC-8341-4374-9577-6475F3696009}"/>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Yaklaşan ve süresi dolan kayıtların yönetimi</a:t>
            </a:r>
          </a:p>
        </p:txBody>
      </p:sp>
      <p:sp>
        <p:nvSpPr>
          <p:cNvPr id="6" name="Rectangle 5">
            <a:extLst>
              <a:ext uri="{FF2B5EF4-FFF2-40B4-BE49-F238E27FC236}">
                <a16:creationId xmlns:a16="http://schemas.microsoft.com/office/drawing/2014/main" id="{7FE68C2B-2FD5-4A5D-9AD2-16DA8BB3E5DE}"/>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E4A050BC-5190-498E-8B49-0EF7ED3AC3B7}"/>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5B15D77D-8787-42D8-9BCB-B0BCBAC071BC}"/>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BEC145AD-78FB-4BC4-8D80-8826B286A9A1}"/>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5E7346FC-C707-45E6-997D-484B32787A56}"/>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C00BB31F-EA83-4A1B-AFCF-426DCBD91F77}"/>
              </a:ext>
            </a:extLst>
          </p:cNvPr>
          <p:cNvSpPr txBox="1"/>
          <p:nvPr/>
        </p:nvSpPr>
        <p:spPr>
          <a:xfrm>
            <a:off x="660400" y="1320800"/>
            <a:ext cx="3708400" cy="523220"/>
          </a:xfrm>
          <a:prstGeom prst="rect">
            <a:avLst/>
          </a:prstGeom>
          <a:noFill/>
        </p:spPr>
        <p:txBody>
          <a:bodyPr vertOverflow="overflow" vert="horz" wrap="square" rtlCol="0" anchor="t">
            <a:spAutoFit/>
          </a:bodyPr>
          <a:lstStyle/>
          <a:p>
            <a:pPr algn="l"/>
            <a:r>
              <a:rPr lang="tr-TR" sz="1400" dirty="0">
                <a:solidFill>
                  <a:srgbClr val="333333"/>
                </a:solidFill>
              </a:rPr>
              <a:t>▸ Özet kartlar:Yaklaşan Sigorta,Yaklaşan Muayene,Süresi Dolan,Geçerli</a:t>
            </a:r>
          </a:p>
        </p:txBody>
      </p:sp>
      <p:sp>
        <p:nvSpPr>
          <p:cNvPr id="12" name="TextBox 11">
            <a:extLst>
              <a:ext uri="{FF2B5EF4-FFF2-40B4-BE49-F238E27FC236}">
                <a16:creationId xmlns:a16="http://schemas.microsoft.com/office/drawing/2014/main" id="{F60AE9CF-4885-4913-8C13-301ABE7FEC88}"/>
              </a:ext>
            </a:extLst>
          </p:cNvPr>
          <p:cNvSpPr txBox="1"/>
          <p:nvPr/>
        </p:nvSpPr>
        <p:spPr>
          <a:xfrm>
            <a:off x="660400" y="1905000"/>
            <a:ext cx="3708400" cy="508000"/>
          </a:xfrm>
          <a:prstGeom prst="rect">
            <a:avLst/>
          </a:prstGeom>
          <a:noFill/>
        </p:spPr>
        <p:txBody>
          <a:bodyPr vertOverflow="overflow" vert="horz" wrap="square" rtlCol="0" anchor="t">
            <a:spAutoFit/>
          </a:bodyPr>
          <a:lstStyle/>
          <a:p>
            <a:pPr algn="l"/>
            <a:r>
              <a:rPr lang="tr-TR" sz="1400">
                <a:solidFill>
                  <a:srgbClr val="333333"/>
                </a:solidFill>
              </a:rPr>
              <a:t>▸ Sigorta Kayıtları tablosu: plaka, araç, şirket, başlangıç/bitiş, kalan gün, durum</a:t>
            </a:r>
          </a:p>
        </p:txBody>
      </p:sp>
      <p:sp>
        <p:nvSpPr>
          <p:cNvPr id="13" name="TextBox 12">
            <a:extLst>
              <a:ext uri="{FF2B5EF4-FFF2-40B4-BE49-F238E27FC236}">
                <a16:creationId xmlns:a16="http://schemas.microsoft.com/office/drawing/2014/main" id="{34296BC8-8653-4022-B119-810ACB9EAD45}"/>
              </a:ext>
            </a:extLst>
          </p:cNvPr>
          <p:cNvSpPr txBox="1"/>
          <p:nvPr/>
        </p:nvSpPr>
        <p:spPr>
          <a:xfrm>
            <a:off x="660400" y="2489200"/>
            <a:ext cx="3708400" cy="508000"/>
          </a:xfrm>
          <a:prstGeom prst="rect">
            <a:avLst/>
          </a:prstGeom>
          <a:noFill/>
        </p:spPr>
        <p:txBody>
          <a:bodyPr vertOverflow="overflow" vert="horz" wrap="square" rtlCol="0" anchor="t">
            <a:spAutoFit/>
          </a:bodyPr>
          <a:lstStyle/>
          <a:p>
            <a:pPr algn="l"/>
            <a:r>
              <a:rPr lang="tr-TR" sz="1400" dirty="0">
                <a:solidFill>
                  <a:srgbClr val="333333"/>
                </a:solidFill>
              </a:rPr>
              <a:t>▸ Muayene Kayıtları tablosu: plaka, araç, muayene tarihi, sonraki tarih, sonuç</a:t>
            </a:r>
          </a:p>
        </p:txBody>
      </p:sp>
      <p:sp>
        <p:nvSpPr>
          <p:cNvPr id="14" name="TextBox 13">
            <a:extLst>
              <a:ext uri="{FF2B5EF4-FFF2-40B4-BE49-F238E27FC236}">
                <a16:creationId xmlns:a16="http://schemas.microsoft.com/office/drawing/2014/main" id="{0697D9A9-3F02-4A11-B1B1-C37AE2134840}"/>
              </a:ext>
            </a:extLst>
          </p:cNvPr>
          <p:cNvSpPr txBox="1"/>
          <p:nvPr/>
        </p:nvSpPr>
        <p:spPr>
          <a:xfrm>
            <a:off x="660400" y="3073400"/>
            <a:ext cx="3708400" cy="508000"/>
          </a:xfrm>
          <a:prstGeom prst="rect">
            <a:avLst/>
          </a:prstGeom>
          <a:noFill/>
        </p:spPr>
        <p:txBody>
          <a:bodyPr vertOverflow="overflow" vert="horz" wrap="square" rtlCol="0" anchor="t">
            <a:spAutoFit/>
          </a:bodyPr>
          <a:lstStyle/>
          <a:p>
            <a:pPr algn="l"/>
            <a:r>
              <a:rPr lang="tr-TR" sz="1400">
                <a:solidFill>
                  <a:srgbClr val="333333"/>
                </a:solidFill>
              </a:rPr>
              <a:t>▸ Durum renk kodları: Yaklaşan (turuncu), Kritik (kırmızı), Geçerli (yeşil), Doldu (kırmızı)</a:t>
            </a:r>
          </a:p>
        </p:txBody>
      </p:sp>
      <p:sp>
        <p:nvSpPr>
          <p:cNvPr id="15" name="Rectangle 14">
            <a:extLst>
              <a:ext uri="{FF2B5EF4-FFF2-40B4-BE49-F238E27FC236}">
                <a16:creationId xmlns:a16="http://schemas.microsoft.com/office/drawing/2014/main" id="{DDC5B524-0A84-4C50-A13B-EA78FCDB4280}"/>
              </a:ext>
            </a:extLst>
          </p:cNvPr>
          <p:cNvSpPr/>
          <p:nvPr/>
        </p:nvSpPr>
        <p:spPr>
          <a:xfrm>
            <a:off x="4714631" y="90805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6" name="Rectangle 15">
            <a:extLst>
              <a:ext uri="{FF2B5EF4-FFF2-40B4-BE49-F238E27FC236}">
                <a16:creationId xmlns:a16="http://schemas.microsoft.com/office/drawing/2014/main" id="{83E55A80-730C-41A6-BB41-03565A95D212}"/>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TextBox 16">
            <a:extLst>
              <a:ext uri="{FF2B5EF4-FFF2-40B4-BE49-F238E27FC236}">
                <a16:creationId xmlns:a16="http://schemas.microsoft.com/office/drawing/2014/main" id="{D32E54BD-01FE-4DF3-BA48-AC0A49B84B73}"/>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a:solidFill>
                  <a:srgbClr val="FFFFFF"/>
                </a:solidFill>
              </a:rPr>
              <a:t>Nasıl Çalışıyor?</a:t>
            </a:r>
          </a:p>
        </p:txBody>
      </p:sp>
      <p:sp>
        <p:nvSpPr>
          <p:cNvPr id="18" name="Rectangle 17">
            <a:extLst>
              <a:ext uri="{FF2B5EF4-FFF2-40B4-BE49-F238E27FC236}">
                <a16:creationId xmlns:a16="http://schemas.microsoft.com/office/drawing/2014/main" id="{BE61EEC0-BF79-47BB-902A-B0FC96EC2F8B}"/>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9" name="TextBox 18">
            <a:extLst>
              <a:ext uri="{FF2B5EF4-FFF2-40B4-BE49-F238E27FC236}">
                <a16:creationId xmlns:a16="http://schemas.microsoft.com/office/drawing/2014/main" id="{A92D895B-8ADE-4E11-A67B-C781262EFB55}"/>
              </a:ext>
            </a:extLst>
          </p:cNvPr>
          <p:cNvSpPr txBox="1"/>
          <p:nvPr/>
        </p:nvSpPr>
        <p:spPr>
          <a:xfrm>
            <a:off x="4749800" y="1320800"/>
            <a:ext cx="3835400" cy="830997"/>
          </a:xfrm>
          <a:prstGeom prst="rect">
            <a:avLst/>
          </a:prstGeom>
          <a:noFill/>
        </p:spPr>
        <p:txBody>
          <a:bodyPr vertOverflow="overflow" vert="horz" wrap="square" rtlCol="0" anchor="t">
            <a:spAutoFit/>
          </a:bodyPr>
          <a:lstStyle/>
          <a:p>
            <a:pPr algn="l"/>
            <a:r>
              <a:rPr lang="tr-TR" sz="1200" dirty="0">
                <a:solidFill>
                  <a:srgbClr val="333333"/>
                </a:solidFill>
              </a:rPr>
              <a:t>Sistem her aracın sigorta ve muayene bitiş tarihine kaç gün kaldığını hesaplar. Renkli etiketlerle anlık durum gösterilir: yeşil (geçerli), turuncu (yaklaşan), kırmızı (kritik veya süresi dolmuş).</a:t>
            </a:r>
          </a:p>
        </p:txBody>
      </p:sp>
      <p:sp>
        <p:nvSpPr>
          <p:cNvPr id="22" name="Rectangle 21">
            <a:extLst>
              <a:ext uri="{FF2B5EF4-FFF2-40B4-BE49-F238E27FC236}">
                <a16:creationId xmlns:a16="http://schemas.microsoft.com/office/drawing/2014/main" id="{8B609F08-A67B-4F34-8E95-2F7909F4E300}"/>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3" name="TextBox 22">
            <a:extLst>
              <a:ext uri="{FF2B5EF4-FFF2-40B4-BE49-F238E27FC236}">
                <a16:creationId xmlns:a16="http://schemas.microsoft.com/office/drawing/2014/main" id="{0D103486-AE45-4364-B6E4-BE76D3270592}"/>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5" name="Picture 24">
            <a:extLst>
              <a:ext uri="{FF2B5EF4-FFF2-40B4-BE49-F238E27FC236}">
                <a16:creationId xmlns:a16="http://schemas.microsoft.com/office/drawing/2014/main" id="{E01E8598-C219-3D85-7CE2-92181738FD96}"/>
              </a:ext>
            </a:extLst>
          </p:cNvPr>
          <p:cNvPicPr>
            <a:picLocks noChangeAspect="1"/>
          </p:cNvPicPr>
          <p:nvPr/>
        </p:nvPicPr>
        <p:blipFill>
          <a:blip r:embed="rId2"/>
          <a:stretch>
            <a:fillRect/>
          </a:stretch>
        </p:blipFill>
        <p:spPr>
          <a:xfrm>
            <a:off x="4669944" y="2143955"/>
            <a:ext cx="4016856" cy="2478845"/>
          </a:xfrm>
          <a:prstGeom prst="rect">
            <a:avLst/>
          </a:prstGeom>
        </p:spPr>
      </p:pic>
    </p:spTree>
    <p:extLst>
      <p:ext uri="{BB962C8B-B14F-4D97-AF65-F5344CB8AC3E}">
        <p14:creationId xmlns:p14="http://schemas.microsoft.com/office/powerpoint/2010/main" val="307755069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A1549D-6704-41C3-A419-988D33C30D22}"/>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E66343A4-1891-4784-AED9-C993225FA80B}"/>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9009313F-D45A-468C-A875-4132331DF691}"/>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Ekspertiz — Parça Durum Raporu</a:t>
            </a:r>
          </a:p>
        </p:txBody>
      </p:sp>
      <p:sp>
        <p:nvSpPr>
          <p:cNvPr id="5" name="TextBox 4">
            <a:extLst>
              <a:ext uri="{FF2B5EF4-FFF2-40B4-BE49-F238E27FC236}">
                <a16:creationId xmlns:a16="http://schemas.microsoft.com/office/drawing/2014/main" id="{13EECED1-5B8E-4100-AA82-1D86014152D4}"/>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it-IT" sz="1400" dirty="0">
                <a:solidFill>
                  <a:schemeClr val="accent2"/>
                </a:solidFill>
              </a:rPr>
              <a:t>Araç kondisyon tespiti ve 100 puan sistemi</a:t>
            </a:r>
            <a:endParaRPr lang="tr-TR" sz="1400" dirty="0">
              <a:solidFill>
                <a:schemeClr val="accent2"/>
              </a:solidFill>
            </a:endParaRPr>
          </a:p>
        </p:txBody>
      </p:sp>
      <p:sp>
        <p:nvSpPr>
          <p:cNvPr id="6" name="Rectangle 5">
            <a:extLst>
              <a:ext uri="{FF2B5EF4-FFF2-40B4-BE49-F238E27FC236}">
                <a16:creationId xmlns:a16="http://schemas.microsoft.com/office/drawing/2014/main" id="{C8224629-5C8E-43DB-A0E6-0644A84B2C2A}"/>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F5590D33-0148-43F8-8AB9-6EAB0E706C2C}"/>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DD7C3894-510E-4F3E-945B-8A285EC7EFC8}"/>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solidFill>
                <a:schemeClr val="accent2"/>
              </a:solidFill>
            </a:endParaRPr>
          </a:p>
        </p:txBody>
      </p:sp>
      <p:sp>
        <p:nvSpPr>
          <p:cNvPr id="9" name="TextBox 8">
            <a:extLst>
              <a:ext uri="{FF2B5EF4-FFF2-40B4-BE49-F238E27FC236}">
                <a16:creationId xmlns:a16="http://schemas.microsoft.com/office/drawing/2014/main" id="{13017973-E7A7-4D1A-926C-0EFF4310856E}"/>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57E8EE67-DD52-4EA5-970B-95BB011FFE09}"/>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5D6201CB-2C22-4E7F-9A76-3A42CD23DE7F}"/>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Araç başlığı: Toyota Corolla 2022 | Plaka: 34 ABC 123 | Ekspertiz Yapan: Emre Kuzal</a:t>
            </a:r>
          </a:p>
        </p:txBody>
      </p:sp>
      <p:sp>
        <p:nvSpPr>
          <p:cNvPr id="12" name="TextBox 11">
            <a:extLst>
              <a:ext uri="{FF2B5EF4-FFF2-40B4-BE49-F238E27FC236}">
                <a16:creationId xmlns:a16="http://schemas.microsoft.com/office/drawing/2014/main" id="{D027458E-55C7-4E09-959E-D1B10E4E133A}"/>
              </a:ext>
            </a:extLst>
          </p:cNvPr>
          <p:cNvSpPr txBox="1"/>
          <p:nvPr/>
        </p:nvSpPr>
        <p:spPr>
          <a:xfrm>
            <a:off x="660400" y="1905000"/>
            <a:ext cx="3708400" cy="508000"/>
          </a:xfrm>
          <a:prstGeom prst="rect">
            <a:avLst/>
          </a:prstGeom>
          <a:noFill/>
        </p:spPr>
        <p:txBody>
          <a:bodyPr vertOverflow="overflow" vert="horz" wrap="square" rtlCol="0" anchor="t">
            <a:spAutoFit/>
          </a:bodyPr>
          <a:lstStyle/>
          <a:p>
            <a:pPr algn="l"/>
            <a:r>
              <a:rPr lang="tr-TR" sz="1400">
                <a:solidFill>
                  <a:srgbClr val="333333"/>
                </a:solidFill>
              </a:rPr>
              <a:t>▸ Parça Durumları tablosu: Motor, Kaput, Tamponlar, Çamurluklar, Kapılar, Tavan, Bagaj</a:t>
            </a:r>
          </a:p>
        </p:txBody>
      </p:sp>
      <p:sp>
        <p:nvSpPr>
          <p:cNvPr id="13" name="TextBox 12">
            <a:extLst>
              <a:ext uri="{FF2B5EF4-FFF2-40B4-BE49-F238E27FC236}">
                <a16:creationId xmlns:a16="http://schemas.microsoft.com/office/drawing/2014/main" id="{C5A169A2-4AA7-44ED-B1B0-5C5D391DBA32}"/>
              </a:ext>
            </a:extLst>
          </p:cNvPr>
          <p:cNvSpPr txBox="1"/>
          <p:nvPr/>
        </p:nvSpPr>
        <p:spPr>
          <a:xfrm>
            <a:off x="660400" y="2489200"/>
            <a:ext cx="3708400" cy="508000"/>
          </a:xfrm>
          <a:prstGeom prst="rect">
            <a:avLst/>
          </a:prstGeom>
          <a:noFill/>
        </p:spPr>
        <p:txBody>
          <a:bodyPr vertOverflow="overflow" vert="horz" wrap="square" rtlCol="0" anchor="t">
            <a:spAutoFit/>
          </a:bodyPr>
          <a:lstStyle/>
          <a:p>
            <a:pPr algn="l"/>
            <a:r>
              <a:rPr lang="tr-TR" sz="1400">
                <a:solidFill>
                  <a:srgbClr val="333333"/>
                </a:solidFill>
              </a:rPr>
              <a:t>▸ Her parça renk kodlu: Hasarsız (yeşil), Boyalı (sarı), Değişen (kırmızı)</a:t>
            </a:r>
          </a:p>
        </p:txBody>
      </p:sp>
      <p:sp>
        <p:nvSpPr>
          <p:cNvPr id="14" name="TextBox 13">
            <a:extLst>
              <a:ext uri="{FF2B5EF4-FFF2-40B4-BE49-F238E27FC236}">
                <a16:creationId xmlns:a16="http://schemas.microsoft.com/office/drawing/2014/main" id="{9654FB0B-9B5C-4060-A861-0885B155666C}"/>
              </a:ext>
            </a:extLst>
          </p:cNvPr>
          <p:cNvSpPr txBox="1"/>
          <p:nvPr/>
        </p:nvSpPr>
        <p:spPr>
          <a:xfrm>
            <a:off x="660400" y="3073400"/>
            <a:ext cx="3708400" cy="523220"/>
          </a:xfrm>
          <a:prstGeom prst="rect">
            <a:avLst/>
          </a:prstGeom>
          <a:noFill/>
        </p:spPr>
        <p:txBody>
          <a:bodyPr vertOverflow="overflow" vert="horz" wrap="square" rtlCol="0" anchor="t">
            <a:spAutoFit/>
          </a:bodyPr>
          <a:lstStyle/>
          <a:p>
            <a:pPr algn="l"/>
            <a:r>
              <a:rPr lang="tr-TR" sz="1400" dirty="0">
                <a:solidFill>
                  <a:srgbClr val="333333"/>
                </a:solidFill>
              </a:rPr>
              <a:t>▸ Sağ panel: Toplam puan ve genel değerlendirme sonucu</a:t>
            </a:r>
          </a:p>
        </p:txBody>
      </p:sp>
      <p:sp>
        <p:nvSpPr>
          <p:cNvPr id="15" name="TextBox 14">
            <a:extLst>
              <a:ext uri="{FF2B5EF4-FFF2-40B4-BE49-F238E27FC236}">
                <a16:creationId xmlns:a16="http://schemas.microsoft.com/office/drawing/2014/main" id="{7CD01A74-883A-4BE1-A647-1809E09A7735}"/>
              </a:ext>
            </a:extLst>
          </p:cNvPr>
          <p:cNvSpPr txBox="1"/>
          <p:nvPr/>
        </p:nvSpPr>
        <p:spPr>
          <a:xfrm>
            <a:off x="660400" y="3657600"/>
            <a:ext cx="3708400" cy="508000"/>
          </a:xfrm>
          <a:prstGeom prst="rect">
            <a:avLst/>
          </a:prstGeom>
          <a:noFill/>
        </p:spPr>
        <p:txBody>
          <a:bodyPr vertOverflow="overflow" vert="horz" wrap="square" rtlCol="0" anchor="t">
            <a:spAutoFit/>
          </a:bodyPr>
          <a:lstStyle/>
          <a:p>
            <a:pPr algn="l"/>
            <a:r>
              <a:rPr lang="tr-TR" sz="1400">
                <a:solidFill>
                  <a:srgbClr val="333333"/>
                </a:solidFill>
              </a:rPr>
              <a:t>▸ Onayla / Reddet butonları</a:t>
            </a:r>
          </a:p>
        </p:txBody>
      </p:sp>
      <p:sp>
        <p:nvSpPr>
          <p:cNvPr id="16" name="Rectangle 15">
            <a:extLst>
              <a:ext uri="{FF2B5EF4-FFF2-40B4-BE49-F238E27FC236}">
                <a16:creationId xmlns:a16="http://schemas.microsoft.com/office/drawing/2014/main" id="{CED18954-F879-4F68-90DE-89F9F1C51956}"/>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7BE9459A-9004-4E2A-B657-891839C19465}"/>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F45CE5FF-78AF-4C72-ADFA-0CB55285404E}"/>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Nasıl Çalışıyor?</a:t>
            </a:r>
          </a:p>
        </p:txBody>
      </p:sp>
      <p:sp>
        <p:nvSpPr>
          <p:cNvPr id="19" name="Rectangle 18">
            <a:extLst>
              <a:ext uri="{FF2B5EF4-FFF2-40B4-BE49-F238E27FC236}">
                <a16:creationId xmlns:a16="http://schemas.microsoft.com/office/drawing/2014/main" id="{B6070020-340D-468E-913E-DC363B4C447B}"/>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21AD0E6B-1266-4591-B9EE-84A11FEB2A78}"/>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Araç parçalarının her biri hasarsız, boyalı veya değişen olarak işaretlenir. Sistem bu değerlendirmeye göre 100 üzerinden bir puan hesaplar. Onaylanan ekspertiz, aracın sisteme kayıtlı bilgilerine eklenir.</a:t>
            </a:r>
          </a:p>
        </p:txBody>
      </p:sp>
      <p:sp>
        <p:nvSpPr>
          <p:cNvPr id="23" name="Rectangle 22">
            <a:extLst>
              <a:ext uri="{FF2B5EF4-FFF2-40B4-BE49-F238E27FC236}">
                <a16:creationId xmlns:a16="http://schemas.microsoft.com/office/drawing/2014/main" id="{CFFF4FF3-0C5F-4385-A11B-427D1CA0C86A}"/>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8FF29677-08AD-43B8-9C97-43C574D8B2F0}"/>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6" name="Picture 25">
            <a:extLst>
              <a:ext uri="{FF2B5EF4-FFF2-40B4-BE49-F238E27FC236}">
                <a16:creationId xmlns:a16="http://schemas.microsoft.com/office/drawing/2014/main" id="{08B95BE9-0720-386B-967F-F45A723CA85E}"/>
              </a:ext>
            </a:extLst>
          </p:cNvPr>
          <p:cNvPicPr>
            <a:picLocks noChangeAspect="1"/>
          </p:cNvPicPr>
          <p:nvPr/>
        </p:nvPicPr>
        <p:blipFill>
          <a:blip r:embed="rId2"/>
          <a:stretch>
            <a:fillRect/>
          </a:stretch>
        </p:blipFill>
        <p:spPr>
          <a:xfrm>
            <a:off x="4775202" y="2260146"/>
            <a:ext cx="3911598" cy="2413454"/>
          </a:xfrm>
          <a:prstGeom prst="rect">
            <a:avLst/>
          </a:prstGeom>
        </p:spPr>
      </p:pic>
    </p:spTree>
    <p:extLst>
      <p:ext uri="{BB962C8B-B14F-4D97-AF65-F5344CB8AC3E}">
        <p14:creationId xmlns:p14="http://schemas.microsoft.com/office/powerpoint/2010/main" val="252062403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130A11-7E99-4BEB-B57F-32D2220B2584}"/>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34692357-751D-4C96-A7A1-FB6E329012E4}"/>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A0255506-581B-43AC-B464-B338EC7D2133}"/>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Müşteri Yönetimi — BST Listesi</a:t>
            </a:r>
          </a:p>
        </p:txBody>
      </p:sp>
      <p:sp>
        <p:nvSpPr>
          <p:cNvPr id="5" name="TextBox 4">
            <a:extLst>
              <a:ext uri="{FF2B5EF4-FFF2-40B4-BE49-F238E27FC236}">
                <a16:creationId xmlns:a16="http://schemas.microsoft.com/office/drawing/2014/main" id="{EBF9B7B9-EEEE-4967-9240-4A92CCC566D9}"/>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Müşteri kayıt ve arama sistemi</a:t>
            </a:r>
          </a:p>
        </p:txBody>
      </p:sp>
      <p:sp>
        <p:nvSpPr>
          <p:cNvPr id="6" name="Rectangle 5">
            <a:extLst>
              <a:ext uri="{FF2B5EF4-FFF2-40B4-BE49-F238E27FC236}">
                <a16:creationId xmlns:a16="http://schemas.microsoft.com/office/drawing/2014/main" id="{E6DF4E98-3511-4121-8108-EF9B41C7FE09}"/>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CEB32470-B1D1-472B-82C6-B7BFF3709DD2}"/>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81400CDC-6631-49AA-BC2D-12F69BD7214A}"/>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545A9529-80BE-463B-90A4-5E38B025CA25}"/>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BE406238-A275-4E75-8050-4A8E04086234}"/>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9CECBE8D-E5FB-4F15-8752-AF4727DF9786}"/>
              </a:ext>
            </a:extLst>
          </p:cNvPr>
          <p:cNvSpPr txBox="1"/>
          <p:nvPr/>
        </p:nvSpPr>
        <p:spPr>
          <a:xfrm>
            <a:off x="660400" y="1409852"/>
            <a:ext cx="3708400" cy="307777"/>
          </a:xfrm>
          <a:prstGeom prst="rect">
            <a:avLst/>
          </a:prstGeom>
          <a:noFill/>
        </p:spPr>
        <p:txBody>
          <a:bodyPr vertOverflow="overflow" vert="horz" wrap="square" rtlCol="0" anchor="t">
            <a:spAutoFit/>
          </a:bodyPr>
          <a:lstStyle/>
          <a:p>
            <a:pPr algn="l"/>
            <a:r>
              <a:rPr lang="tr-TR" sz="1400" dirty="0">
                <a:solidFill>
                  <a:srgbClr val="333333"/>
                </a:solidFill>
              </a:rPr>
              <a:t>▸ TC Kimlik numarasıyla hızlı müşteri arama</a:t>
            </a:r>
          </a:p>
        </p:txBody>
      </p:sp>
      <p:sp>
        <p:nvSpPr>
          <p:cNvPr id="12" name="TextBox 11">
            <a:extLst>
              <a:ext uri="{FF2B5EF4-FFF2-40B4-BE49-F238E27FC236}">
                <a16:creationId xmlns:a16="http://schemas.microsoft.com/office/drawing/2014/main" id="{9E41C1B5-AB85-41D1-888C-0C91BC7BBAA9}"/>
              </a:ext>
            </a:extLst>
          </p:cNvPr>
          <p:cNvSpPr txBox="1"/>
          <p:nvPr/>
        </p:nvSpPr>
        <p:spPr>
          <a:xfrm>
            <a:off x="647700" y="1647627"/>
            <a:ext cx="3708400" cy="508000"/>
          </a:xfrm>
          <a:prstGeom prst="rect">
            <a:avLst/>
          </a:prstGeom>
          <a:noFill/>
        </p:spPr>
        <p:txBody>
          <a:bodyPr vertOverflow="overflow" vert="horz" wrap="square" rtlCol="0" anchor="t">
            <a:spAutoFit/>
          </a:bodyPr>
          <a:lstStyle/>
          <a:p>
            <a:pPr algn="l"/>
            <a:r>
              <a:rPr lang="tr-TR" sz="1400">
                <a:solidFill>
                  <a:srgbClr val="333333"/>
                </a:solidFill>
              </a:rPr>
              <a:t>▸ Sol panel: seçili müşteri detayı (ad, TC, telefon, adres, araç ilgi listesi)</a:t>
            </a:r>
          </a:p>
        </p:txBody>
      </p:sp>
      <p:sp>
        <p:nvSpPr>
          <p:cNvPr id="13" name="TextBox 12">
            <a:extLst>
              <a:ext uri="{FF2B5EF4-FFF2-40B4-BE49-F238E27FC236}">
                <a16:creationId xmlns:a16="http://schemas.microsoft.com/office/drawing/2014/main" id="{AF14882C-BBC4-4C65-AE7A-CF7CBA2E0066}"/>
              </a:ext>
            </a:extLst>
          </p:cNvPr>
          <p:cNvSpPr txBox="1"/>
          <p:nvPr/>
        </p:nvSpPr>
        <p:spPr>
          <a:xfrm>
            <a:off x="647700" y="2153892"/>
            <a:ext cx="3708400" cy="508000"/>
          </a:xfrm>
          <a:prstGeom prst="rect">
            <a:avLst/>
          </a:prstGeom>
          <a:noFill/>
        </p:spPr>
        <p:txBody>
          <a:bodyPr vertOverflow="overflow" vert="horz" wrap="square" rtlCol="0" anchor="t">
            <a:spAutoFit/>
          </a:bodyPr>
          <a:lstStyle/>
          <a:p>
            <a:pPr algn="l"/>
            <a:r>
              <a:rPr lang="tr-TR" sz="1400">
                <a:solidFill>
                  <a:srgbClr val="333333"/>
                </a:solidFill>
              </a:rPr>
              <a:t>▸ Sağ panel: Tüm müşterilerin sıralı listesi (Ad Soyad, TC, Telefon)</a:t>
            </a:r>
          </a:p>
        </p:txBody>
      </p:sp>
      <p:sp>
        <p:nvSpPr>
          <p:cNvPr id="14" name="TextBox 13">
            <a:extLst>
              <a:ext uri="{FF2B5EF4-FFF2-40B4-BE49-F238E27FC236}">
                <a16:creationId xmlns:a16="http://schemas.microsoft.com/office/drawing/2014/main" id="{8A02FC29-061E-432A-8338-66F9A21C124C}"/>
              </a:ext>
            </a:extLst>
          </p:cNvPr>
          <p:cNvSpPr txBox="1"/>
          <p:nvPr/>
        </p:nvSpPr>
        <p:spPr>
          <a:xfrm>
            <a:off x="660400" y="2692039"/>
            <a:ext cx="3708400" cy="508000"/>
          </a:xfrm>
          <a:prstGeom prst="rect">
            <a:avLst/>
          </a:prstGeom>
          <a:noFill/>
        </p:spPr>
        <p:txBody>
          <a:bodyPr vertOverflow="overflow" vert="horz" wrap="square" rtlCol="0" anchor="t">
            <a:spAutoFit/>
          </a:bodyPr>
          <a:lstStyle/>
          <a:p>
            <a:pPr algn="l"/>
            <a:r>
              <a:rPr lang="tr-TR" sz="1400">
                <a:solidFill>
                  <a:srgbClr val="333333"/>
                </a:solidFill>
              </a:rPr>
              <a:t>▸ Araç ilgi listesi: Toyota Corolla 2022, BMW 320i 2021, VW Golf 2019 chip'leri</a:t>
            </a:r>
          </a:p>
        </p:txBody>
      </p:sp>
      <p:sp>
        <p:nvSpPr>
          <p:cNvPr id="15" name="TextBox 14">
            <a:extLst>
              <a:ext uri="{FF2B5EF4-FFF2-40B4-BE49-F238E27FC236}">
                <a16:creationId xmlns:a16="http://schemas.microsoft.com/office/drawing/2014/main" id="{DF050241-5BE5-4541-8DD3-D4D9A372A23C}"/>
              </a:ext>
            </a:extLst>
          </p:cNvPr>
          <p:cNvSpPr txBox="1"/>
          <p:nvPr/>
        </p:nvSpPr>
        <p:spPr>
          <a:xfrm>
            <a:off x="660400" y="3144672"/>
            <a:ext cx="3708400" cy="508000"/>
          </a:xfrm>
          <a:prstGeom prst="rect">
            <a:avLst/>
          </a:prstGeom>
          <a:noFill/>
        </p:spPr>
        <p:txBody>
          <a:bodyPr vertOverflow="overflow" vert="horz" wrap="square" rtlCol="0" anchor="t">
            <a:spAutoFit/>
          </a:bodyPr>
          <a:lstStyle/>
          <a:p>
            <a:pPr algn="l"/>
            <a:r>
              <a:rPr lang="tr-TR" sz="1400">
                <a:solidFill>
                  <a:srgbClr val="333333"/>
                </a:solidFill>
              </a:rPr>
              <a:t>▸ Yeni Müşteri Ekle butonu</a:t>
            </a:r>
          </a:p>
        </p:txBody>
      </p:sp>
      <p:sp>
        <p:nvSpPr>
          <p:cNvPr id="16" name="Rectangle 15">
            <a:extLst>
              <a:ext uri="{FF2B5EF4-FFF2-40B4-BE49-F238E27FC236}">
                <a16:creationId xmlns:a16="http://schemas.microsoft.com/office/drawing/2014/main" id="{CB472C83-67BA-4042-8A97-C692CEF44CA1}"/>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359EAA43-3657-4ADA-99DD-FABBC99934C3}"/>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5BBD36FB-19D9-448D-9C8E-0081E3D0A1F7}"/>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a:solidFill>
                  <a:srgbClr val="FFFFFF"/>
                </a:solidFill>
              </a:rPr>
              <a:t>Nasıl Çalışıyor?</a:t>
            </a:r>
          </a:p>
        </p:txBody>
      </p:sp>
      <p:sp>
        <p:nvSpPr>
          <p:cNvPr id="19" name="Rectangle 18">
            <a:extLst>
              <a:ext uri="{FF2B5EF4-FFF2-40B4-BE49-F238E27FC236}">
                <a16:creationId xmlns:a16="http://schemas.microsoft.com/office/drawing/2014/main" id="{114E6AF7-6DBA-4BED-993B-69740F0CBE83}"/>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4C0B0D17-ACD4-4DBF-8EEF-3041368723DC}"/>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Müşteriler TC kimlik numarasına göre sıralı tutulur ve çok hızlı bulunur. Sol panelde seçili müşterinin detayları ve ilgilendiği araçlar gösterilir. Yeni müşteri eklenebilir, var olan düzenlenebilir.</a:t>
            </a:r>
          </a:p>
        </p:txBody>
      </p:sp>
      <p:sp>
        <p:nvSpPr>
          <p:cNvPr id="23" name="Rectangle 22">
            <a:extLst>
              <a:ext uri="{FF2B5EF4-FFF2-40B4-BE49-F238E27FC236}">
                <a16:creationId xmlns:a16="http://schemas.microsoft.com/office/drawing/2014/main" id="{E7B19B1E-EBBC-4A03-ACAE-946C9E7A2047}"/>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09619CC5-51B5-4F5C-8734-DAC8404EDCB0}"/>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33" name="Picture 32">
            <a:extLst>
              <a:ext uri="{FF2B5EF4-FFF2-40B4-BE49-F238E27FC236}">
                <a16:creationId xmlns:a16="http://schemas.microsoft.com/office/drawing/2014/main" id="{0C8DC9A2-D4BF-A313-0F2A-54D724A764F6}"/>
              </a:ext>
            </a:extLst>
          </p:cNvPr>
          <p:cNvPicPr>
            <a:picLocks noChangeAspect="1"/>
          </p:cNvPicPr>
          <p:nvPr/>
        </p:nvPicPr>
        <p:blipFill>
          <a:blip r:embed="rId2"/>
          <a:stretch>
            <a:fillRect/>
          </a:stretch>
        </p:blipFill>
        <p:spPr>
          <a:xfrm>
            <a:off x="4572000" y="2291604"/>
            <a:ext cx="4290646" cy="2343896"/>
          </a:xfrm>
          <a:prstGeom prst="rect">
            <a:avLst/>
          </a:prstGeom>
        </p:spPr>
      </p:pic>
    </p:spTree>
    <p:extLst>
      <p:ext uri="{BB962C8B-B14F-4D97-AF65-F5344CB8AC3E}">
        <p14:creationId xmlns:p14="http://schemas.microsoft.com/office/powerpoint/2010/main" val="302941865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Tamamlanan Çalışmalar — Kullanım Kılavuzu</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1371600" y="1280160"/>
            <a:ext cx="6400800" cy="2743200"/>
          </a:xfrm>
          <a:prstGeom prst="rect">
            <a:avLst/>
          </a:prstGeom>
          <a:solidFill>
            <a:srgbClr val="FFF3E8"/>
          </a:solidFill>
          <a:ln/>
          <a:effectLst>
            <a:outerShdw blurRad="50800" dist="25400" dir="8100000" algn="bl" rotWithShape="0">
              <a:srgbClr val="000000">
                <a:alpha val="10000"/>
              </a:srgbClr>
            </a:outerShdw>
          </a:effectLst>
        </p:spPr>
        <p:txBody>
          <a:bodyPr/>
          <a:lstStyle/>
          <a:p>
            <a:endParaRPr lang="tr-TR"/>
          </a:p>
        </p:txBody>
      </p:sp>
      <p:pic>
        <p:nvPicPr>
          <p:cNvPr id="8" name="Image 1" descr="preencoded.png"/>
          <p:cNvPicPr>
            <a:picLocks noChangeAspect="1"/>
          </p:cNvPicPr>
          <p:nvPr/>
        </p:nvPicPr>
        <p:blipFill>
          <a:blip r:embed="rId3"/>
          <a:stretch>
            <a:fillRect/>
          </a:stretch>
        </p:blipFill>
        <p:spPr>
          <a:xfrm>
            <a:off x="4114800" y="1554480"/>
            <a:ext cx="914400" cy="914400"/>
          </a:xfrm>
          <a:prstGeom prst="rect">
            <a:avLst/>
          </a:prstGeom>
        </p:spPr>
      </p:pic>
      <p:sp>
        <p:nvSpPr>
          <p:cNvPr id="9" name="Text 5"/>
          <p:cNvSpPr/>
          <p:nvPr/>
        </p:nvSpPr>
        <p:spPr>
          <a:xfrm>
            <a:off x="1371600" y="2560320"/>
            <a:ext cx="6400800" cy="411480"/>
          </a:xfrm>
          <a:prstGeom prst="rect">
            <a:avLst/>
          </a:prstGeom>
          <a:noFill/>
          <a:ln/>
        </p:spPr>
        <p:txBody>
          <a:bodyPr wrap="square" lIns="0" tIns="0" rIns="0" bIns="0" rtlCol="0" anchor="ctr"/>
          <a:lstStyle/>
          <a:p>
            <a:pPr marL="0" indent="0" algn="ctr">
              <a:buNone/>
            </a:pPr>
            <a:r>
              <a:rPr lang="en-US" sz="2200" b="1" dirty="0">
                <a:solidFill>
                  <a:srgbClr val="2D2D2D"/>
                </a:solidFill>
                <a:latin typeface="Trebuchet MS" pitchFamily="34" charset="0"/>
                <a:ea typeface="Trebuchet MS" pitchFamily="34" charset="-122"/>
                <a:cs typeface="Trebuchet MS" pitchFamily="34" charset="-120"/>
              </a:rPr>
              <a:t>Kullanım Kılavuzu</a:t>
            </a:r>
            <a:endParaRPr lang="en-US" sz="2200" dirty="0"/>
          </a:p>
        </p:txBody>
      </p:sp>
      <p:sp>
        <p:nvSpPr>
          <p:cNvPr id="10" name="Text 6"/>
          <p:cNvSpPr/>
          <p:nvPr/>
        </p:nvSpPr>
        <p:spPr>
          <a:xfrm>
            <a:off x="1371600" y="3017520"/>
            <a:ext cx="6400800" cy="457200"/>
          </a:xfrm>
          <a:prstGeom prst="rect">
            <a:avLst/>
          </a:prstGeom>
          <a:noFill/>
          <a:ln/>
        </p:spPr>
        <p:txBody>
          <a:bodyPr wrap="square" lIns="0" tIns="0" rIns="0" bIns="0" rtlCol="0" anchor="ctr"/>
          <a:lstStyle/>
          <a:p>
            <a:pPr marL="0" indent="0" algn="ctr">
              <a:buNone/>
            </a:pPr>
            <a:r>
              <a:rPr lang="en-US" sz="3600" b="1" dirty="0">
                <a:solidFill>
                  <a:srgbClr val="E87722"/>
                </a:solidFill>
                <a:latin typeface="Trebuchet MS" pitchFamily="34" charset="0"/>
                <a:ea typeface="Trebuchet MS" pitchFamily="34" charset="-122"/>
                <a:cs typeface="Trebuchet MS" pitchFamily="34" charset="-120"/>
              </a:rPr>
              <a:t>12 sayfa</a:t>
            </a:r>
            <a:endParaRPr lang="en-US" sz="3600" dirty="0"/>
          </a:p>
        </p:txBody>
      </p:sp>
      <p:sp>
        <p:nvSpPr>
          <p:cNvPr id="11" name="Text 7"/>
          <p:cNvSpPr/>
          <p:nvPr/>
        </p:nvSpPr>
        <p:spPr>
          <a:xfrm>
            <a:off x="1828800" y="3520440"/>
            <a:ext cx="5486400" cy="457200"/>
          </a:xfrm>
          <a:prstGeom prst="rect">
            <a:avLst/>
          </a:prstGeom>
          <a:noFill/>
          <a:ln/>
        </p:spPr>
        <p:txBody>
          <a:bodyPr wrap="square" lIns="0" tIns="0" rIns="0" bIns="0" rtlCol="0" anchor="ctr"/>
          <a:lstStyle/>
          <a:p>
            <a:pPr marL="0" indent="0" algn="ctr">
              <a:buNone/>
            </a:pPr>
            <a:r>
              <a:rPr lang="en-US" sz="1300" dirty="0">
                <a:solidFill>
                  <a:srgbClr val="666666"/>
                </a:solidFill>
                <a:latin typeface="Calibri" pitchFamily="34" charset="0"/>
                <a:ea typeface="Calibri" pitchFamily="34" charset="-122"/>
                <a:cs typeface="Calibri" pitchFamily="34" charset="-120"/>
              </a:rPr>
              <a:t>Kullanıcıların sistemi etkin şekilde kullanabilmesi için</a:t>
            </a:r>
            <a:endParaRPr lang="en-US" sz="1300" dirty="0"/>
          </a:p>
          <a:p>
            <a:pPr marL="0" indent="0" algn="ctr">
              <a:buNone/>
            </a:pPr>
            <a:r>
              <a:rPr lang="en-US" sz="1300" dirty="0">
                <a:solidFill>
                  <a:srgbClr val="666666"/>
                </a:solidFill>
                <a:latin typeface="Calibri" pitchFamily="34" charset="0"/>
                <a:ea typeface="Calibri" pitchFamily="34" charset="-122"/>
                <a:cs typeface="Calibri" pitchFamily="34" charset="-120"/>
              </a:rPr>
              <a:t>adım adım rehber hazırlanmıştır.</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Karşılaştığımız Zorluklar</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548640" y="1051560"/>
            <a:ext cx="411480" cy="411480"/>
          </a:xfrm>
          <a:prstGeom prst="ellipse">
            <a:avLst/>
          </a:prstGeom>
          <a:solidFill>
            <a:srgbClr val="E87722"/>
          </a:solidFill>
          <a:ln/>
        </p:spPr>
        <p:txBody>
          <a:bodyPr/>
          <a:lstStyle/>
          <a:p>
            <a:endParaRPr lang="tr-TR"/>
          </a:p>
        </p:txBody>
      </p:sp>
      <p:sp>
        <p:nvSpPr>
          <p:cNvPr id="8" name="Text 5"/>
          <p:cNvSpPr/>
          <p:nvPr/>
        </p:nvSpPr>
        <p:spPr>
          <a:xfrm>
            <a:off x="548640" y="1051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9" name="Text 6"/>
          <p:cNvSpPr/>
          <p:nvPr/>
        </p:nvSpPr>
        <p:spPr>
          <a:xfrm>
            <a:off x="1143000" y="1005840"/>
            <a:ext cx="73152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Kendi Veri Yapılarını Yazmak</a:t>
            </a:r>
            <a:endParaRPr lang="en-US" sz="1400" dirty="0"/>
          </a:p>
        </p:txBody>
      </p:sp>
      <p:sp>
        <p:nvSpPr>
          <p:cNvPr id="10" name="Text 7"/>
          <p:cNvSpPr/>
          <p:nvPr/>
        </p:nvSpPr>
        <p:spPr>
          <a:xfrm>
            <a:off x="1143000" y="1298448"/>
            <a:ext cx="731520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Java Collections kullanmadan LinkedList, BST, Queue ve Stack'i sıfırdan geliştirmek ciddi zaman ve test </a:t>
            </a:r>
            <a:r>
              <a:rPr lang="en-US" sz="1100" dirty="0" err="1">
                <a:solidFill>
                  <a:srgbClr val="666666"/>
                </a:solidFill>
                <a:latin typeface="Calibri" pitchFamily="34" charset="0"/>
                <a:ea typeface="Calibri" pitchFamily="34" charset="-122"/>
                <a:cs typeface="Calibri" pitchFamily="34" charset="-120"/>
              </a:rPr>
              <a:t>gerekti</a:t>
            </a:r>
            <a:r>
              <a:rPr lang="tr-TR" sz="1100" dirty="0">
                <a:solidFill>
                  <a:srgbClr val="666666"/>
                </a:solidFill>
                <a:latin typeface="Calibri" pitchFamily="34" charset="0"/>
                <a:ea typeface="Calibri" pitchFamily="34" charset="-122"/>
                <a:cs typeface="Calibri" pitchFamily="34" charset="-120"/>
              </a:rPr>
              <a:t>recek</a:t>
            </a:r>
            <a:r>
              <a:rPr lang="en-US" sz="1100" dirty="0">
                <a:solidFill>
                  <a:srgbClr val="666666"/>
                </a:solidFill>
                <a:latin typeface="Calibri" pitchFamily="34" charset="0"/>
                <a:ea typeface="Calibri" pitchFamily="34" charset="-122"/>
                <a:cs typeface="Calibri" pitchFamily="34" charset="-120"/>
              </a:rPr>
              <a:t>.</a:t>
            </a:r>
            <a:endParaRPr lang="en-US" sz="1100" dirty="0"/>
          </a:p>
        </p:txBody>
      </p:sp>
      <p:sp>
        <p:nvSpPr>
          <p:cNvPr id="11" name="Shape 8"/>
          <p:cNvSpPr/>
          <p:nvPr/>
        </p:nvSpPr>
        <p:spPr>
          <a:xfrm>
            <a:off x="548640" y="2011680"/>
            <a:ext cx="411480" cy="411480"/>
          </a:xfrm>
          <a:prstGeom prst="ellipse">
            <a:avLst/>
          </a:prstGeom>
          <a:solidFill>
            <a:srgbClr val="E87722"/>
          </a:solidFill>
          <a:ln/>
        </p:spPr>
        <p:txBody>
          <a:bodyPr/>
          <a:lstStyle/>
          <a:p>
            <a:endParaRPr lang="tr-TR"/>
          </a:p>
        </p:txBody>
      </p:sp>
      <p:sp>
        <p:nvSpPr>
          <p:cNvPr id="12" name="Text 9"/>
          <p:cNvSpPr/>
          <p:nvPr/>
        </p:nvSpPr>
        <p:spPr>
          <a:xfrm>
            <a:off x="548640" y="20116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3" name="Text 10"/>
          <p:cNvSpPr/>
          <p:nvPr/>
        </p:nvSpPr>
        <p:spPr>
          <a:xfrm>
            <a:off x="1143000" y="1965960"/>
            <a:ext cx="73152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Detaylı Use Case Akışları</a:t>
            </a:r>
            <a:endParaRPr lang="en-US" sz="1400" dirty="0"/>
          </a:p>
        </p:txBody>
      </p:sp>
      <p:sp>
        <p:nvSpPr>
          <p:cNvPr id="14" name="Text 11"/>
          <p:cNvSpPr/>
          <p:nvPr/>
        </p:nvSpPr>
        <p:spPr>
          <a:xfrm>
            <a:off x="1143000" y="2258568"/>
            <a:ext cx="731520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22 kullanım durumu için alternatif akışlar ve istisnai durumları tek tek detaylandırmak büyük </a:t>
            </a:r>
            <a:r>
              <a:rPr lang="en-US" sz="1100" dirty="0" err="1">
                <a:solidFill>
                  <a:srgbClr val="666666"/>
                </a:solidFill>
                <a:latin typeface="Calibri" pitchFamily="34" charset="0"/>
                <a:ea typeface="Calibri" pitchFamily="34" charset="-122"/>
                <a:cs typeface="Calibri" pitchFamily="34" charset="-120"/>
              </a:rPr>
              <a:t>dikkat</a:t>
            </a:r>
            <a:r>
              <a:rPr lang="en-US" sz="1100" dirty="0">
                <a:solidFill>
                  <a:srgbClr val="666666"/>
                </a:solidFill>
                <a:latin typeface="Calibri" pitchFamily="34" charset="0"/>
                <a:ea typeface="Calibri" pitchFamily="34" charset="-122"/>
                <a:cs typeface="Calibri" pitchFamily="34" charset="-120"/>
              </a:rPr>
              <a:t> </a:t>
            </a:r>
            <a:r>
              <a:rPr lang="en-US" sz="1100" dirty="0" err="1">
                <a:solidFill>
                  <a:srgbClr val="666666"/>
                </a:solidFill>
                <a:latin typeface="Calibri" pitchFamily="34" charset="0"/>
                <a:ea typeface="Calibri" pitchFamily="34" charset="-122"/>
                <a:cs typeface="Calibri" pitchFamily="34" charset="-120"/>
              </a:rPr>
              <a:t>gerektir</a:t>
            </a:r>
            <a:r>
              <a:rPr lang="tr-TR" sz="1100" dirty="0">
                <a:solidFill>
                  <a:srgbClr val="666666"/>
                </a:solidFill>
                <a:latin typeface="Calibri" pitchFamily="34" charset="0"/>
                <a:ea typeface="Calibri" pitchFamily="34" charset="-122"/>
                <a:cs typeface="Calibri" pitchFamily="34" charset="-120"/>
              </a:rPr>
              <a:t>di</a:t>
            </a:r>
            <a:r>
              <a:rPr lang="en-US" sz="1100" dirty="0">
                <a:solidFill>
                  <a:srgbClr val="666666"/>
                </a:solidFill>
                <a:latin typeface="Calibri" pitchFamily="34" charset="0"/>
                <a:ea typeface="Calibri" pitchFamily="34" charset="-122"/>
                <a:cs typeface="Calibri" pitchFamily="34" charset="-120"/>
              </a:rPr>
              <a:t>.</a:t>
            </a:r>
            <a:endParaRPr lang="en-US" sz="1100" dirty="0"/>
          </a:p>
        </p:txBody>
      </p:sp>
      <p:sp>
        <p:nvSpPr>
          <p:cNvPr id="15" name="Shape 12"/>
          <p:cNvSpPr/>
          <p:nvPr/>
        </p:nvSpPr>
        <p:spPr>
          <a:xfrm>
            <a:off x="548640" y="2971800"/>
            <a:ext cx="411480" cy="411480"/>
          </a:xfrm>
          <a:prstGeom prst="ellipse">
            <a:avLst/>
          </a:prstGeom>
          <a:solidFill>
            <a:srgbClr val="E87722"/>
          </a:solidFill>
          <a:ln/>
        </p:spPr>
        <p:txBody>
          <a:bodyPr/>
          <a:lstStyle/>
          <a:p>
            <a:endParaRPr lang="tr-TR"/>
          </a:p>
        </p:txBody>
      </p:sp>
      <p:sp>
        <p:nvSpPr>
          <p:cNvPr id="16" name="Text 13"/>
          <p:cNvSpPr/>
          <p:nvPr/>
        </p:nvSpPr>
        <p:spPr>
          <a:xfrm>
            <a:off x="548640" y="297180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7" name="Text 14"/>
          <p:cNvSpPr/>
          <p:nvPr/>
        </p:nvSpPr>
        <p:spPr>
          <a:xfrm>
            <a:off x="1143000" y="2926080"/>
            <a:ext cx="73152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IEEE 830 Uyumlu Belgeleme</a:t>
            </a:r>
            <a:endParaRPr lang="en-US" sz="1400" dirty="0"/>
          </a:p>
        </p:txBody>
      </p:sp>
      <p:sp>
        <p:nvSpPr>
          <p:cNvPr id="18" name="Text 15"/>
          <p:cNvSpPr/>
          <p:nvPr/>
        </p:nvSpPr>
        <p:spPr>
          <a:xfrm>
            <a:off x="1143000" y="3218688"/>
            <a:ext cx="731520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UML diyagramlarını IEEE 830 standardına uygun biçimde belgelendirmek titiz çalışma gerektirdi.</a:t>
            </a:r>
            <a:endParaRPr lang="en-US" sz="1100" dirty="0"/>
          </a:p>
        </p:txBody>
      </p:sp>
      <p:sp>
        <p:nvSpPr>
          <p:cNvPr id="19" name="Shape 16"/>
          <p:cNvSpPr/>
          <p:nvPr/>
        </p:nvSpPr>
        <p:spPr>
          <a:xfrm>
            <a:off x="548640" y="3931920"/>
            <a:ext cx="411480" cy="411480"/>
          </a:xfrm>
          <a:prstGeom prst="ellipse">
            <a:avLst/>
          </a:prstGeom>
          <a:solidFill>
            <a:srgbClr val="E87722"/>
          </a:solidFill>
          <a:ln/>
        </p:spPr>
        <p:txBody>
          <a:bodyPr/>
          <a:lstStyle/>
          <a:p>
            <a:endParaRPr lang="tr-TR"/>
          </a:p>
        </p:txBody>
      </p:sp>
      <p:sp>
        <p:nvSpPr>
          <p:cNvPr id="20" name="Text 17"/>
          <p:cNvSpPr/>
          <p:nvPr/>
        </p:nvSpPr>
        <p:spPr>
          <a:xfrm>
            <a:off x="548640" y="393192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21" name="Text 18"/>
          <p:cNvSpPr/>
          <p:nvPr/>
        </p:nvSpPr>
        <p:spPr>
          <a:xfrm>
            <a:off x="1143000" y="3886200"/>
            <a:ext cx="73152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Ekip Koordinasyonu &amp; Git</a:t>
            </a:r>
            <a:endParaRPr lang="en-US" sz="1400" dirty="0"/>
          </a:p>
        </p:txBody>
      </p:sp>
      <p:sp>
        <p:nvSpPr>
          <p:cNvPr id="22" name="Text 19"/>
          <p:cNvSpPr/>
          <p:nvPr/>
        </p:nvSpPr>
        <p:spPr>
          <a:xfrm>
            <a:off x="1143000" y="4178808"/>
            <a:ext cx="731520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6 kişilik ekibin koordinasyonu ve Git branch stratejisi yönetimi sürekli iletişim gerektirdi.</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Bundan Sonraki Plan</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1088136" y="1463040"/>
            <a:ext cx="36576" cy="384048"/>
          </a:xfrm>
          <a:prstGeom prst="rect">
            <a:avLst/>
          </a:prstGeom>
          <a:solidFill>
            <a:srgbClr val="E87722"/>
          </a:solidFill>
          <a:ln/>
        </p:spPr>
        <p:txBody>
          <a:bodyPr/>
          <a:lstStyle/>
          <a:p>
            <a:endParaRPr lang="tr-TR"/>
          </a:p>
        </p:txBody>
      </p:sp>
      <p:sp>
        <p:nvSpPr>
          <p:cNvPr id="8" name="Shape 5"/>
          <p:cNvSpPr/>
          <p:nvPr/>
        </p:nvSpPr>
        <p:spPr>
          <a:xfrm>
            <a:off x="868680" y="1097280"/>
            <a:ext cx="457200" cy="457200"/>
          </a:xfrm>
          <a:prstGeom prst="ellipse">
            <a:avLst/>
          </a:prstGeom>
          <a:solidFill>
            <a:schemeClr val="accent2"/>
          </a:solidFill>
          <a:ln w="25400">
            <a:solidFill>
              <a:srgbClr val="E87722"/>
            </a:solidFill>
            <a:prstDash val="solid"/>
          </a:ln>
        </p:spPr>
        <p:txBody>
          <a:bodyPr/>
          <a:lstStyle/>
          <a:p>
            <a:endParaRPr lang="tr-TR"/>
          </a:p>
        </p:txBody>
      </p:sp>
      <p:sp>
        <p:nvSpPr>
          <p:cNvPr id="9" name="Text 6"/>
          <p:cNvSpPr/>
          <p:nvPr/>
        </p:nvSpPr>
        <p:spPr>
          <a:xfrm>
            <a:off x="868680" y="1097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10" name="Shape 7"/>
          <p:cNvSpPr/>
          <p:nvPr/>
        </p:nvSpPr>
        <p:spPr>
          <a:xfrm>
            <a:off x="1554480" y="1051560"/>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1" name="Text 8"/>
          <p:cNvSpPr/>
          <p:nvPr/>
        </p:nvSpPr>
        <p:spPr>
          <a:xfrm>
            <a:off x="1737360" y="1051560"/>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Kodun yazılması, derlenmesi ve birim testleri</a:t>
            </a:r>
            <a:endParaRPr lang="en-US" sz="1400" dirty="0"/>
          </a:p>
        </p:txBody>
      </p:sp>
      <p:sp>
        <p:nvSpPr>
          <p:cNvPr id="12" name="Shape 9"/>
          <p:cNvSpPr/>
          <p:nvPr/>
        </p:nvSpPr>
        <p:spPr>
          <a:xfrm>
            <a:off x="1088136" y="2212848"/>
            <a:ext cx="36576" cy="384048"/>
          </a:xfrm>
          <a:prstGeom prst="rect">
            <a:avLst/>
          </a:prstGeom>
          <a:solidFill>
            <a:srgbClr val="E87722"/>
          </a:solidFill>
          <a:ln/>
        </p:spPr>
        <p:txBody>
          <a:bodyPr/>
          <a:lstStyle/>
          <a:p>
            <a:endParaRPr lang="tr-TR"/>
          </a:p>
        </p:txBody>
      </p:sp>
      <p:sp>
        <p:nvSpPr>
          <p:cNvPr id="13" name="Shape 10"/>
          <p:cNvSpPr/>
          <p:nvPr/>
        </p:nvSpPr>
        <p:spPr>
          <a:xfrm>
            <a:off x="868680" y="1847088"/>
            <a:ext cx="457200" cy="457200"/>
          </a:xfrm>
          <a:prstGeom prst="ellipse">
            <a:avLst/>
          </a:prstGeom>
          <a:solidFill>
            <a:schemeClr val="accent2"/>
          </a:solidFill>
          <a:ln w="25400">
            <a:solidFill>
              <a:srgbClr val="E87722"/>
            </a:solidFill>
            <a:prstDash val="solid"/>
          </a:ln>
        </p:spPr>
        <p:txBody>
          <a:bodyPr/>
          <a:lstStyle/>
          <a:p>
            <a:endParaRPr lang="tr-TR" dirty="0"/>
          </a:p>
        </p:txBody>
      </p:sp>
      <p:sp>
        <p:nvSpPr>
          <p:cNvPr id="14" name="Text 11"/>
          <p:cNvSpPr/>
          <p:nvPr/>
        </p:nvSpPr>
        <p:spPr>
          <a:xfrm>
            <a:off x="868680" y="184708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Trebuchet MS" pitchFamily="34" charset="0"/>
                <a:ea typeface="Trebuchet MS" pitchFamily="34" charset="-122"/>
                <a:cs typeface="Trebuchet MS" pitchFamily="34" charset="-120"/>
              </a:rPr>
              <a:t>2</a:t>
            </a:r>
            <a:endParaRPr lang="en-US" sz="1400" dirty="0">
              <a:solidFill>
                <a:schemeClr val="bg1"/>
              </a:solidFill>
            </a:endParaRPr>
          </a:p>
        </p:txBody>
      </p:sp>
      <p:sp>
        <p:nvSpPr>
          <p:cNvPr id="15" name="Shape 12"/>
          <p:cNvSpPr/>
          <p:nvPr/>
        </p:nvSpPr>
        <p:spPr>
          <a:xfrm>
            <a:off x="1554480" y="1801368"/>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6" name="Text 13"/>
          <p:cNvSpPr/>
          <p:nvPr/>
        </p:nvSpPr>
        <p:spPr>
          <a:xfrm>
            <a:off x="1737360" y="1801368"/>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Modüller arası entegrasyon testleri</a:t>
            </a:r>
            <a:endParaRPr lang="en-US" sz="1400" dirty="0"/>
          </a:p>
        </p:txBody>
      </p:sp>
      <p:sp>
        <p:nvSpPr>
          <p:cNvPr id="17" name="Shape 14"/>
          <p:cNvSpPr/>
          <p:nvPr/>
        </p:nvSpPr>
        <p:spPr>
          <a:xfrm>
            <a:off x="1088136" y="2962656"/>
            <a:ext cx="36576" cy="384048"/>
          </a:xfrm>
          <a:prstGeom prst="rect">
            <a:avLst/>
          </a:prstGeom>
          <a:solidFill>
            <a:srgbClr val="E87722"/>
          </a:solidFill>
          <a:ln/>
        </p:spPr>
        <p:txBody>
          <a:bodyPr/>
          <a:lstStyle/>
          <a:p>
            <a:endParaRPr lang="tr-TR"/>
          </a:p>
        </p:txBody>
      </p:sp>
      <p:sp>
        <p:nvSpPr>
          <p:cNvPr id="18" name="Shape 15"/>
          <p:cNvSpPr/>
          <p:nvPr/>
        </p:nvSpPr>
        <p:spPr>
          <a:xfrm>
            <a:off x="868680" y="2596896"/>
            <a:ext cx="457200" cy="457200"/>
          </a:xfrm>
          <a:prstGeom prst="ellipse">
            <a:avLst/>
          </a:prstGeom>
          <a:solidFill>
            <a:schemeClr val="accent2"/>
          </a:solidFill>
          <a:ln w="25400">
            <a:solidFill>
              <a:srgbClr val="E87722"/>
            </a:solidFill>
            <a:prstDash val="solid"/>
          </a:ln>
        </p:spPr>
        <p:txBody>
          <a:bodyPr/>
          <a:lstStyle/>
          <a:p>
            <a:endParaRPr lang="tr-TR"/>
          </a:p>
        </p:txBody>
      </p:sp>
      <p:sp>
        <p:nvSpPr>
          <p:cNvPr id="19" name="Text 16"/>
          <p:cNvSpPr/>
          <p:nvPr/>
        </p:nvSpPr>
        <p:spPr>
          <a:xfrm>
            <a:off x="868680" y="2596896"/>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Trebuchet MS" pitchFamily="34" charset="0"/>
                <a:ea typeface="Trebuchet MS" pitchFamily="34" charset="-122"/>
                <a:cs typeface="Trebuchet MS" pitchFamily="34" charset="-120"/>
              </a:rPr>
              <a:t>3</a:t>
            </a:r>
            <a:endParaRPr lang="en-US" sz="1400" dirty="0">
              <a:solidFill>
                <a:schemeClr val="bg1"/>
              </a:solidFill>
            </a:endParaRPr>
          </a:p>
        </p:txBody>
      </p:sp>
      <p:sp>
        <p:nvSpPr>
          <p:cNvPr id="20" name="Shape 17"/>
          <p:cNvSpPr/>
          <p:nvPr/>
        </p:nvSpPr>
        <p:spPr>
          <a:xfrm>
            <a:off x="1554480" y="2551176"/>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1" name="Text 18"/>
          <p:cNvSpPr/>
          <p:nvPr/>
        </p:nvSpPr>
        <p:spPr>
          <a:xfrm>
            <a:off x="1737360" y="2551176"/>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Arayüz menü sisteminin yazılması, derlenmesi ve test edilmesi</a:t>
            </a:r>
            <a:endParaRPr lang="en-US" sz="1400" dirty="0"/>
          </a:p>
        </p:txBody>
      </p:sp>
      <p:sp>
        <p:nvSpPr>
          <p:cNvPr id="22" name="Shape 19"/>
          <p:cNvSpPr/>
          <p:nvPr/>
        </p:nvSpPr>
        <p:spPr>
          <a:xfrm>
            <a:off x="1088136" y="3712464"/>
            <a:ext cx="36576" cy="384048"/>
          </a:xfrm>
          <a:prstGeom prst="rect">
            <a:avLst/>
          </a:prstGeom>
          <a:solidFill>
            <a:srgbClr val="E87722"/>
          </a:solidFill>
          <a:ln/>
        </p:spPr>
        <p:txBody>
          <a:bodyPr/>
          <a:lstStyle/>
          <a:p>
            <a:endParaRPr lang="tr-TR"/>
          </a:p>
        </p:txBody>
      </p:sp>
      <p:sp>
        <p:nvSpPr>
          <p:cNvPr id="23" name="Shape 20"/>
          <p:cNvSpPr/>
          <p:nvPr/>
        </p:nvSpPr>
        <p:spPr>
          <a:xfrm>
            <a:off x="868680" y="3346704"/>
            <a:ext cx="457200" cy="457200"/>
          </a:xfrm>
          <a:prstGeom prst="ellipse">
            <a:avLst/>
          </a:prstGeom>
          <a:solidFill>
            <a:schemeClr val="accent2"/>
          </a:solidFill>
          <a:ln w="25400">
            <a:solidFill>
              <a:srgbClr val="E87722"/>
            </a:solidFill>
            <a:prstDash val="solid"/>
          </a:ln>
        </p:spPr>
        <p:txBody>
          <a:bodyPr/>
          <a:lstStyle/>
          <a:p>
            <a:endParaRPr lang="tr-TR"/>
          </a:p>
        </p:txBody>
      </p:sp>
      <p:sp>
        <p:nvSpPr>
          <p:cNvPr id="24" name="Text 21"/>
          <p:cNvSpPr/>
          <p:nvPr/>
        </p:nvSpPr>
        <p:spPr>
          <a:xfrm>
            <a:off x="868680" y="3346704"/>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Trebuchet MS" pitchFamily="34" charset="0"/>
                <a:ea typeface="Trebuchet MS" pitchFamily="34" charset="-122"/>
                <a:cs typeface="Trebuchet MS" pitchFamily="34" charset="-120"/>
              </a:rPr>
              <a:t>4</a:t>
            </a:r>
            <a:endParaRPr lang="en-US" sz="1400" dirty="0">
              <a:solidFill>
                <a:schemeClr val="bg1"/>
              </a:solidFill>
            </a:endParaRPr>
          </a:p>
        </p:txBody>
      </p:sp>
      <p:sp>
        <p:nvSpPr>
          <p:cNvPr id="25" name="Shape 22"/>
          <p:cNvSpPr/>
          <p:nvPr/>
        </p:nvSpPr>
        <p:spPr>
          <a:xfrm>
            <a:off x="1554480" y="3300984"/>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6" name="Text 23"/>
          <p:cNvSpPr/>
          <p:nvPr/>
        </p:nvSpPr>
        <p:spPr>
          <a:xfrm>
            <a:off x="1737360" y="3300984"/>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Demo senaryoları hazırlama</a:t>
            </a:r>
            <a:endParaRPr lang="en-US" sz="1400" dirty="0"/>
          </a:p>
        </p:txBody>
      </p:sp>
      <p:sp>
        <p:nvSpPr>
          <p:cNvPr id="27" name="Shape 24"/>
          <p:cNvSpPr/>
          <p:nvPr/>
        </p:nvSpPr>
        <p:spPr>
          <a:xfrm>
            <a:off x="868680" y="4096512"/>
            <a:ext cx="457200" cy="457200"/>
          </a:xfrm>
          <a:prstGeom prst="ellipse">
            <a:avLst/>
          </a:prstGeom>
          <a:solidFill>
            <a:schemeClr val="accent2"/>
          </a:solidFill>
          <a:ln w="25400">
            <a:solidFill>
              <a:srgbClr val="E87722"/>
            </a:solidFill>
            <a:prstDash val="solid"/>
          </a:ln>
        </p:spPr>
        <p:txBody>
          <a:bodyPr/>
          <a:lstStyle/>
          <a:p>
            <a:endParaRPr lang="tr-TR"/>
          </a:p>
        </p:txBody>
      </p:sp>
      <p:sp>
        <p:nvSpPr>
          <p:cNvPr id="28" name="Text 25"/>
          <p:cNvSpPr/>
          <p:nvPr/>
        </p:nvSpPr>
        <p:spPr>
          <a:xfrm>
            <a:off x="868680" y="4096512"/>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Trebuchet MS" pitchFamily="34" charset="0"/>
                <a:ea typeface="Trebuchet MS" pitchFamily="34" charset="-122"/>
                <a:cs typeface="Trebuchet MS" pitchFamily="34" charset="-120"/>
              </a:rPr>
              <a:t>5</a:t>
            </a:r>
            <a:endParaRPr lang="en-US" sz="1400" dirty="0">
              <a:solidFill>
                <a:schemeClr val="bg1"/>
              </a:solidFill>
            </a:endParaRPr>
          </a:p>
        </p:txBody>
      </p:sp>
      <p:sp>
        <p:nvSpPr>
          <p:cNvPr id="29" name="Shape 26"/>
          <p:cNvSpPr/>
          <p:nvPr/>
        </p:nvSpPr>
        <p:spPr>
          <a:xfrm>
            <a:off x="1554480" y="4050792"/>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0" name="Text 27"/>
          <p:cNvSpPr/>
          <p:nvPr/>
        </p:nvSpPr>
        <p:spPr>
          <a:xfrm>
            <a:off x="1737360" y="4050792"/>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Final raporu ve sunum</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11">
    <p:bg>
      <p:bgPr>
        <a:solidFill>
          <a:srgbClr val="2D2D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3886200" y="548640"/>
            <a:ext cx="1371600" cy="1371600"/>
          </a:xfrm>
          <a:prstGeom prst="rect">
            <a:avLst/>
          </a:prstGeom>
        </p:spPr>
      </p:pic>
      <p:sp>
        <p:nvSpPr>
          <p:cNvPr id="4" name="Text 1"/>
          <p:cNvSpPr/>
          <p:nvPr/>
        </p:nvSpPr>
        <p:spPr>
          <a:xfrm>
            <a:off x="457200" y="2011680"/>
            <a:ext cx="8229600" cy="640080"/>
          </a:xfrm>
          <a:prstGeom prst="rect">
            <a:avLst/>
          </a:prstGeom>
          <a:noFill/>
          <a:ln/>
        </p:spPr>
        <p:txBody>
          <a:bodyPr wrap="square" lIns="0" tIns="0" rIns="0" bIns="0" rtlCol="0" anchor="ctr"/>
          <a:lstStyle/>
          <a:p>
            <a:pPr marL="0" indent="0" algn="ctr">
              <a:buNone/>
            </a:pPr>
            <a:r>
              <a:rPr lang="en-US" sz="4000" b="1" dirty="0">
                <a:solidFill>
                  <a:srgbClr val="E87722"/>
                </a:solidFill>
                <a:latin typeface="Trebuchet MS" pitchFamily="34" charset="0"/>
                <a:ea typeface="Trebuchet MS" pitchFamily="34" charset="-122"/>
                <a:cs typeface="Trebuchet MS" pitchFamily="34" charset="-120"/>
              </a:rPr>
              <a:t>Teşekkürler</a:t>
            </a:r>
            <a:endParaRPr lang="en-US" sz="4000" dirty="0"/>
          </a:p>
        </p:txBody>
      </p:sp>
      <p:sp>
        <p:nvSpPr>
          <p:cNvPr id="5" name="Text 2"/>
          <p:cNvSpPr/>
          <p:nvPr/>
        </p:nvSpPr>
        <p:spPr>
          <a:xfrm>
            <a:off x="457200" y="2651760"/>
            <a:ext cx="8229600" cy="457200"/>
          </a:xfrm>
          <a:prstGeom prst="rect">
            <a:avLst/>
          </a:prstGeom>
          <a:noFill/>
          <a:ln/>
        </p:spPr>
        <p:txBody>
          <a:bodyPr wrap="square" lIns="0" tIns="0" rIns="0" bIns="0" rtlCol="0" anchor="ctr"/>
          <a:lstStyle/>
          <a:p>
            <a:pPr marL="0" indent="0" algn="ctr">
              <a:buNone/>
            </a:pPr>
            <a:endParaRPr lang="en-US" sz="2200" dirty="0"/>
          </a:p>
        </p:txBody>
      </p:sp>
      <p:pic>
        <p:nvPicPr>
          <p:cNvPr id="6" name="Image 1" descr="preencoded.png"/>
          <p:cNvPicPr>
            <a:picLocks noChangeAspect="1"/>
          </p:cNvPicPr>
          <p:nvPr/>
        </p:nvPicPr>
        <p:blipFill>
          <a:blip r:embed="rId4"/>
          <a:stretch>
            <a:fillRect/>
          </a:stretch>
        </p:blipFill>
        <p:spPr>
          <a:xfrm>
            <a:off x="3108960" y="3383280"/>
            <a:ext cx="274320" cy="274320"/>
          </a:xfrm>
          <a:prstGeom prst="rect">
            <a:avLst/>
          </a:prstGeom>
        </p:spPr>
      </p:pic>
      <p:sp>
        <p:nvSpPr>
          <p:cNvPr id="7" name="Text 3">
            <a:hlinkClick r:id="rId5"/>
          </p:cNvPr>
          <p:cNvSpPr/>
          <p:nvPr/>
        </p:nvSpPr>
        <p:spPr>
          <a:xfrm>
            <a:off x="3474720" y="3383280"/>
            <a:ext cx="3657600" cy="274320"/>
          </a:xfrm>
          <a:prstGeom prst="rect">
            <a:avLst/>
          </a:prstGeom>
          <a:noFill/>
          <a:ln/>
        </p:spPr>
        <p:txBody>
          <a:bodyPr wrap="square" lIns="0" tIns="0" rIns="0" bIns="0" rtlCol="0" anchor="ctr"/>
          <a:lstStyle/>
          <a:p>
            <a:pPr marL="0" indent="0" algn="l">
              <a:buNone/>
            </a:pPr>
            <a:r>
              <a:rPr lang="en-US" sz="1300" u="sng" dirty="0">
                <a:solidFill>
                  <a:srgbClr val="999999"/>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github.com/zekierman/akilli-galeri-sistemi</a:t>
            </a:r>
            <a:endParaRPr lang="en-US" sz="1300" dirty="0"/>
          </a:p>
        </p:txBody>
      </p:sp>
      <p:sp>
        <p:nvSpPr>
          <p:cNvPr id="8" name="Text 4"/>
          <p:cNvSpPr/>
          <p:nvPr/>
        </p:nvSpPr>
        <p:spPr>
          <a:xfrm>
            <a:off x="457200" y="3931920"/>
            <a:ext cx="8229600" cy="274320"/>
          </a:xfrm>
          <a:prstGeom prst="rect">
            <a:avLst/>
          </a:prstGeom>
          <a:noFill/>
          <a:ln/>
        </p:spPr>
        <p:txBody>
          <a:bodyPr wrap="square" lIns="0" tIns="0" rIns="0" bIns="0" rtlCol="0" anchor="ctr"/>
          <a:lstStyle/>
          <a:p>
            <a:pPr marL="0" indent="0" algn="ctr">
              <a:buNone/>
            </a:pPr>
            <a:r>
              <a:rPr lang="en-US" sz="1200" dirty="0">
                <a:solidFill>
                  <a:srgbClr val="999999"/>
                </a:solidFill>
                <a:latin typeface="Calibri" pitchFamily="34" charset="0"/>
                <a:ea typeface="Calibri" pitchFamily="34" charset="-122"/>
                <a:cs typeface="Calibri" pitchFamily="34" charset="-120"/>
              </a:rPr>
              <a:t>Zeki Erman  •  Orhan Akman  •  Emre Kuzal</a:t>
            </a:r>
            <a:endParaRPr lang="en-US" sz="1200" dirty="0"/>
          </a:p>
        </p:txBody>
      </p:sp>
      <p:sp>
        <p:nvSpPr>
          <p:cNvPr id="9" name="Text 5"/>
          <p:cNvSpPr/>
          <p:nvPr/>
        </p:nvSpPr>
        <p:spPr>
          <a:xfrm>
            <a:off x="457200" y="4206240"/>
            <a:ext cx="8229600" cy="274320"/>
          </a:xfrm>
          <a:prstGeom prst="rect">
            <a:avLst/>
          </a:prstGeom>
          <a:noFill/>
          <a:ln/>
        </p:spPr>
        <p:txBody>
          <a:bodyPr wrap="square" lIns="0" tIns="0" rIns="0" bIns="0" rtlCol="0" anchor="ctr"/>
          <a:lstStyle/>
          <a:p>
            <a:pPr marL="0" indent="0" algn="ctr">
              <a:buNone/>
            </a:pPr>
            <a:r>
              <a:rPr lang="en-US" sz="1200" dirty="0">
                <a:solidFill>
                  <a:srgbClr val="999999"/>
                </a:solidFill>
                <a:latin typeface="Calibri" pitchFamily="34" charset="0"/>
                <a:ea typeface="Calibri" pitchFamily="34" charset="-122"/>
                <a:cs typeface="Calibri" pitchFamily="34" charset="-120"/>
              </a:rPr>
              <a:t>Osman Berat Paşa  •  Halil İbrahim Dinç  •  Eray Gök</a:t>
            </a:r>
            <a:endParaRPr lang="en-US" sz="1200" dirty="0"/>
          </a:p>
        </p:txBody>
      </p:sp>
      <p:sp>
        <p:nvSpPr>
          <p:cNvPr id="10" name="Shape 6"/>
          <p:cNvSpPr/>
          <p:nvPr/>
        </p:nvSpPr>
        <p:spPr>
          <a:xfrm>
            <a:off x="0" y="5088636"/>
            <a:ext cx="9144000" cy="54864"/>
          </a:xfrm>
          <a:prstGeom prst="rect">
            <a:avLst/>
          </a:prstGeom>
          <a:solidFill>
            <a:srgbClr val="E87722"/>
          </a:solidFill>
          <a:ln/>
        </p:spPr>
        <p:txBody>
          <a:bodyPr/>
          <a:lstStyle/>
          <a:p>
            <a:endParaRPr lang="tr-T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 /></Relationships>
</file>

<file path=ppt/webextensions/taskpanes.xml><?xml version="1.0" encoding="utf-8"?>
<wetp:taskpanes xmlns:wetp="http://schemas.microsoft.com/office/webextensions/taskpanes/2010/11">
  <wetp:taskpane dockstate="right" visibility="0" width="50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DE73586-70E5-4D96-8A0B-27CA1EF24F9C}">
  <we:reference id="wa200010001" version="1.0.0.1" store="en-US" storeType="OMEX"/>
  <we:alternateReferences>
    <we:reference id="wa200010001" version="1.0.0.1" store="" storeType="OMEX"/>
  </we:alternateReferences>
  <we:properties>
    <we:property name="claude.fileId" value="&quot;269e3ed8-b67a-48fd-acc3-1010b330b81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84</TotalTime>
  <Words>3154</Words>
  <Application>Microsoft Office PowerPoint</Application>
  <PresentationFormat>Ekran Gösterisi (16:9)</PresentationFormat>
  <Paragraphs>392</Paragraphs>
  <Slides>25</Slides>
  <Notes>17</Notes>
  <HiddenSlides>0</HiddenSlides>
  <MMClips>0</MMClips>
  <ScaleCrop>false</ScaleCrop>
  <HeadingPairs>
    <vt:vector size="4" baseType="variant">
      <vt:variant>
        <vt:lpstr>Tema</vt:lpstr>
      </vt:variant>
      <vt:variant>
        <vt:i4>1</vt:i4>
      </vt:variant>
      <vt:variant>
        <vt:lpstr>Slayt Başlıkları</vt:lpstr>
      </vt:variant>
      <vt:variant>
        <vt:i4>25</vt:i4>
      </vt:variant>
    </vt:vector>
  </HeadingPairs>
  <TitlesOfParts>
    <vt:vector size="26" baseType="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Akıllı Oto Galeri Sistemi - Ara Sunum</dc:title>
  <dc:subject>PptxGenJS Presentation</dc:subject>
  <dc:creator>AOGS Ekibi</dc:creator>
  <cp:lastModifiedBy>EMRE KUZAL</cp:lastModifiedBy>
  <cp:revision>7</cp:revision>
  <dcterms:created xsi:type="dcterms:W3CDTF">2026-04-05T15:49:55Z</dcterms:created>
  <dcterms:modified xsi:type="dcterms:W3CDTF">2026-04-06T08:31:32Z</dcterms:modified>
</cp:coreProperties>
</file>